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5486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AC71F"/>
                </a:solidFill>
                <a:latin typeface="Calibri"/>
              </a:rPr>
              <a:t>GUJARAT POLICE INNOVATION CHALLENGE 2026  ·  MODEL 1 + MODEL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0515600" cy="1280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FFFFFF"/>
                </a:solidFill>
                <a:latin typeface="Calibri"/>
              </a:rPr>
              <a:t>SENTINEL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1051560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B9C7CF"/>
                </a:solidFill>
                <a:latin typeface="Calibri"/>
              </a:rPr>
              <a:t>Unified CCTV Intelligence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68580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8AC71F"/>
                </a:solidFill>
                <a:latin typeface="Calibri"/>
              </a:rPr>
              <a:t>Move metadata, not video.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89120"/>
            <a:ext cx="6858000" cy="10972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B9C7CF"/>
                </a:solidFill>
                <a:latin typeface="Calibri"/>
              </a:rPr>
              <a:t>A statewide camera registry with GIS mapping, plus a middleware federation layer that normalises heterogeneous departmental systems onto one event interface. Departments keep their cameras, storage and retention.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657600"/>
            <a:ext cx="1143000" cy="137160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8AC71F"/>
                </a:solidFill>
                <a:latin typeface="Calibri"/>
              </a:rPr>
              <a:t>80K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B9C7CF"/>
                </a:solidFill>
                <a:latin typeface="Calibri"/>
              </a:rPr>
              <a:t>cameras unified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3657600"/>
            <a:ext cx="1143000" cy="137160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8AC71F"/>
                </a:solidFill>
                <a:latin typeface="Calibri"/>
              </a:rPr>
              <a:t>16 GB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B9C7CF"/>
                </a:solidFill>
                <a:latin typeface="Calibri"/>
              </a:rPr>
              <a:t>metadata /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07040" y="3657600"/>
            <a:ext cx="1143000" cy="137160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8AC71F"/>
                </a:solidFill>
                <a:latin typeface="Calibri"/>
              </a:rPr>
              <a:t>2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B9C7CF"/>
                </a:solidFill>
                <a:latin typeface="Calibri"/>
              </a:rPr>
              <a:t>models, one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01  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Why centralised video cannot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291840" cy="201168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8AC71F"/>
                </a:solidFill>
                <a:latin typeface="Calibri"/>
              </a:rPr>
              <a:t>80,000</a:t>
            </a:r>
          </a:p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cameras statewide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9C7CF"/>
                </a:solidFill>
                <a:latin typeface="Calibri"/>
              </a:rPr>
              <a:t>Every district, highway and city grid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291840" cy="201168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8AC71F"/>
                </a:solidFill>
                <a:latin typeface="Calibri"/>
              </a:rPr>
              <a:t>160 Gbps</a:t>
            </a:r>
          </a:p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sustained backhaul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9C7CF"/>
                </a:solidFill>
                <a:latin typeface="Calibri"/>
              </a:rPr>
              <a:t>At just 2 Mbps per camera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377440"/>
            <a:ext cx="3291840" cy="201168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8AC71F"/>
                </a:solidFill>
                <a:latin typeface="Calibri"/>
              </a:rPr>
              <a:t>~52 PB</a:t>
            </a:r>
          </a:p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30-day retention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9C7CF"/>
                </a:solidFill>
                <a:latin typeface="Calibri"/>
              </a:rPr>
              <a:t>Central storage nobody can fund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5488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B9C7CF"/>
                </a:solidFill>
                <a:latin typeface="Calibri"/>
              </a:rPr>
              <a:t>Departments run incompatible DVRs, VMSs and vendor SDKs — siloed footage, no common event language, and every proposal that starts with “shift all video to the cloud” dies on bandwidth.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02  CORE DESIGN DECISION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Move metadata, not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8AC71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8AC71F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8AC71F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8AC71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Video-first (naive)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160 Gbps backhaul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~52 PB / 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Fails on cost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SENTINEL (metadata-first)</a:t>
                      </a:r>
                    </a:p>
                  </a:txBody>
                  <a:tcPr>
                    <a:solidFill>
                      <a:srgbClr val="1B38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~16 GB / day</a:t>
                      </a:r>
                    </a:p>
                  </a:txBody>
                  <a:tcPr>
                    <a:solidFill>
                      <a:srgbClr val="1B38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Compact ANPR records</a:t>
                      </a:r>
                    </a:p>
                  </a:txBody>
                  <a:tcPr>
                    <a:solidFill>
                      <a:srgbClr val="1B38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Scales on any link</a:t>
                      </a:r>
                    </a:p>
                  </a:txBody>
                  <a:tcPr>
                    <a:solidFill>
                      <a:srgbClr val="1B38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120640"/>
            <a:ext cx="10881360" cy="6400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B9C7CF"/>
                </a:solidFill>
                <a:latin typeface="Calibri"/>
              </a:rPr>
              <a:t>Analytics runs at the edge or regional node. Only compact structured records travel to the centre. Video moves only when there is a hit worth looking 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03 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Three tiers, one event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291840" cy="237744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DEPARTMENTAL SYSTEMS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DVR / NVR / VMS
(unchanged, in place)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9C7CF"/>
                </a:solidFill>
                <a:latin typeface="Calibri"/>
              </a:rPr>
              <a:t>Keep cameras,
storage,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3383280"/>
            <a:ext cx="4572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8AC71F"/>
                </a:solidFill>
                <a:latin typeface="Calibri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377440"/>
            <a:ext cx="3291840" cy="237744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EDGE / REGIONAL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Adapter → decode → detect → ANPR
face + cross-camera track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9C7CF"/>
                </a:solidFill>
                <a:latin typeface="Calibri"/>
              </a:rPr>
              <a:t>SQLite spool
if link drops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383280"/>
            <a:ext cx="4572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8AC71F"/>
                </a:solidFill>
                <a:latin typeface="Calibr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377440"/>
            <a:ext cx="3291840" cy="237744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CENTRAL TIER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PostGIS registry
metadata index + GIS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9C7CF"/>
                </a:solidFill>
                <a:latin typeface="Calibri"/>
              </a:rPr>
              <a:t>Watchlist match
+ alerting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120640"/>
            <a:ext cx="10881360" cy="6400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B9C7CF"/>
                </a:solidFill>
                <a:latin typeface="Calibri"/>
              </a:rPr>
              <a:t>Metadata only flows upward. Video stays local and is pulled on a hit — evidence with a chain of custody, not a firehose.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04  MODEL 1 · COMPULSORY FOUNDATION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Statewide camera registry + GIS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303520" cy="3566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Every camera registered: location, heading, FOV, range, department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Leaflet GIS console — coverage polygons projected per camera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Gap-analysis grid: covered vs blind cells, unhealthy-camera report, CSV export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Bulk grid sync + manual RTSP onboarding side by 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377440"/>
            <a:ext cx="5303520" cy="3566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Live wall: annotated tiles from worker-published frames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Fleet health: availability, analytics yield, worker state per camera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Detection log + hourly/vehicle-mix analytics dashboards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Audit trail: every mutation recorded with caller and outcome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05  MODEL 3 · FEDERATION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One interface over heterogeneous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303520" cy="3566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Adapters: ONVIF discovery, RTSP kit, vendor SDKs, VMS APIs, file archives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Sentinel grid profiled against the published integrator guide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Departments keep their own stack — federation is non-invasive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Discovery → onboard → decode, per-system code paths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377440"/>
            <a:ext cx="5303520" cy="3566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RTSP over TCP always — UDP corrupts frames across NAT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Timing from PTS, never arrival (gateway GOP replay lies)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Declared FPS is wrong — measured per stream; mixed H.264/H.265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Loop cuts and per-client copies handled, not assumed away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06  ANPR CASCADE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Vehicle-first detection, consensus OCR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606040" cy="128016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Detect vehicle (YOLO11n)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377440"/>
            <a:ext cx="2606040" cy="128016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Locate plate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2606040" cy="128016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OCR (Indian PP-OCRv5)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39" y="2377440"/>
            <a:ext cx="2606040" cy="128016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Consensus vote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10881360" cy="1463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B9C7CF"/>
                </a:solidFill>
                <a:latin typeface="Calibri"/>
              </a:rPr>
              <a:t>Raw single-frame OCR drifts on the last 1–2 characters, so workers run multi-frame Levenshtein consensus with Indian-format positional coercion before confirming a plate — and watchlist matching stays edit-distance tolerant.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5120640"/>
          <a:ext cx="6400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C71F"/>
                          </a:solidFill>
                          <a:latin typeface="Calibri"/>
                        </a:rPr>
                        <a:t>Device (GTX 1650, 1080p)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C71F"/>
                          </a:solidFill>
                          <a:latin typeface="Calibri"/>
                        </a:rPr>
                        <a:t>Median /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C71F"/>
                          </a:solidFill>
                          <a:latin typeface="Calibri"/>
                        </a:rPr>
                        <a:t>Throughput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~1186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0.84 fps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CUDA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~523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1.91 fps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07  OPERATIONS CONSOLE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One screen per job, role-aware throughout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103120" cy="86868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2377440"/>
            <a:ext cx="2103120" cy="86868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Live Wall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2377440"/>
            <a:ext cx="2103120" cy="86868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Vehicle Trace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624" y="2377440"/>
            <a:ext cx="2103120" cy="86868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Detection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91472" y="2377440"/>
            <a:ext cx="2103120" cy="86868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RTO + Penalties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29000"/>
            <a:ext cx="2103120" cy="86868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3429000"/>
            <a:ext cx="2103120" cy="86868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Watchlist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3429000"/>
            <a:ext cx="2103120" cy="86868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4" y="3429000"/>
            <a:ext cx="2103120" cy="86868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Fleet Health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91472" y="3429000"/>
            <a:ext cx="2103120" cy="86868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Audit Trail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37760"/>
            <a:ext cx="1088136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B9C7CF"/>
                </a:solidFill>
                <a:latin typeface="Calibri"/>
              </a:rPr>
              <a:t>Viewer reads, operator acts, admin governs — enforced by one middleware over every /api mutation, so a route added later is protected by default.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08  VEHICLE MOVEMENT TRACE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Plate → route map, timeline,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3566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▪  Spatio-temporal route reconstruction across statewide cameras (Haversine + time gaps)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▪  Physical validation: legs exceeding the 150 km/h ceiling flagged as impossible hops — clone / OCR-drift signal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▪  VAHAN registry cross-check: colour and class mismatches surface suspected duplicate plates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▪  One-click evidence: route CSV + court-style movement-report PDF with capture-time hashes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▪  Fuzzy plate matching throughout, so single-character OCR drift never breaks the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09  NEW · RTO + PENALTY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RC registry and e-challans on the trace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303520" cy="3566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Hero card: maker_model, registration_no, RC-status badge, class/body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Ownership, specs, validity grid: fitness, road tax, insurance, PUC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Human dates, null-safe fallbacks (“Not Available / Check Policy”)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Entry from Detection Log → Trace Details, or /trace § RTO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377440"/>
            <a:ext cx="5303520" cy="3566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Penalties banner: N pending challans — ₹ total, red/green status pills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Clean green empty state when the record is clear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Cached first paint + Refresh-live button (?refresh=true, 1h TTL)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Vendor failures render as banners — never invented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10  E-CHALLAN MICROSERVICE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Provider-agnostic, billed per call — so it caches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303520" cy="3566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Adapter pattern: primary → secondary failover on 5xx / timeout / 429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Tenacity exponential-backoff retries + per-provider circuit breakers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Redis cache keyed by plate (24h TTL) + ?force_refresh for live pulls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SlowAPI per-IP rate limits; /health reports Redis + circuits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377440"/>
            <a:ext cx="5303520" cy="3566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Unified schema: summary {pending count/amount, paid} + challan items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Batch fleet checks as background jobs with a polling status endpoint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Structured JSON logging; 52 tests: validation, cache, failover, API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Standalone FastAPI service — deploys and scales apart from the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11  SECURITY &amp; GOVERNANCE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A police console that distrusts by default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303520" cy="3566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Roles: viewer · operator · admin — one gate, denials audited too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Failed logins recorded before the 401 returns; 8-strike lockout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PBKDF2-SHA256 (600k rounds), 10-char policy, common-password blocklist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Temporary passwords confine the session until changed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377440"/>
            <a:ext cx="5303520" cy="3566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JWT sessions with token-version revocation on reset/deactivation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Admin password resets that revoke live sessions and force rotation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Secrets never committed: .env is git-ignored, .env.example ships empty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Vendor keys live server-side only — the browser never sees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12  EDGE &amp; RESILIENCE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Districts keep detecting through an outage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3566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▪  Same codebase runs as district node (EDGE_MODE=true): detections queue in bounded SQLite spool, drain at-least-once on return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▪  Retention pruning bounds the DB so looping clips can never grow it without bound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▪  Staggered autostart: 30 HEVC decoders never spike memory at once; capped, logged, and tunable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▪  Every external call degrades, never cascades: cache fail-open, mock fallbacks, graceful 429/404 vendor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13  VERIFIED, NOT CLAIMED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Measured on real hardware and grid footage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194560" cy="146304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8AC71F"/>
                </a:solidFill>
                <a:latin typeface="Calibri"/>
              </a:rPr>
              <a:t>~330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9C7CF"/>
                </a:solidFill>
                <a:latin typeface="Calibri"/>
              </a:rPr>
              <a:t>automated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377440"/>
            <a:ext cx="2194560" cy="146304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8AC71F"/>
                </a:solidFill>
                <a:latin typeface="Calibri"/>
              </a:rPr>
              <a:t>GTX 1650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9C7CF"/>
                </a:solidFill>
                <a:latin typeface="Calibri"/>
              </a:rPr>
              <a:t>4 GB field-grade GPU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2377440"/>
            <a:ext cx="2194560" cy="146304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8AC71F"/>
                </a:solidFill>
                <a:latin typeface="Calibri"/>
              </a:rPr>
              <a:t>6 GB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9C7CF"/>
                </a:solidFill>
                <a:latin typeface="Calibri"/>
              </a:rPr>
              <a:t>usable dev 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377440"/>
            <a:ext cx="3383280" cy="3566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▪  Plate matching + RBAC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▪  Credential redaction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▪  Forced password rotation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▪  Edge spool + API end-to-end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▪  Trace cache + provider failover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40"/>
            <a:ext cx="6949440" cy="17373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B9C7CF"/>
                </a:solidFill>
                <a:latin typeface="Calibri"/>
              </a:rPr>
              <a:t>NVDEC 1080p: ~555 fps aggregate (flat 8→16 streams) · software decode: ~435 fps at full CPU cost · AMF decode unusable, use d3d11va · ANPR on CPU ~0.91 s/frame, ~2× on CUDA.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14  LIVE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Five minutes,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68580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1.   Sign in as admin — forced rotation, audit-logged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54680"/>
            <a:ext cx="10881360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2.   Live Wall → Start All Decoders — tiles go PTS 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10881360" cy="68580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3.   Detection Log → Trace Details on any 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09160"/>
            <a:ext cx="10881360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4.   Movement route + RTO hero card + challan banner, then Refresh-live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486400"/>
            <a:ext cx="10881360" cy="685800"/>
          </a:xfrm>
          <a:prstGeom prst="roundRect">
            <a:avLst/>
          </a:prstGeom>
          <a:solidFill>
            <a:srgbClr val="1B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5.   Watchlist hit → alert toast → acknowledge → audit trail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C71F"/>
                </a:solidFill>
                <a:latin typeface="Calibri"/>
              </a:rPr>
              <a:t>15 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Where SENTINEL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97280" cy="50800"/>
          </a:xfrm>
          <a:prstGeom prst="rect">
            <a:avLst/>
          </a:prstGeom>
          <a:solidFill>
            <a:srgbClr val="8AC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355080"/>
            <a:ext cx="54864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SENTINEL  ·  Gujarat Police Innovation Challenge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303520" cy="2377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Face watchlist rollout on the person pipeline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Virtual-court challan tracking + settlement alerts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Multi-district federation drill with edge spool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PostGIS at full state scale + read replicas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1088136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8AC71F"/>
                </a:solidFill>
                <a:latin typeface="Calibri"/>
              </a:rPr>
              <a:t>Thank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760720"/>
            <a:ext cx="108813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9C7CF"/>
                </a:solidFill>
                <a:latin typeface="Calibri"/>
              </a:rPr>
              <a:t>SENTINEL · Unified CCTV Intelligence Platform · Gujarat Police Innovation Challenge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64240" y="6355080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9C7CF"/>
                </a:solidFill>
                <a:latin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