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6B7B8F"/>
                </a:solidFill>
                <a:latin typeface="Calibri"/>
              </a:defRPr>
            </a:pPr>
            <a:r>
              <a:rPr sz="1150" b="0" i="0" u="none" strike="noStrike">
                <a:solidFill>
                  <a:srgbClr val="6B7B8F"/>
                </a:solidFill>
                <a:latin typeface="Calibri"/>
              </a:rPr>
              <a:t>Median milliseconds per 1080p frame — lower is better</a:t>
            </a:r>
          </a:p>
        </c:rich>
      </c:tx>
      <c:layout/>
      <c:overlay val="0"/>
    </c:title>
    <c:autoTitleDeleted val="0"/>
    <c:plotArea>
      <c:layout/>
      <c:barChart>
        <c:barDir val="col"/>
        <c:grouping val="clustered"/>
        <c:varyColors val="0"/>
        <c:ser>
          <c:idx val="0"/>
          <c:order val="0"/>
          <c:tx>
            <c:strRef>
              <c:f>Sheet1!$B$1</c:f>
              <c:strCache>
                <c:ptCount val="1"/>
                <c:pt idx="0">
                  <c:v>Median milliseconds per frame</c:v>
                </c:pt>
              </c:strCache>
            </c:strRef>
          </c:tx>
          <c:spPr>
            <a:solidFill>
              <a:srgbClr val="8FA1B4"/>
            </a:solidFill>
            <a:effectLst/>
          </c:spPr>
          <c:invertIfNegative val="0"/>
          <c:dLbls>
            <c:numFmt formatCode="#,##0" sourceLinked="0"/>
            <c:txPr>
              <a:bodyPr/>
              <a:lstStyle/>
              <a:p>
                <a:pPr>
                  <a:defRPr b="1" i="0" strike="noStrike" sz="1300" u="none">
                    <a:solidFill>
                      <a:srgbClr val="16243A"/>
                    </a:solidFill>
                    <a:latin typeface="Calibri"/>
                  </a:defRPr>
                </a:pPr>
              </a:p>
            </c:txPr>
            <c:showLegendKey val="0"/>
            <c:showVal val="1"/>
            <c:showCatName val="0"/>
            <c:showSerName val="0"/>
            <c:showPercent val="0"/>
            <c:showBubbleSize val="0"/>
            <c:showLeaderLines val="0"/>
          </c:dLbls>
          <c:dPt>
            <c:idx val="0"/>
            <c:invertIfNegative val="0"/>
            <c:bubble3D val="0"/>
            <c:spPr>
              <a:solidFill>
                <a:srgbClr val="8FA1B4"/>
              </a:solidFill>
              <a:effectLst/>
            </c:spPr>
          </c:dPt>
          <c:dPt>
            <c:idx val="1"/>
            <c:invertIfNegative val="0"/>
            <c:bubble3D val="0"/>
            <c:spPr>
              <a:solidFill>
                <a:srgbClr val="C2551F"/>
              </a:solidFill>
              <a:effectLst/>
            </c:spPr>
          </c:dPt>
          <c:cat>
            <c:multiLvlStrRef>
              <c:f>Sheet1!$A$2:$A$3</c:f>
              <c:multiLvlStrCache>
                <c:ptCount val="2"/>
                <c:lvl>
                  <c:pt idx="0">
                    <c:v>Processor</c:v>
                  </c:pt>
                  <c:pt idx="1">
                    <c:v>Graphics card</c:v>
                  </c:pt>
                </c:lvl>
              </c:multiLvlStrCache>
            </c:multiLvlStrRef>
          </c:cat>
          <c:val>
            <c:numRef>
              <c:f>Sheet1!$B$2:$B$3</c:f>
              <c:numCache>
                <c:formatCode>General</c:formatCode>
                <c:ptCount val="2"/>
                <c:pt idx="0">
                  <c:v>1186</c:v>
                </c:pt>
                <c:pt idx="1">
                  <c:v>523</c:v>
                </c:pt>
              </c:numCache>
            </c:numRef>
          </c:val>
        </c:ser>
        <c:dLbls>
          <c:numFmt formatCode="#,##0" sourceLinked="0"/>
          <c:txPr>
            <a:bodyPr/>
            <a:lstStyle/>
            <a:p>
              <a:pPr>
                <a:defRPr b="1" i="0" strike="noStrike" sz="1300" u="none">
                  <a:solidFill>
                    <a:srgbClr val="16243A"/>
                  </a:solidFill>
                  <a:latin typeface="Calibri"/>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50" b="0" i="0" u="none" strike="noStrike">
                <a:solidFill>
                  <a:srgbClr val="3C4A5C"/>
                </a:solidFill>
                <a:latin typeface="Calibri"/>
              </a:defRPr>
            </a:pPr>
            <a:endParaRPr lang="en-US"/>
          </a:p>
        </c:txPr>
        <c:crossAx val="2094734552"/>
        <c:crosses val="autoZero"/>
        <c:auto val="1"/>
        <c:lblAlgn val="ctr"/>
        <c:noMultiLvlLbl val="1"/>
      </c:catAx>
      <c:valAx>
        <c:axId val="2094734552"/>
        <c:scaling>
          <c:orientation val="minMax"/>
          <c:max val="1400"/>
        </c:scaling>
        <c:delete val="0"/>
        <c:axPos val="l"/>
        <c:majorGridlines>
          <c:spPr>
            <a:ln w="12700" cap="flat">
              <a:solidFill>
                <a:srgbClr val="DCE3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9AA8B8"/>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SENTINEL answers Model 1, the compulsory statewide camera registry with GIS mapping, and Model 3, a middleware federation layer. Departments keep their cameras, their storage and their retention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4EE"/>
        </a:solidFill>
      </p:bgPr>
    </p:bg>
    <p:spTree>
      <p:nvGrpSpPr>
        <p:cNvPr id="1" name=""/>
        <p:cNvGrpSpPr/>
        <p:nvPr/>
      </p:nvGrpSpPr>
      <p:grpSpPr>
        <a:xfrm>
          <a:off x="0" y="0"/>
          <a:ext cx="0" cy="0"/>
          <a:chOff x="0" y="0"/>
          <a:chExt cx="0" cy="0"/>
        </a:xfrm>
      </p:grpSpPr>
      <p:sp>
        <p:nvSpPr>
          <p:cNvPr id="2" name="Text 0"/>
          <p:cNvSpPr txBox="1"/>
          <p:nvPr/>
        </p:nvSpPr>
        <p:spPr>
          <a:xfrm>
            <a:off x="822960" y="1920240"/>
            <a:ext cx="10515600" cy="1325880"/>
          </a:xfrm>
          <a:prstGeom prst="rect">
            <a:avLst/>
          </a:prstGeom>
          <a:noFill/>
          <a:ln/>
        </p:spPr>
        <p:txBody>
          <a:bodyPr wrap="square" lIns="0" tIns="0" rIns="0" bIns="0" rtlCol="0" anchor="ctr"/>
          <a:lstStyle/>
          <a:p>
            <a:pPr indent="0" marL="0">
              <a:buNone/>
            </a:pPr>
            <a:r>
              <a:rPr lang="en-US" sz="7600" b="1" spc="500" kern="0" dirty="0">
                <a:solidFill>
                  <a:srgbClr val="16243A"/>
                </a:solidFill>
                <a:latin typeface="Cambria" pitchFamily="34" charset="0"/>
                <a:ea typeface="Cambria" pitchFamily="34" charset="-122"/>
                <a:cs typeface="Cambria" pitchFamily="34" charset="-120"/>
              </a:rPr>
              <a:t>SENTINEL</a:t>
            </a:r>
            <a:endParaRPr lang="en-US" sz="7600" dirty="0"/>
          </a:p>
        </p:txBody>
      </p:sp>
      <p:sp>
        <p:nvSpPr>
          <p:cNvPr id="3" name="Text 1"/>
          <p:cNvSpPr txBox="1"/>
          <p:nvPr/>
        </p:nvSpPr>
        <p:spPr>
          <a:xfrm>
            <a:off x="868680" y="3200400"/>
            <a:ext cx="10424160" cy="502920"/>
          </a:xfrm>
          <a:prstGeom prst="rect">
            <a:avLst/>
          </a:prstGeom>
          <a:noFill/>
          <a:ln/>
        </p:spPr>
        <p:txBody>
          <a:bodyPr wrap="square" lIns="0" tIns="0" rIns="0" bIns="0" rtlCol="0" anchor="ctr"/>
          <a:lstStyle/>
          <a:p>
            <a:pPr indent="0" marL="0">
              <a:buNone/>
            </a:pPr>
            <a:r>
              <a:rPr lang="en-US" sz="2300" dirty="0">
                <a:solidFill>
                  <a:srgbClr val="C2551F"/>
                </a:solidFill>
                <a:latin typeface="Calibri" pitchFamily="34" charset="0"/>
                <a:ea typeface="Calibri" pitchFamily="34" charset="-122"/>
                <a:cs typeface="Calibri" pitchFamily="34" charset="-120"/>
              </a:rPr>
              <a:t>Unified CCTV Intelligence Platform</a:t>
            </a:r>
            <a:endParaRPr lang="en-US" sz="2300" dirty="0"/>
          </a:p>
        </p:txBody>
      </p:sp>
      <p:sp>
        <p:nvSpPr>
          <p:cNvPr id="4" name="Text 2"/>
          <p:cNvSpPr txBox="1"/>
          <p:nvPr/>
        </p:nvSpPr>
        <p:spPr>
          <a:xfrm>
            <a:off x="868680" y="3858768"/>
            <a:ext cx="8412480" cy="777240"/>
          </a:xfrm>
          <a:prstGeom prst="rect">
            <a:avLst/>
          </a:prstGeom>
          <a:noFill/>
          <a:ln/>
        </p:spPr>
        <p:txBody>
          <a:bodyPr wrap="square" lIns="0" tIns="0" rIns="0" bIns="0" rtlCol="0" anchor="ctr"/>
          <a:lstStyle/>
          <a:p>
            <a:pPr indent="0" marL="0">
              <a:lnSpc>
                <a:spcPts val="2300"/>
              </a:lnSpc>
              <a:buNone/>
            </a:pPr>
            <a:r>
              <a:rPr lang="en-US" sz="1500" dirty="0">
                <a:solidFill>
                  <a:srgbClr val="3C4A5C"/>
                </a:solidFill>
                <a:latin typeface="Calibri" pitchFamily="34" charset="0"/>
                <a:ea typeface="Calibri" pitchFamily="34" charset="-122"/>
                <a:cs typeface="Calibri" pitchFamily="34" charset="-120"/>
              </a:rPr>
              <a:t>One operational picture across every departmental camera in Gujarat, without moving the video.</a:t>
            </a:r>
            <a:endParaRPr lang="en-US" sz="1500" dirty="0"/>
          </a:p>
        </p:txBody>
      </p:sp>
      <p:sp>
        <p:nvSpPr>
          <p:cNvPr id="5" name="Shape 3"/>
          <p:cNvSpPr/>
          <p:nvPr/>
        </p:nvSpPr>
        <p:spPr>
          <a:xfrm>
            <a:off x="868680" y="4892040"/>
            <a:ext cx="1463040" cy="32004"/>
          </a:xfrm>
          <a:prstGeom prst="rect">
            <a:avLst/>
          </a:prstGeom>
          <a:solidFill>
            <a:srgbClr val="C2551F"/>
          </a:solidFill>
          <a:ln w="12700">
            <a:solidFill>
              <a:srgbClr val="C2551F"/>
            </a:solidFill>
            <a:prstDash val="solid"/>
          </a:ln>
        </p:spPr>
      </p:sp>
      <p:sp>
        <p:nvSpPr>
          <p:cNvPr id="6" name="Text 4"/>
          <p:cNvSpPr txBox="1"/>
          <p:nvPr/>
        </p:nvSpPr>
        <p:spPr>
          <a:xfrm>
            <a:off x="868680" y="5138928"/>
            <a:ext cx="10424160" cy="320040"/>
          </a:xfrm>
          <a:prstGeom prst="rect">
            <a:avLst/>
          </a:prstGeom>
          <a:noFill/>
          <a:ln/>
        </p:spPr>
        <p:txBody>
          <a:bodyPr wrap="square" lIns="0" tIns="0" rIns="0" bIns="0" rtlCol="0" anchor="ctr"/>
          <a:lstStyle/>
          <a:p>
            <a:pPr indent="0" marL="0">
              <a:buNone/>
            </a:pPr>
            <a:r>
              <a:rPr lang="en-US" sz="1300" b="1" spc="120" kern="0" dirty="0">
                <a:solidFill>
                  <a:srgbClr val="16243A"/>
                </a:solidFill>
                <a:latin typeface="Calibri" pitchFamily="34" charset="0"/>
                <a:ea typeface="Calibri" pitchFamily="34" charset="-122"/>
                <a:cs typeface="Calibri" pitchFamily="34" charset="-120"/>
              </a:rPr>
              <a:t>Gujarat Police Innovation Challenge 2026</a:t>
            </a:r>
            <a:endParaRPr lang="en-US" sz="1300" dirty="0"/>
          </a:p>
        </p:txBody>
      </p:sp>
      <p:sp>
        <p:nvSpPr>
          <p:cNvPr id="7" name="Text 5"/>
          <p:cNvSpPr txBox="1"/>
          <p:nvPr/>
        </p:nvSpPr>
        <p:spPr>
          <a:xfrm>
            <a:off x="868680" y="5504688"/>
            <a:ext cx="10424160" cy="320040"/>
          </a:xfrm>
          <a:prstGeom prst="rect">
            <a:avLst/>
          </a:prstGeom>
          <a:noFill/>
          <a:ln/>
        </p:spPr>
        <p:txBody>
          <a:bodyPr wrap="square" lIns="0" tIns="0" rIns="0" bIns="0" rtlCol="0" anchor="ctr"/>
          <a:lstStyle/>
          <a:p>
            <a:pPr indent="0" marL="0">
              <a:buNone/>
            </a:pPr>
            <a:r>
              <a:rPr lang="en-US" sz="1150" dirty="0">
                <a:solidFill>
                  <a:srgbClr val="6B7B8F"/>
                </a:solidFill>
                <a:latin typeface="Calibri" pitchFamily="34" charset="0"/>
                <a:ea typeface="Calibri" pitchFamily="34" charset="-122"/>
                <a:cs typeface="Calibri" pitchFamily="34" charset="-120"/>
              </a:rPr>
              <a:t>Model 1 — statewide camera registry with GIS   ·   Model 3 — departmental federation middleware</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CONTENTS</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What this presentation covers</a:t>
            </a:r>
            <a:endParaRPr lang="en-US" sz="3400" dirty="0"/>
          </a:p>
        </p:txBody>
      </p:sp>
      <p:sp>
        <p:nvSpPr>
          <p:cNvPr id="4" name="Text 2"/>
          <p:cNvSpPr txBox="1"/>
          <p:nvPr/>
        </p:nvSpPr>
        <p:spPr>
          <a:xfrm>
            <a:off x="640080" y="2286000"/>
            <a:ext cx="822960" cy="548640"/>
          </a:xfrm>
          <a:prstGeom prst="rect">
            <a:avLst/>
          </a:prstGeom>
          <a:noFill/>
          <a:ln/>
        </p:spPr>
        <p:txBody>
          <a:bodyPr wrap="square" lIns="0" tIns="0" rIns="0" bIns="0" rtlCol="0" anchor="ctr"/>
          <a:lstStyle/>
          <a:p>
            <a:pPr indent="0" marL="0">
              <a:buNone/>
            </a:pPr>
            <a:r>
              <a:rPr lang="en-US" sz="2600" b="1" dirty="0">
                <a:solidFill>
                  <a:srgbClr val="C2551F"/>
                </a:solidFill>
                <a:latin typeface="Cambria" pitchFamily="34" charset="0"/>
                <a:ea typeface="Cambria" pitchFamily="34" charset="-122"/>
                <a:cs typeface="Cambria" pitchFamily="34" charset="-120"/>
              </a:rPr>
              <a:t>01</a:t>
            </a:r>
            <a:endParaRPr lang="en-US" sz="2600" dirty="0"/>
          </a:p>
        </p:txBody>
      </p:sp>
      <p:sp>
        <p:nvSpPr>
          <p:cNvPr id="5" name="Text 3"/>
          <p:cNvSpPr txBox="1"/>
          <p:nvPr/>
        </p:nvSpPr>
        <p:spPr>
          <a:xfrm>
            <a:off x="1600200" y="2322576"/>
            <a:ext cx="3291840" cy="457200"/>
          </a:xfrm>
          <a:prstGeom prst="rect">
            <a:avLst/>
          </a:prstGeom>
          <a:noFill/>
          <a:ln/>
        </p:spPr>
        <p:txBody>
          <a:bodyPr wrap="square" lIns="0" tIns="0" rIns="0" bIns="0" rtlCol="0" anchor="ctr"/>
          <a:lstStyle/>
          <a:p>
            <a:pPr indent="0" marL="0">
              <a:buNone/>
            </a:pPr>
            <a:r>
              <a:rPr lang="en-US" sz="1900" b="1" dirty="0">
                <a:solidFill>
                  <a:srgbClr val="16243A"/>
                </a:solidFill>
                <a:latin typeface="Cambria" pitchFamily="34" charset="0"/>
                <a:ea typeface="Cambria" pitchFamily="34" charset="-122"/>
                <a:cs typeface="Cambria" pitchFamily="34" charset="-120"/>
              </a:rPr>
              <a:t>The problem</a:t>
            </a:r>
            <a:endParaRPr lang="en-US" sz="1900" dirty="0"/>
          </a:p>
        </p:txBody>
      </p:sp>
      <p:sp>
        <p:nvSpPr>
          <p:cNvPr id="6" name="Text 4"/>
          <p:cNvSpPr txBox="1"/>
          <p:nvPr/>
        </p:nvSpPr>
        <p:spPr>
          <a:xfrm>
            <a:off x="5029200" y="2395728"/>
            <a:ext cx="6492240" cy="457200"/>
          </a:xfrm>
          <a:prstGeom prst="rect">
            <a:avLst/>
          </a:prstGeom>
          <a:noFill/>
          <a:ln/>
        </p:spPr>
        <p:txBody>
          <a:bodyPr wrap="square" lIns="0" tIns="0" rIns="0" bIns="0" rtlCol="0" anchor="ctr"/>
          <a:lstStyle/>
          <a:p>
            <a:pPr indent="0" marL="0">
              <a:buNone/>
            </a:pPr>
            <a:r>
              <a:rPr lang="en-US" sz="1300" dirty="0">
                <a:solidFill>
                  <a:srgbClr val="6B7B8F"/>
                </a:solidFill>
                <a:latin typeface="Calibri" pitchFamily="34" charset="0"/>
                <a:ea typeface="Calibri" pitchFamily="34" charset="-122"/>
                <a:cs typeface="Calibri" pitchFamily="34" charset="-120"/>
              </a:rPr>
              <a:t>Four departments, four camera estates, no shared picture</a:t>
            </a:r>
            <a:endParaRPr lang="en-US" sz="1300" dirty="0"/>
          </a:p>
        </p:txBody>
      </p:sp>
      <p:sp>
        <p:nvSpPr>
          <p:cNvPr id="7" name="Shape 5"/>
          <p:cNvSpPr/>
          <p:nvPr/>
        </p:nvSpPr>
        <p:spPr>
          <a:xfrm>
            <a:off x="640080" y="2944368"/>
            <a:ext cx="10881360" cy="10973"/>
          </a:xfrm>
          <a:prstGeom prst="rect">
            <a:avLst/>
          </a:prstGeom>
          <a:solidFill>
            <a:srgbClr val="DCE3EB"/>
          </a:solidFill>
          <a:ln w="12700">
            <a:solidFill>
              <a:srgbClr val="DCE3EB"/>
            </a:solidFill>
            <a:prstDash val="solid"/>
          </a:ln>
        </p:spPr>
      </p:sp>
      <p:sp>
        <p:nvSpPr>
          <p:cNvPr id="8" name="Text 6"/>
          <p:cNvSpPr txBox="1"/>
          <p:nvPr/>
        </p:nvSpPr>
        <p:spPr>
          <a:xfrm>
            <a:off x="640080" y="2980944"/>
            <a:ext cx="822960" cy="548640"/>
          </a:xfrm>
          <a:prstGeom prst="rect">
            <a:avLst/>
          </a:prstGeom>
          <a:noFill/>
          <a:ln/>
        </p:spPr>
        <p:txBody>
          <a:bodyPr wrap="square" lIns="0" tIns="0" rIns="0" bIns="0" rtlCol="0" anchor="ctr"/>
          <a:lstStyle/>
          <a:p>
            <a:pPr indent="0" marL="0">
              <a:buNone/>
            </a:pPr>
            <a:r>
              <a:rPr lang="en-US" sz="2600" b="1" dirty="0">
                <a:solidFill>
                  <a:srgbClr val="C2551F"/>
                </a:solidFill>
                <a:latin typeface="Cambria" pitchFamily="34" charset="0"/>
                <a:ea typeface="Cambria" pitchFamily="34" charset="-122"/>
                <a:cs typeface="Cambria" pitchFamily="34" charset="-120"/>
              </a:rPr>
              <a:t>02</a:t>
            </a:r>
            <a:endParaRPr lang="en-US" sz="2600" dirty="0"/>
          </a:p>
        </p:txBody>
      </p:sp>
      <p:sp>
        <p:nvSpPr>
          <p:cNvPr id="9" name="Text 7"/>
          <p:cNvSpPr txBox="1"/>
          <p:nvPr/>
        </p:nvSpPr>
        <p:spPr>
          <a:xfrm>
            <a:off x="1600200" y="3017520"/>
            <a:ext cx="3291840" cy="457200"/>
          </a:xfrm>
          <a:prstGeom prst="rect">
            <a:avLst/>
          </a:prstGeom>
          <a:noFill/>
          <a:ln/>
        </p:spPr>
        <p:txBody>
          <a:bodyPr wrap="square" lIns="0" tIns="0" rIns="0" bIns="0" rtlCol="0" anchor="ctr"/>
          <a:lstStyle/>
          <a:p>
            <a:pPr indent="0" marL="0">
              <a:buNone/>
            </a:pPr>
            <a:r>
              <a:rPr lang="en-US" sz="1900" b="1" dirty="0">
                <a:solidFill>
                  <a:srgbClr val="16243A"/>
                </a:solidFill>
                <a:latin typeface="Cambria" pitchFamily="34" charset="0"/>
                <a:ea typeface="Cambria" pitchFamily="34" charset="-122"/>
                <a:cs typeface="Cambria" pitchFamily="34" charset="-120"/>
              </a:rPr>
              <a:t>The approach</a:t>
            </a:r>
            <a:endParaRPr lang="en-US" sz="1900" dirty="0"/>
          </a:p>
        </p:txBody>
      </p:sp>
      <p:sp>
        <p:nvSpPr>
          <p:cNvPr id="10" name="Text 8"/>
          <p:cNvSpPr txBox="1"/>
          <p:nvPr/>
        </p:nvSpPr>
        <p:spPr>
          <a:xfrm>
            <a:off x="5029200" y="3090672"/>
            <a:ext cx="6492240" cy="457200"/>
          </a:xfrm>
          <a:prstGeom prst="rect">
            <a:avLst/>
          </a:prstGeom>
          <a:noFill/>
          <a:ln/>
        </p:spPr>
        <p:txBody>
          <a:bodyPr wrap="square" lIns="0" tIns="0" rIns="0" bIns="0" rtlCol="0" anchor="ctr"/>
          <a:lstStyle/>
          <a:p>
            <a:pPr indent="0" marL="0">
              <a:buNone/>
            </a:pPr>
            <a:r>
              <a:rPr lang="en-US" sz="1300" dirty="0">
                <a:solidFill>
                  <a:srgbClr val="6B7B8F"/>
                </a:solidFill>
                <a:latin typeface="Calibri" pitchFamily="34" charset="0"/>
                <a:ea typeface="Calibri" pitchFamily="34" charset="-122"/>
                <a:cs typeface="Calibri" pitchFamily="34" charset="-120"/>
              </a:rPr>
              <a:t>Move metadata, not video — and what follows from it</a:t>
            </a:r>
            <a:endParaRPr lang="en-US" sz="1300" dirty="0"/>
          </a:p>
        </p:txBody>
      </p:sp>
      <p:sp>
        <p:nvSpPr>
          <p:cNvPr id="11" name="Shape 9"/>
          <p:cNvSpPr/>
          <p:nvPr/>
        </p:nvSpPr>
        <p:spPr>
          <a:xfrm>
            <a:off x="640080" y="3639312"/>
            <a:ext cx="10881360" cy="10973"/>
          </a:xfrm>
          <a:prstGeom prst="rect">
            <a:avLst/>
          </a:prstGeom>
          <a:solidFill>
            <a:srgbClr val="DCE3EB"/>
          </a:solidFill>
          <a:ln w="12700">
            <a:solidFill>
              <a:srgbClr val="DCE3EB"/>
            </a:solidFill>
            <a:prstDash val="solid"/>
          </a:ln>
        </p:spPr>
      </p:sp>
      <p:sp>
        <p:nvSpPr>
          <p:cNvPr id="12" name="Text 10"/>
          <p:cNvSpPr txBox="1"/>
          <p:nvPr/>
        </p:nvSpPr>
        <p:spPr>
          <a:xfrm>
            <a:off x="640080" y="3675888"/>
            <a:ext cx="822960" cy="548640"/>
          </a:xfrm>
          <a:prstGeom prst="rect">
            <a:avLst/>
          </a:prstGeom>
          <a:noFill/>
          <a:ln/>
        </p:spPr>
        <p:txBody>
          <a:bodyPr wrap="square" lIns="0" tIns="0" rIns="0" bIns="0" rtlCol="0" anchor="ctr"/>
          <a:lstStyle/>
          <a:p>
            <a:pPr indent="0" marL="0">
              <a:buNone/>
            </a:pPr>
            <a:r>
              <a:rPr lang="en-US" sz="2600" b="1" dirty="0">
                <a:solidFill>
                  <a:srgbClr val="C2551F"/>
                </a:solidFill>
                <a:latin typeface="Cambria" pitchFamily="34" charset="0"/>
                <a:ea typeface="Cambria" pitchFamily="34" charset="-122"/>
                <a:cs typeface="Cambria" pitchFamily="34" charset="-120"/>
              </a:rPr>
              <a:t>03</a:t>
            </a:r>
            <a:endParaRPr lang="en-US" sz="2600" dirty="0"/>
          </a:p>
        </p:txBody>
      </p:sp>
      <p:sp>
        <p:nvSpPr>
          <p:cNvPr id="13" name="Text 11"/>
          <p:cNvSpPr txBox="1"/>
          <p:nvPr/>
        </p:nvSpPr>
        <p:spPr>
          <a:xfrm>
            <a:off x="1600200" y="3712464"/>
            <a:ext cx="3291840" cy="457200"/>
          </a:xfrm>
          <a:prstGeom prst="rect">
            <a:avLst/>
          </a:prstGeom>
          <a:noFill/>
          <a:ln/>
        </p:spPr>
        <p:txBody>
          <a:bodyPr wrap="square" lIns="0" tIns="0" rIns="0" bIns="0" rtlCol="0" anchor="ctr"/>
          <a:lstStyle/>
          <a:p>
            <a:pPr indent="0" marL="0">
              <a:buNone/>
            </a:pPr>
            <a:r>
              <a:rPr lang="en-US" sz="1900" b="1" dirty="0">
                <a:solidFill>
                  <a:srgbClr val="16243A"/>
                </a:solidFill>
                <a:latin typeface="Cambria" pitchFamily="34" charset="0"/>
                <a:ea typeface="Cambria" pitchFamily="34" charset="-122"/>
                <a:cs typeface="Cambria" pitchFamily="34" charset="-120"/>
              </a:rPr>
              <a:t>System design</a:t>
            </a:r>
            <a:endParaRPr lang="en-US" sz="1900" dirty="0"/>
          </a:p>
        </p:txBody>
      </p:sp>
      <p:sp>
        <p:nvSpPr>
          <p:cNvPr id="14" name="Text 12"/>
          <p:cNvSpPr txBox="1"/>
          <p:nvPr/>
        </p:nvSpPr>
        <p:spPr>
          <a:xfrm>
            <a:off x="5029200" y="3785616"/>
            <a:ext cx="6492240" cy="457200"/>
          </a:xfrm>
          <a:prstGeom prst="rect">
            <a:avLst/>
          </a:prstGeom>
          <a:noFill/>
          <a:ln/>
        </p:spPr>
        <p:txBody>
          <a:bodyPr wrap="square" lIns="0" tIns="0" rIns="0" bIns="0" rtlCol="0" anchor="ctr"/>
          <a:lstStyle/>
          <a:p>
            <a:pPr indent="0" marL="0">
              <a:buNone/>
            </a:pPr>
            <a:r>
              <a:rPr lang="en-US" sz="1300" dirty="0">
                <a:solidFill>
                  <a:srgbClr val="6B7B8F"/>
                </a:solidFill>
                <a:latin typeface="Calibri" pitchFamily="34" charset="0"/>
                <a:ea typeface="Calibri" pitchFamily="34" charset="-122"/>
                <a:cs typeface="Calibri" pitchFamily="34" charset="-120"/>
              </a:rPr>
              <a:t>The complete architecture, band by band, and what moves between them</a:t>
            </a:r>
            <a:endParaRPr lang="en-US" sz="1300" dirty="0"/>
          </a:p>
        </p:txBody>
      </p:sp>
      <p:sp>
        <p:nvSpPr>
          <p:cNvPr id="15" name="Shape 13"/>
          <p:cNvSpPr/>
          <p:nvPr/>
        </p:nvSpPr>
        <p:spPr>
          <a:xfrm>
            <a:off x="640080" y="4334256"/>
            <a:ext cx="10881360" cy="10973"/>
          </a:xfrm>
          <a:prstGeom prst="rect">
            <a:avLst/>
          </a:prstGeom>
          <a:solidFill>
            <a:srgbClr val="DCE3EB"/>
          </a:solidFill>
          <a:ln w="12700">
            <a:solidFill>
              <a:srgbClr val="DCE3EB"/>
            </a:solidFill>
            <a:prstDash val="solid"/>
          </a:ln>
        </p:spPr>
      </p:sp>
      <p:sp>
        <p:nvSpPr>
          <p:cNvPr id="16" name="Text 14"/>
          <p:cNvSpPr txBox="1"/>
          <p:nvPr/>
        </p:nvSpPr>
        <p:spPr>
          <a:xfrm>
            <a:off x="640080" y="4370832"/>
            <a:ext cx="822960" cy="548640"/>
          </a:xfrm>
          <a:prstGeom prst="rect">
            <a:avLst/>
          </a:prstGeom>
          <a:noFill/>
          <a:ln/>
        </p:spPr>
        <p:txBody>
          <a:bodyPr wrap="square" lIns="0" tIns="0" rIns="0" bIns="0" rtlCol="0" anchor="ctr"/>
          <a:lstStyle/>
          <a:p>
            <a:pPr indent="0" marL="0">
              <a:buNone/>
            </a:pPr>
            <a:r>
              <a:rPr lang="en-US" sz="2600" b="1" dirty="0">
                <a:solidFill>
                  <a:srgbClr val="C2551F"/>
                </a:solidFill>
                <a:latin typeface="Cambria" pitchFamily="34" charset="0"/>
                <a:ea typeface="Cambria" pitchFamily="34" charset="-122"/>
                <a:cs typeface="Cambria" pitchFamily="34" charset="-120"/>
              </a:rPr>
              <a:t>04</a:t>
            </a:r>
            <a:endParaRPr lang="en-US" sz="2600" dirty="0"/>
          </a:p>
        </p:txBody>
      </p:sp>
      <p:sp>
        <p:nvSpPr>
          <p:cNvPr id="17" name="Text 15"/>
          <p:cNvSpPr txBox="1"/>
          <p:nvPr/>
        </p:nvSpPr>
        <p:spPr>
          <a:xfrm>
            <a:off x="1600200" y="4407408"/>
            <a:ext cx="3291840" cy="457200"/>
          </a:xfrm>
          <a:prstGeom prst="rect">
            <a:avLst/>
          </a:prstGeom>
          <a:noFill/>
          <a:ln/>
        </p:spPr>
        <p:txBody>
          <a:bodyPr wrap="square" lIns="0" tIns="0" rIns="0" bIns="0" rtlCol="0" anchor="ctr"/>
          <a:lstStyle/>
          <a:p>
            <a:pPr indent="0" marL="0">
              <a:buNone/>
            </a:pPr>
            <a:r>
              <a:rPr lang="en-US" sz="1900" b="1" dirty="0">
                <a:solidFill>
                  <a:srgbClr val="16243A"/>
                </a:solidFill>
                <a:latin typeface="Cambria" pitchFamily="34" charset="0"/>
                <a:ea typeface="Cambria" pitchFamily="34" charset="-122"/>
                <a:cs typeface="Cambria" pitchFamily="34" charset="-120"/>
              </a:rPr>
              <a:t>Capability</a:t>
            </a:r>
            <a:endParaRPr lang="en-US" sz="1900" dirty="0"/>
          </a:p>
        </p:txBody>
      </p:sp>
      <p:sp>
        <p:nvSpPr>
          <p:cNvPr id="18" name="Text 16"/>
          <p:cNvSpPr txBox="1"/>
          <p:nvPr/>
        </p:nvSpPr>
        <p:spPr>
          <a:xfrm>
            <a:off x="5029200" y="4480560"/>
            <a:ext cx="6492240" cy="457200"/>
          </a:xfrm>
          <a:prstGeom prst="rect">
            <a:avLst/>
          </a:prstGeom>
          <a:noFill/>
          <a:ln/>
        </p:spPr>
        <p:txBody>
          <a:bodyPr wrap="square" lIns="0" tIns="0" rIns="0" bIns="0" rtlCol="0" anchor="ctr"/>
          <a:lstStyle/>
          <a:p>
            <a:pPr indent="0" marL="0">
              <a:buNone/>
            </a:pPr>
            <a:r>
              <a:rPr lang="en-US" sz="1300" dirty="0">
                <a:solidFill>
                  <a:srgbClr val="6B7B8F"/>
                </a:solidFill>
                <a:latin typeface="Calibri" pitchFamily="34" charset="0"/>
                <a:ea typeface="Calibri" pitchFamily="34" charset="-122"/>
                <a:cs typeface="Calibri" pitchFamily="34" charset="-120"/>
              </a:rPr>
              <a:t>Recognition, tracing, evidence and government records</a:t>
            </a:r>
            <a:endParaRPr lang="en-US" sz="1300" dirty="0"/>
          </a:p>
        </p:txBody>
      </p:sp>
      <p:sp>
        <p:nvSpPr>
          <p:cNvPr id="19" name="Shape 17"/>
          <p:cNvSpPr/>
          <p:nvPr/>
        </p:nvSpPr>
        <p:spPr>
          <a:xfrm>
            <a:off x="640080" y="5029200"/>
            <a:ext cx="10881360" cy="10973"/>
          </a:xfrm>
          <a:prstGeom prst="rect">
            <a:avLst/>
          </a:prstGeom>
          <a:solidFill>
            <a:srgbClr val="DCE3EB"/>
          </a:solidFill>
          <a:ln w="12700">
            <a:solidFill>
              <a:srgbClr val="DCE3EB"/>
            </a:solidFill>
            <a:prstDash val="solid"/>
          </a:ln>
        </p:spPr>
      </p:sp>
      <p:sp>
        <p:nvSpPr>
          <p:cNvPr id="20" name="Text 18"/>
          <p:cNvSpPr txBox="1"/>
          <p:nvPr/>
        </p:nvSpPr>
        <p:spPr>
          <a:xfrm>
            <a:off x="640080" y="5065776"/>
            <a:ext cx="822960" cy="548640"/>
          </a:xfrm>
          <a:prstGeom prst="rect">
            <a:avLst/>
          </a:prstGeom>
          <a:noFill/>
          <a:ln/>
        </p:spPr>
        <p:txBody>
          <a:bodyPr wrap="square" lIns="0" tIns="0" rIns="0" bIns="0" rtlCol="0" anchor="ctr"/>
          <a:lstStyle/>
          <a:p>
            <a:pPr indent="0" marL="0">
              <a:buNone/>
            </a:pPr>
            <a:r>
              <a:rPr lang="en-US" sz="2600" b="1" dirty="0">
                <a:solidFill>
                  <a:srgbClr val="C2551F"/>
                </a:solidFill>
                <a:latin typeface="Cambria" pitchFamily="34" charset="0"/>
                <a:ea typeface="Cambria" pitchFamily="34" charset="-122"/>
                <a:cs typeface="Cambria" pitchFamily="34" charset="-120"/>
              </a:rPr>
              <a:t>05</a:t>
            </a:r>
            <a:endParaRPr lang="en-US" sz="2600" dirty="0"/>
          </a:p>
        </p:txBody>
      </p:sp>
      <p:sp>
        <p:nvSpPr>
          <p:cNvPr id="21" name="Text 19"/>
          <p:cNvSpPr txBox="1"/>
          <p:nvPr/>
        </p:nvSpPr>
        <p:spPr>
          <a:xfrm>
            <a:off x="1600200" y="5102352"/>
            <a:ext cx="3291840" cy="457200"/>
          </a:xfrm>
          <a:prstGeom prst="rect">
            <a:avLst/>
          </a:prstGeom>
          <a:noFill/>
          <a:ln/>
        </p:spPr>
        <p:txBody>
          <a:bodyPr wrap="square" lIns="0" tIns="0" rIns="0" bIns="0" rtlCol="0" anchor="ctr"/>
          <a:lstStyle/>
          <a:p>
            <a:pPr indent="0" marL="0">
              <a:buNone/>
            </a:pPr>
            <a:r>
              <a:rPr lang="en-US" sz="1900" b="1" dirty="0">
                <a:solidFill>
                  <a:srgbClr val="16243A"/>
                </a:solidFill>
                <a:latin typeface="Cambria" pitchFamily="34" charset="0"/>
                <a:ea typeface="Cambria" pitchFamily="34" charset="-122"/>
                <a:cs typeface="Cambria" pitchFamily="34" charset="-120"/>
              </a:rPr>
              <a:t>Trust</a:t>
            </a:r>
            <a:endParaRPr lang="en-US" sz="1900" dirty="0"/>
          </a:p>
        </p:txBody>
      </p:sp>
      <p:sp>
        <p:nvSpPr>
          <p:cNvPr id="22" name="Text 20"/>
          <p:cNvSpPr txBox="1"/>
          <p:nvPr/>
        </p:nvSpPr>
        <p:spPr>
          <a:xfrm>
            <a:off x="5029200" y="5175504"/>
            <a:ext cx="6492240" cy="457200"/>
          </a:xfrm>
          <a:prstGeom prst="rect">
            <a:avLst/>
          </a:prstGeom>
          <a:noFill/>
          <a:ln/>
        </p:spPr>
        <p:txBody>
          <a:bodyPr wrap="square" lIns="0" tIns="0" rIns="0" bIns="0" rtlCol="0" anchor="ctr"/>
          <a:lstStyle/>
          <a:p>
            <a:pPr indent="0" marL="0">
              <a:buNone/>
            </a:pPr>
            <a:r>
              <a:rPr lang="en-US" sz="1300" dirty="0">
                <a:solidFill>
                  <a:srgbClr val="6B7B8F"/>
                </a:solidFill>
                <a:latin typeface="Calibri" pitchFamily="34" charset="0"/>
                <a:ea typeface="Calibri" pitchFamily="34" charset="-122"/>
                <a:cs typeface="Calibri" pitchFamily="34" charset="-120"/>
              </a:rPr>
              <a:t>Access control, accountability and resilience</a:t>
            </a:r>
            <a:endParaRPr lang="en-US" sz="1300" dirty="0"/>
          </a:p>
        </p:txBody>
      </p:sp>
      <p:sp>
        <p:nvSpPr>
          <p:cNvPr id="23" name="Shape 21"/>
          <p:cNvSpPr/>
          <p:nvPr/>
        </p:nvSpPr>
        <p:spPr>
          <a:xfrm>
            <a:off x="640080" y="5724144"/>
            <a:ext cx="10881360" cy="10973"/>
          </a:xfrm>
          <a:prstGeom prst="rect">
            <a:avLst/>
          </a:prstGeom>
          <a:solidFill>
            <a:srgbClr val="DCE3EB"/>
          </a:solidFill>
          <a:ln w="12700">
            <a:solidFill>
              <a:srgbClr val="DCE3EB"/>
            </a:solidFill>
            <a:prstDash val="solid"/>
          </a:ln>
        </p:spPr>
      </p:sp>
      <p:sp>
        <p:nvSpPr>
          <p:cNvPr id="24" name="Text 22"/>
          <p:cNvSpPr txBox="1"/>
          <p:nvPr/>
        </p:nvSpPr>
        <p:spPr>
          <a:xfrm>
            <a:off x="640080" y="5760720"/>
            <a:ext cx="822960" cy="548640"/>
          </a:xfrm>
          <a:prstGeom prst="rect">
            <a:avLst/>
          </a:prstGeom>
          <a:noFill/>
          <a:ln/>
        </p:spPr>
        <p:txBody>
          <a:bodyPr wrap="square" lIns="0" tIns="0" rIns="0" bIns="0" rtlCol="0" anchor="ctr"/>
          <a:lstStyle/>
          <a:p>
            <a:pPr indent="0" marL="0">
              <a:buNone/>
            </a:pPr>
            <a:r>
              <a:rPr lang="en-US" sz="2600" b="1" dirty="0">
                <a:solidFill>
                  <a:srgbClr val="C2551F"/>
                </a:solidFill>
                <a:latin typeface="Cambria" pitchFamily="34" charset="0"/>
                <a:ea typeface="Cambria" pitchFamily="34" charset="-122"/>
                <a:cs typeface="Cambria" pitchFamily="34" charset="-120"/>
              </a:rPr>
              <a:t>06</a:t>
            </a:r>
            <a:endParaRPr lang="en-US" sz="2600" dirty="0"/>
          </a:p>
        </p:txBody>
      </p:sp>
      <p:sp>
        <p:nvSpPr>
          <p:cNvPr id="25" name="Text 23"/>
          <p:cNvSpPr txBox="1"/>
          <p:nvPr/>
        </p:nvSpPr>
        <p:spPr>
          <a:xfrm>
            <a:off x="1600200" y="5797296"/>
            <a:ext cx="3291840" cy="457200"/>
          </a:xfrm>
          <a:prstGeom prst="rect">
            <a:avLst/>
          </a:prstGeom>
          <a:noFill/>
          <a:ln/>
        </p:spPr>
        <p:txBody>
          <a:bodyPr wrap="square" lIns="0" tIns="0" rIns="0" bIns="0" rtlCol="0" anchor="ctr"/>
          <a:lstStyle/>
          <a:p>
            <a:pPr indent="0" marL="0">
              <a:buNone/>
            </a:pPr>
            <a:r>
              <a:rPr lang="en-US" sz="1900" b="1" dirty="0">
                <a:solidFill>
                  <a:srgbClr val="16243A"/>
                </a:solidFill>
                <a:latin typeface="Cambria" pitchFamily="34" charset="0"/>
                <a:ea typeface="Cambria" pitchFamily="34" charset="-122"/>
                <a:cs typeface="Cambria" pitchFamily="34" charset="-120"/>
              </a:rPr>
              <a:t>Delivery</a:t>
            </a:r>
            <a:endParaRPr lang="en-US" sz="1900" dirty="0"/>
          </a:p>
        </p:txBody>
      </p:sp>
      <p:sp>
        <p:nvSpPr>
          <p:cNvPr id="26" name="Text 24"/>
          <p:cNvSpPr txBox="1"/>
          <p:nvPr/>
        </p:nvSpPr>
        <p:spPr>
          <a:xfrm>
            <a:off x="5029200" y="5870448"/>
            <a:ext cx="6492240" cy="457200"/>
          </a:xfrm>
          <a:prstGeom prst="rect">
            <a:avLst/>
          </a:prstGeom>
          <a:noFill/>
          <a:ln/>
        </p:spPr>
        <p:txBody>
          <a:bodyPr wrap="square" lIns="0" tIns="0" rIns="0" bIns="0" rtlCol="0" anchor="ctr"/>
          <a:lstStyle/>
          <a:p>
            <a:pPr indent="0" marL="0">
              <a:buNone/>
            </a:pPr>
            <a:r>
              <a:rPr lang="en-US" sz="1300" dirty="0">
                <a:solidFill>
                  <a:srgbClr val="6B7B8F"/>
                </a:solidFill>
                <a:latin typeface="Calibri" pitchFamily="34" charset="0"/>
                <a:ea typeface="Calibri" pitchFamily="34" charset="-122"/>
                <a:cs typeface="Calibri" pitchFamily="34" charset="-120"/>
              </a:rPr>
              <a:t>What is built today and what comes next</a:t>
            </a:r>
            <a:endParaRPr lang="en-US" sz="1300" dirty="0"/>
          </a:p>
        </p:txBody>
      </p:sp>
      <p:sp>
        <p:nvSpPr>
          <p:cNvPr id="27" name="Text 25"/>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4EE"/>
        </a:solidFill>
      </p:bgPr>
    </p:bg>
    <p:spTree>
      <p:nvGrpSpPr>
        <p:cNvPr id="1" name=""/>
        <p:cNvGrpSpPr/>
        <p:nvPr/>
      </p:nvGrpSpPr>
      <p:grpSpPr>
        <a:xfrm>
          <a:off x="0" y="0"/>
          <a:ext cx="0" cy="0"/>
          <a:chOff x="0" y="0"/>
          <a:chExt cx="0" cy="0"/>
        </a:xfrm>
      </p:grpSpPr>
      <p:sp>
        <p:nvSpPr>
          <p:cNvPr id="2" name="Text 0"/>
          <p:cNvSpPr txBox="1"/>
          <p:nvPr/>
        </p:nvSpPr>
        <p:spPr>
          <a:xfrm>
            <a:off x="822960" y="2286000"/>
            <a:ext cx="1828800" cy="1463040"/>
          </a:xfrm>
          <a:prstGeom prst="rect">
            <a:avLst/>
          </a:prstGeom>
          <a:noFill/>
          <a:ln/>
        </p:spPr>
        <p:txBody>
          <a:bodyPr wrap="square" lIns="0" tIns="0" rIns="0" bIns="0" rtlCol="0" anchor="ctr"/>
          <a:lstStyle/>
          <a:p>
            <a:pPr indent="0" marL="0">
              <a:buNone/>
            </a:pPr>
            <a:r>
              <a:rPr lang="en-US" sz="9600" b="1" dirty="0">
                <a:solidFill>
                  <a:srgbClr val="C2551F"/>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2743200" y="2487168"/>
            <a:ext cx="8503920" cy="777240"/>
          </a:xfrm>
          <a:prstGeom prst="rect">
            <a:avLst/>
          </a:prstGeom>
          <a:noFill/>
          <a:ln/>
        </p:spPr>
        <p:txBody>
          <a:bodyPr wrap="square" lIns="0" tIns="0" rIns="0" bIns="0" rtlCol="0" anchor="ctr"/>
          <a:lstStyle/>
          <a:p>
            <a:pPr indent="0" marL="0">
              <a:buNone/>
            </a:pPr>
            <a:r>
              <a:rPr lang="en-US" sz="4000" b="1" dirty="0">
                <a:solidFill>
                  <a:srgbClr val="16243A"/>
                </a:solidFill>
                <a:latin typeface="Cambria" pitchFamily="34" charset="0"/>
                <a:ea typeface="Cambria" pitchFamily="34" charset="-122"/>
                <a:cs typeface="Cambria" pitchFamily="34" charset="-120"/>
              </a:rPr>
              <a:t>The problem</a:t>
            </a:r>
            <a:endParaRPr lang="en-US" sz="4000" dirty="0"/>
          </a:p>
        </p:txBody>
      </p:sp>
      <p:sp>
        <p:nvSpPr>
          <p:cNvPr id="4" name="Text 2"/>
          <p:cNvSpPr txBox="1"/>
          <p:nvPr/>
        </p:nvSpPr>
        <p:spPr>
          <a:xfrm>
            <a:off x="2788920" y="3346704"/>
            <a:ext cx="7863840" cy="731520"/>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The cameras already exist. The picture does not.</a:t>
            </a:r>
            <a:endParaRPr lang="en-US" sz="1450" dirty="0"/>
          </a:p>
        </p:txBody>
      </p:sp>
      <p:sp>
        <p:nvSpPr>
          <p:cNvPr id="5" name="Text 3"/>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TODAY</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Every department has cameras. Nobody has the picture.</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Police, municipal, transport and health estates each run their own recorders and vendor software. The footage exists. Reaching it is a phone call, a journey and a USB stick.</a:t>
            </a:r>
            <a:endParaRPr lang="en-US" sz="1450" dirty="0"/>
          </a:p>
        </p:txBody>
      </p:sp>
      <p:sp>
        <p:nvSpPr>
          <p:cNvPr id="5" name="Shape 3"/>
          <p:cNvSpPr/>
          <p:nvPr/>
        </p:nvSpPr>
        <p:spPr>
          <a:xfrm>
            <a:off x="640080" y="2542032"/>
            <a:ext cx="3456432" cy="2743200"/>
          </a:xfrm>
          <a:prstGeom prst="roundRect">
            <a:avLst>
              <a:gd name="adj" fmla="val 1667"/>
            </a:avLst>
          </a:prstGeom>
          <a:solidFill>
            <a:srgbClr val="F2F5F9"/>
          </a:solidFill>
          <a:ln w="12700">
            <a:solidFill>
              <a:srgbClr val="F2F5F9"/>
            </a:solidFill>
            <a:prstDash val="solid"/>
          </a:ln>
        </p:spPr>
      </p:sp>
      <p:sp>
        <p:nvSpPr>
          <p:cNvPr id="6" name="Shape 4"/>
          <p:cNvSpPr/>
          <p:nvPr/>
        </p:nvSpPr>
        <p:spPr>
          <a:xfrm>
            <a:off x="914400" y="2816352"/>
            <a:ext cx="365760" cy="365760"/>
          </a:xfrm>
          <a:prstGeom prst="ellipse">
            <a:avLst/>
          </a:prstGeom>
          <a:solidFill>
            <a:srgbClr val="C2551F"/>
          </a:solidFill>
          <a:ln w="12700">
            <a:solidFill>
              <a:srgbClr val="C2551F"/>
            </a:solidFill>
            <a:prstDash val="solid"/>
          </a:ln>
        </p:spPr>
      </p:sp>
      <p:sp>
        <p:nvSpPr>
          <p:cNvPr id="7" name="Text 5"/>
          <p:cNvSpPr txBox="1"/>
          <p:nvPr/>
        </p:nvSpPr>
        <p:spPr>
          <a:xfrm>
            <a:off x="914400" y="281635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txBox="1"/>
          <p:nvPr/>
        </p:nvSpPr>
        <p:spPr>
          <a:xfrm>
            <a:off x="914400" y="3346704"/>
            <a:ext cx="2907792" cy="475488"/>
          </a:xfrm>
          <a:prstGeom prst="rect">
            <a:avLst/>
          </a:prstGeom>
          <a:noFill/>
          <a:ln/>
        </p:spPr>
        <p:txBody>
          <a:bodyPr wrap="square" lIns="0" tIns="0" rIns="0" bIns="0" rtlCol="0" anchor="ctr"/>
          <a:lstStyle/>
          <a:p>
            <a:pPr indent="0" marL="0">
              <a:buNone/>
            </a:pPr>
            <a:r>
              <a:rPr lang="en-US" sz="1600" b="1" dirty="0">
                <a:solidFill>
                  <a:srgbClr val="16243A"/>
                </a:solidFill>
                <a:latin typeface="Cambria" pitchFamily="34" charset="0"/>
                <a:ea typeface="Cambria" pitchFamily="34" charset="-122"/>
                <a:cs typeface="Cambria" pitchFamily="34" charset="-120"/>
              </a:rPr>
              <a:t>Islands of evidence</a:t>
            </a:r>
            <a:endParaRPr lang="en-US" sz="1600" dirty="0"/>
          </a:p>
        </p:txBody>
      </p:sp>
      <p:sp>
        <p:nvSpPr>
          <p:cNvPr id="9" name="Text 7"/>
          <p:cNvSpPr txBox="1"/>
          <p:nvPr/>
        </p:nvSpPr>
        <p:spPr>
          <a:xfrm>
            <a:off x="914400" y="3858768"/>
            <a:ext cx="2907792" cy="1161288"/>
          </a:xfrm>
          <a:prstGeom prst="rect">
            <a:avLst/>
          </a:prstGeom>
          <a:noFill/>
          <a:ln/>
        </p:spPr>
        <p:txBody>
          <a:bodyPr wrap="square" lIns="0" tIns="0" rIns="0" bIns="0" rtlCol="0" anchor="ctr"/>
          <a:lstStyle/>
          <a:p>
            <a:pPr indent="0" marL="0">
              <a:lnSpc>
                <a:spcPts val="1700"/>
              </a:lnSpc>
              <a:buNone/>
            </a:pPr>
            <a:r>
              <a:rPr lang="en-US" sz="1200" dirty="0">
                <a:solidFill>
                  <a:srgbClr val="3C4A5C"/>
                </a:solidFill>
                <a:latin typeface="Calibri" pitchFamily="34" charset="0"/>
                <a:ea typeface="Calibri" pitchFamily="34" charset="-122"/>
                <a:cs typeface="Calibri" pitchFamily="34" charset="-120"/>
              </a:rPr>
              <a:t>Each estate is a separate system with its own login, format and retention period. No single query crosses them, so no one holds a statewide view.</a:t>
            </a:r>
            <a:endParaRPr lang="en-US" sz="1200" dirty="0"/>
          </a:p>
        </p:txBody>
      </p:sp>
      <p:sp>
        <p:nvSpPr>
          <p:cNvPr id="10" name="Shape 8"/>
          <p:cNvSpPr/>
          <p:nvPr/>
        </p:nvSpPr>
        <p:spPr>
          <a:xfrm>
            <a:off x="4352544" y="2542032"/>
            <a:ext cx="3456432" cy="2743200"/>
          </a:xfrm>
          <a:prstGeom prst="roundRect">
            <a:avLst>
              <a:gd name="adj" fmla="val 1667"/>
            </a:avLst>
          </a:prstGeom>
          <a:solidFill>
            <a:srgbClr val="F2F5F9"/>
          </a:solidFill>
          <a:ln w="12700">
            <a:solidFill>
              <a:srgbClr val="F2F5F9"/>
            </a:solidFill>
            <a:prstDash val="solid"/>
          </a:ln>
        </p:spPr>
      </p:sp>
      <p:sp>
        <p:nvSpPr>
          <p:cNvPr id="11" name="Shape 9"/>
          <p:cNvSpPr/>
          <p:nvPr/>
        </p:nvSpPr>
        <p:spPr>
          <a:xfrm>
            <a:off x="4626864" y="2816352"/>
            <a:ext cx="365760" cy="365760"/>
          </a:xfrm>
          <a:prstGeom prst="ellipse">
            <a:avLst/>
          </a:prstGeom>
          <a:solidFill>
            <a:srgbClr val="C2551F"/>
          </a:solidFill>
          <a:ln w="12700">
            <a:solidFill>
              <a:srgbClr val="C2551F"/>
            </a:solidFill>
            <a:prstDash val="solid"/>
          </a:ln>
        </p:spPr>
      </p:sp>
      <p:sp>
        <p:nvSpPr>
          <p:cNvPr id="12" name="Text 10"/>
          <p:cNvSpPr txBox="1"/>
          <p:nvPr/>
        </p:nvSpPr>
        <p:spPr>
          <a:xfrm>
            <a:off x="4626864" y="281635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txBox="1"/>
          <p:nvPr/>
        </p:nvSpPr>
        <p:spPr>
          <a:xfrm>
            <a:off x="4626864" y="3346704"/>
            <a:ext cx="2907792" cy="475488"/>
          </a:xfrm>
          <a:prstGeom prst="rect">
            <a:avLst/>
          </a:prstGeom>
          <a:noFill/>
          <a:ln/>
        </p:spPr>
        <p:txBody>
          <a:bodyPr wrap="square" lIns="0" tIns="0" rIns="0" bIns="0" rtlCol="0" anchor="ctr"/>
          <a:lstStyle/>
          <a:p>
            <a:pPr indent="0" marL="0">
              <a:buNone/>
            </a:pPr>
            <a:r>
              <a:rPr lang="en-US" sz="1600" b="1" dirty="0">
                <a:solidFill>
                  <a:srgbClr val="16243A"/>
                </a:solidFill>
                <a:latin typeface="Cambria" pitchFamily="34" charset="0"/>
                <a:ea typeface="Cambria" pitchFamily="34" charset="-122"/>
                <a:cs typeface="Cambria" pitchFamily="34" charset="-120"/>
              </a:rPr>
              <a:t>Investigation by legwork</a:t>
            </a:r>
            <a:endParaRPr lang="en-US" sz="1600" dirty="0"/>
          </a:p>
        </p:txBody>
      </p:sp>
      <p:sp>
        <p:nvSpPr>
          <p:cNvPr id="14" name="Text 12"/>
          <p:cNvSpPr txBox="1"/>
          <p:nvPr/>
        </p:nvSpPr>
        <p:spPr>
          <a:xfrm>
            <a:off x="4626864" y="3858768"/>
            <a:ext cx="2907792" cy="1161288"/>
          </a:xfrm>
          <a:prstGeom prst="rect">
            <a:avLst/>
          </a:prstGeom>
          <a:noFill/>
          <a:ln/>
        </p:spPr>
        <p:txBody>
          <a:bodyPr wrap="square" lIns="0" tIns="0" rIns="0" bIns="0" rtlCol="0" anchor="ctr"/>
          <a:lstStyle/>
          <a:p>
            <a:pPr indent="0" marL="0">
              <a:lnSpc>
                <a:spcPts val="1700"/>
              </a:lnSpc>
              <a:buNone/>
            </a:pPr>
            <a:r>
              <a:rPr lang="en-US" sz="1200" dirty="0">
                <a:solidFill>
                  <a:srgbClr val="3C4A5C"/>
                </a:solidFill>
                <a:latin typeface="Calibri" pitchFamily="34" charset="0"/>
                <a:ea typeface="Calibri" pitchFamily="34" charset="-122"/>
                <a:cs typeface="Calibri" pitchFamily="34" charset="-120"/>
              </a:rPr>
              <a:t>Tracing one vehicle means contacting each department in turn, in office hours, and hoping the clip has not already been overwritten.</a:t>
            </a:r>
            <a:endParaRPr lang="en-US" sz="1200" dirty="0"/>
          </a:p>
        </p:txBody>
      </p:sp>
      <p:sp>
        <p:nvSpPr>
          <p:cNvPr id="15" name="Shape 13"/>
          <p:cNvSpPr/>
          <p:nvPr/>
        </p:nvSpPr>
        <p:spPr>
          <a:xfrm>
            <a:off x="8065008" y="2542032"/>
            <a:ext cx="3456432" cy="2743200"/>
          </a:xfrm>
          <a:prstGeom prst="roundRect">
            <a:avLst>
              <a:gd name="adj" fmla="val 1667"/>
            </a:avLst>
          </a:prstGeom>
          <a:solidFill>
            <a:srgbClr val="F2F5F9"/>
          </a:solidFill>
          <a:ln w="12700">
            <a:solidFill>
              <a:srgbClr val="F2F5F9"/>
            </a:solidFill>
            <a:prstDash val="solid"/>
          </a:ln>
        </p:spPr>
      </p:sp>
      <p:sp>
        <p:nvSpPr>
          <p:cNvPr id="16" name="Shape 14"/>
          <p:cNvSpPr/>
          <p:nvPr/>
        </p:nvSpPr>
        <p:spPr>
          <a:xfrm>
            <a:off x="8339328" y="2816352"/>
            <a:ext cx="365760" cy="365760"/>
          </a:xfrm>
          <a:prstGeom prst="ellipse">
            <a:avLst/>
          </a:prstGeom>
          <a:solidFill>
            <a:srgbClr val="C2551F"/>
          </a:solidFill>
          <a:ln w="12700">
            <a:solidFill>
              <a:srgbClr val="C2551F"/>
            </a:solidFill>
            <a:prstDash val="solid"/>
          </a:ln>
        </p:spPr>
      </p:sp>
      <p:sp>
        <p:nvSpPr>
          <p:cNvPr id="17" name="Text 15"/>
          <p:cNvSpPr txBox="1"/>
          <p:nvPr/>
        </p:nvSpPr>
        <p:spPr>
          <a:xfrm>
            <a:off x="8339328" y="281635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txBox="1"/>
          <p:nvPr/>
        </p:nvSpPr>
        <p:spPr>
          <a:xfrm>
            <a:off x="8339328" y="3346704"/>
            <a:ext cx="2907792" cy="475488"/>
          </a:xfrm>
          <a:prstGeom prst="rect">
            <a:avLst/>
          </a:prstGeom>
          <a:noFill/>
          <a:ln/>
        </p:spPr>
        <p:txBody>
          <a:bodyPr wrap="square" lIns="0" tIns="0" rIns="0" bIns="0" rtlCol="0" anchor="ctr"/>
          <a:lstStyle/>
          <a:p>
            <a:pPr indent="0" marL="0">
              <a:buNone/>
            </a:pPr>
            <a:r>
              <a:rPr lang="en-US" sz="1600" b="1" dirty="0">
                <a:solidFill>
                  <a:srgbClr val="16243A"/>
                </a:solidFill>
                <a:latin typeface="Cambria" pitchFamily="34" charset="0"/>
                <a:ea typeface="Cambria" pitchFamily="34" charset="-122"/>
                <a:cs typeface="Cambria" pitchFamily="34" charset="-120"/>
              </a:rPr>
              <a:t>Replacement is not an option</a:t>
            </a:r>
            <a:endParaRPr lang="en-US" sz="1600" dirty="0"/>
          </a:p>
        </p:txBody>
      </p:sp>
      <p:sp>
        <p:nvSpPr>
          <p:cNvPr id="19" name="Text 17"/>
          <p:cNvSpPr txBox="1"/>
          <p:nvPr/>
        </p:nvSpPr>
        <p:spPr>
          <a:xfrm>
            <a:off x="8339328" y="3858768"/>
            <a:ext cx="2907792" cy="1161288"/>
          </a:xfrm>
          <a:prstGeom prst="rect">
            <a:avLst/>
          </a:prstGeom>
          <a:noFill/>
          <a:ln/>
        </p:spPr>
        <p:txBody>
          <a:bodyPr wrap="square" lIns="0" tIns="0" rIns="0" bIns="0" rtlCol="0" anchor="ctr"/>
          <a:lstStyle/>
          <a:p>
            <a:pPr indent="0" marL="0">
              <a:lnSpc>
                <a:spcPts val="1700"/>
              </a:lnSpc>
              <a:buNone/>
            </a:pPr>
            <a:r>
              <a:rPr lang="en-US" sz="1200" dirty="0">
                <a:solidFill>
                  <a:srgbClr val="3C4A5C"/>
                </a:solidFill>
                <a:latin typeface="Calibri" pitchFamily="34" charset="0"/>
                <a:ea typeface="Calibri" pitchFamily="34" charset="-122"/>
                <a:cs typeface="Calibri" pitchFamily="34" charset="-120"/>
              </a:rPr>
              <a:t>Departments will not surrender control of their cameras, their storage or their budgets. Any workable answer has to leave all three where they are.</a:t>
            </a:r>
            <a:endParaRPr lang="en-US" sz="1200" dirty="0"/>
          </a:p>
        </p:txBody>
      </p:sp>
      <p:sp>
        <p:nvSpPr>
          <p:cNvPr id="20" name="Text 18"/>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THE COST</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What tracing one vehicle costs today</a:t>
            </a:r>
            <a:endParaRPr lang="en-US" sz="3400" dirty="0"/>
          </a:p>
        </p:txBody>
      </p:sp>
      <p:sp>
        <p:nvSpPr>
          <p:cNvPr id="4" name="Shape 2"/>
          <p:cNvSpPr/>
          <p:nvPr/>
        </p:nvSpPr>
        <p:spPr>
          <a:xfrm>
            <a:off x="640080" y="2286000"/>
            <a:ext cx="5303520" cy="3291840"/>
          </a:xfrm>
          <a:prstGeom prst="roundRect">
            <a:avLst>
              <a:gd name="adj" fmla="val 1389"/>
            </a:avLst>
          </a:prstGeom>
          <a:solidFill>
            <a:srgbClr val="F2F5F9"/>
          </a:solidFill>
          <a:ln w="12700">
            <a:solidFill>
              <a:srgbClr val="F2F5F9"/>
            </a:solidFill>
            <a:prstDash val="solid"/>
          </a:ln>
        </p:spPr>
      </p:sp>
      <p:sp>
        <p:nvSpPr>
          <p:cNvPr id="5" name="Text 3"/>
          <p:cNvSpPr txBox="1"/>
          <p:nvPr/>
        </p:nvSpPr>
        <p:spPr>
          <a:xfrm>
            <a:off x="960120" y="2542032"/>
            <a:ext cx="4663440" cy="365760"/>
          </a:xfrm>
          <a:prstGeom prst="rect">
            <a:avLst/>
          </a:prstGeom>
          <a:noFill/>
          <a:ln/>
        </p:spPr>
        <p:txBody>
          <a:bodyPr wrap="square" lIns="0" tIns="0" rIns="0" bIns="0" rtlCol="0" anchor="ctr"/>
          <a:lstStyle/>
          <a:p>
            <a:pPr indent="0" marL="0">
              <a:buNone/>
            </a:pPr>
            <a:r>
              <a:rPr lang="en-US" sz="1200" b="1" spc="140" kern="0" dirty="0">
                <a:solidFill>
                  <a:srgbClr val="6B7B8F"/>
                </a:solidFill>
                <a:latin typeface="Calibri" pitchFamily="34" charset="0"/>
                <a:ea typeface="Calibri" pitchFamily="34" charset="-122"/>
                <a:cs typeface="Calibri" pitchFamily="34" charset="-120"/>
              </a:rPr>
              <a:t>Current process</a:t>
            </a:r>
            <a:endParaRPr lang="en-US" sz="1200" dirty="0"/>
          </a:p>
        </p:txBody>
      </p:sp>
      <p:sp>
        <p:nvSpPr>
          <p:cNvPr id="6" name="Text 4"/>
          <p:cNvSpPr txBox="1"/>
          <p:nvPr/>
        </p:nvSpPr>
        <p:spPr>
          <a:xfrm>
            <a:off x="960120" y="2999232"/>
            <a:ext cx="4663440" cy="228600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3C4A5C"/>
                </a:solidFill>
                <a:latin typeface="Calibri" pitchFamily="34" charset="0"/>
                <a:ea typeface="Calibri" pitchFamily="34" charset="-122"/>
                <a:cs typeface="Calibri" pitchFamily="34" charset="-120"/>
              </a:rPr>
              <a:t>Identify which departments may hold relevant cameras</a:t>
            </a:r>
            <a:endParaRPr lang="en-US" sz="1250" dirty="0"/>
          </a:p>
          <a:p>
            <a:pPr marL="342900" indent="-342900">
              <a:spcAft>
                <a:spcPts val="800"/>
              </a:spcAft>
              <a:buSzPct val="100000"/>
              <a:buChar char="•"/>
            </a:pPr>
            <a:r>
              <a:rPr lang="en-US" sz="1250" dirty="0">
                <a:solidFill>
                  <a:srgbClr val="3C4A5C"/>
                </a:solidFill>
                <a:latin typeface="Calibri" pitchFamily="34" charset="0"/>
                <a:ea typeface="Calibri" pitchFamily="34" charset="-122"/>
                <a:cs typeface="Calibri" pitchFamily="34" charset="-120"/>
              </a:rPr>
              <a:t>Contact each one separately, in working hours</a:t>
            </a:r>
            <a:endParaRPr lang="en-US" sz="1250" dirty="0"/>
          </a:p>
          <a:p>
            <a:pPr marL="342900" indent="-342900">
              <a:spcAft>
                <a:spcPts val="800"/>
              </a:spcAft>
              <a:buSzPct val="100000"/>
              <a:buChar char="•"/>
            </a:pPr>
            <a:r>
              <a:rPr lang="en-US" sz="1250" dirty="0">
                <a:solidFill>
                  <a:srgbClr val="3C4A5C"/>
                </a:solidFill>
                <a:latin typeface="Calibri" pitchFamily="34" charset="0"/>
                <a:ea typeface="Calibri" pitchFamily="34" charset="-122"/>
                <a:cs typeface="Calibri" pitchFamily="34" charset="-120"/>
              </a:rPr>
              <a:t>Travel to the site or await a manual export</a:t>
            </a:r>
            <a:endParaRPr lang="en-US" sz="1250" dirty="0"/>
          </a:p>
          <a:p>
            <a:pPr marL="342900" indent="-342900">
              <a:spcAft>
                <a:spcPts val="800"/>
              </a:spcAft>
              <a:buSzPct val="100000"/>
              <a:buChar char="•"/>
            </a:pPr>
            <a:r>
              <a:rPr lang="en-US" sz="1250" dirty="0">
                <a:solidFill>
                  <a:srgbClr val="3C4A5C"/>
                </a:solidFill>
                <a:latin typeface="Calibri" pitchFamily="34" charset="0"/>
                <a:ea typeface="Calibri" pitchFamily="34" charset="-122"/>
                <a:cs typeface="Calibri" pitchFamily="34" charset="-120"/>
              </a:rPr>
              <a:t>Review footage by eye, camera by camera</a:t>
            </a:r>
            <a:endParaRPr lang="en-US" sz="1250" dirty="0"/>
          </a:p>
          <a:p>
            <a:pPr marL="342900" indent="-342900">
              <a:spcAft>
                <a:spcPts val="800"/>
              </a:spcAft>
              <a:buSzPct val="100000"/>
              <a:buChar char="•"/>
            </a:pPr>
            <a:r>
              <a:rPr lang="en-US" sz="1250" dirty="0">
                <a:solidFill>
                  <a:srgbClr val="3C4A5C"/>
                </a:solidFill>
                <a:latin typeface="Calibri" pitchFamily="34" charset="0"/>
                <a:ea typeface="Calibri" pitchFamily="34" charset="-122"/>
                <a:cs typeface="Calibri" pitchFamily="34" charset="-120"/>
              </a:rPr>
              <a:t>Reconcile timestamps between unsynchronised systems</a:t>
            </a:r>
            <a:endParaRPr lang="en-US" sz="1250" dirty="0"/>
          </a:p>
          <a:p>
            <a:pPr marL="342900" indent="-342900">
              <a:spcAft>
                <a:spcPts val="800"/>
              </a:spcAft>
              <a:buSzPct val="100000"/>
              <a:buChar char="•"/>
            </a:pPr>
            <a:r>
              <a:rPr lang="en-US" sz="1250" dirty="0">
                <a:solidFill>
                  <a:srgbClr val="3C4A5C"/>
                </a:solidFill>
                <a:latin typeface="Calibri" pitchFamily="34" charset="0"/>
                <a:ea typeface="Calibri" pitchFamily="34" charset="-122"/>
                <a:cs typeface="Calibri" pitchFamily="34" charset="-120"/>
              </a:rPr>
              <a:t>Hope nothing has aged out of retention</a:t>
            </a:r>
            <a:endParaRPr lang="en-US" sz="1250" dirty="0"/>
          </a:p>
        </p:txBody>
      </p:sp>
      <p:sp>
        <p:nvSpPr>
          <p:cNvPr id="7" name="Shape 5"/>
          <p:cNvSpPr/>
          <p:nvPr/>
        </p:nvSpPr>
        <p:spPr>
          <a:xfrm>
            <a:off x="6217920" y="2286000"/>
            <a:ext cx="5303520" cy="3291840"/>
          </a:xfrm>
          <a:prstGeom prst="roundRect">
            <a:avLst>
              <a:gd name="adj" fmla="val 1389"/>
            </a:avLst>
          </a:prstGeom>
          <a:solidFill>
            <a:srgbClr val="FBF4EE"/>
          </a:solidFill>
          <a:ln w="12700">
            <a:solidFill>
              <a:srgbClr val="FBF4EE"/>
            </a:solidFill>
            <a:prstDash val="solid"/>
          </a:ln>
        </p:spPr>
      </p:sp>
      <p:sp>
        <p:nvSpPr>
          <p:cNvPr id="8" name="Text 6"/>
          <p:cNvSpPr txBox="1"/>
          <p:nvPr/>
        </p:nvSpPr>
        <p:spPr>
          <a:xfrm>
            <a:off x="6537960" y="2542032"/>
            <a:ext cx="4663440" cy="365760"/>
          </a:xfrm>
          <a:prstGeom prst="rect">
            <a:avLst/>
          </a:prstGeom>
          <a:noFill/>
          <a:ln/>
        </p:spPr>
        <p:txBody>
          <a:bodyPr wrap="square" lIns="0" tIns="0" rIns="0" bIns="0" rtlCol="0" anchor="ctr"/>
          <a:lstStyle/>
          <a:p>
            <a:pPr indent="0" marL="0">
              <a:buNone/>
            </a:pPr>
            <a:r>
              <a:rPr lang="en-US" sz="1200" b="1" spc="140" kern="0" dirty="0">
                <a:solidFill>
                  <a:srgbClr val="C2551F"/>
                </a:solidFill>
                <a:latin typeface="Calibri" pitchFamily="34" charset="0"/>
                <a:ea typeface="Calibri" pitchFamily="34" charset="-122"/>
                <a:cs typeface="Calibri" pitchFamily="34" charset="-120"/>
              </a:rPr>
              <a:t>With SENTINEL</a:t>
            </a:r>
            <a:endParaRPr lang="en-US" sz="1200" dirty="0"/>
          </a:p>
        </p:txBody>
      </p:sp>
      <p:sp>
        <p:nvSpPr>
          <p:cNvPr id="9" name="Text 7"/>
          <p:cNvSpPr txBox="1"/>
          <p:nvPr/>
        </p:nvSpPr>
        <p:spPr>
          <a:xfrm>
            <a:off x="6537960" y="3017520"/>
            <a:ext cx="4663440" cy="457200"/>
          </a:xfrm>
          <a:prstGeom prst="rect">
            <a:avLst/>
          </a:prstGeom>
          <a:noFill/>
          <a:ln/>
        </p:spPr>
        <p:txBody>
          <a:bodyPr wrap="square" lIns="0" tIns="0" rIns="0" bIns="0" rtlCol="0" anchor="ctr"/>
          <a:lstStyle/>
          <a:p>
            <a:pPr indent="0" marL="0">
              <a:buNone/>
            </a:pPr>
            <a:r>
              <a:rPr lang="en-US" sz="2100" b="1" dirty="0">
                <a:solidFill>
                  <a:srgbClr val="16243A"/>
                </a:solidFill>
                <a:latin typeface="Cambria" pitchFamily="34" charset="0"/>
                <a:ea typeface="Cambria" pitchFamily="34" charset="-122"/>
                <a:cs typeface="Cambria" pitchFamily="34" charset="-120"/>
              </a:rPr>
              <a:t>Enter the registration number.</a:t>
            </a:r>
            <a:endParaRPr lang="en-US" sz="2100" dirty="0"/>
          </a:p>
        </p:txBody>
      </p:sp>
      <p:sp>
        <p:nvSpPr>
          <p:cNvPr id="10" name="Text 8"/>
          <p:cNvSpPr txBox="1"/>
          <p:nvPr/>
        </p:nvSpPr>
        <p:spPr>
          <a:xfrm>
            <a:off x="6537960" y="3611880"/>
            <a:ext cx="4663440" cy="1371600"/>
          </a:xfrm>
          <a:prstGeom prst="rect">
            <a:avLst/>
          </a:prstGeom>
          <a:noFill/>
          <a:ln/>
        </p:spPr>
        <p:txBody>
          <a:bodyPr wrap="square" lIns="0" tIns="0" rIns="0" bIns="0" rtlCol="0" anchor="ctr"/>
          <a:lstStyle/>
          <a:p>
            <a:pPr indent="0" marL="0">
              <a:lnSpc>
                <a:spcPts val="2000"/>
              </a:lnSpc>
              <a:buNone/>
            </a:pPr>
            <a:r>
              <a:rPr lang="en-US" sz="1300" dirty="0">
                <a:solidFill>
                  <a:srgbClr val="3C4A5C"/>
                </a:solidFill>
                <a:latin typeface="Calibri" pitchFamily="34" charset="0"/>
                <a:ea typeface="Calibri" pitchFamily="34" charset="-122"/>
                <a:cs typeface="Calibri" pitchFamily="34" charset="-120"/>
              </a:rPr>
              <a:t>One query returns the timestamped sighting chain, the route drawn on the map, the registered owner, the watchlist status and a court-format export. Across every federated department, in seconds.</a:t>
            </a:r>
            <a:endParaRPr lang="en-US" sz="1300" dirty="0"/>
          </a:p>
        </p:txBody>
      </p:sp>
      <p:sp>
        <p:nvSpPr>
          <p:cNvPr id="11" name="Text 9"/>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4EE"/>
        </a:solidFill>
      </p:bgPr>
    </p:bg>
    <p:spTree>
      <p:nvGrpSpPr>
        <p:cNvPr id="1" name=""/>
        <p:cNvGrpSpPr/>
        <p:nvPr/>
      </p:nvGrpSpPr>
      <p:grpSpPr>
        <a:xfrm>
          <a:off x="0" y="0"/>
          <a:ext cx="0" cy="0"/>
          <a:chOff x="0" y="0"/>
          <a:chExt cx="0" cy="0"/>
        </a:xfrm>
      </p:grpSpPr>
      <p:sp>
        <p:nvSpPr>
          <p:cNvPr id="2" name="Text 0"/>
          <p:cNvSpPr txBox="1"/>
          <p:nvPr/>
        </p:nvSpPr>
        <p:spPr>
          <a:xfrm>
            <a:off x="822960" y="2286000"/>
            <a:ext cx="1828800" cy="1463040"/>
          </a:xfrm>
          <a:prstGeom prst="rect">
            <a:avLst/>
          </a:prstGeom>
          <a:noFill/>
          <a:ln/>
        </p:spPr>
        <p:txBody>
          <a:bodyPr wrap="square" lIns="0" tIns="0" rIns="0" bIns="0" rtlCol="0" anchor="ctr"/>
          <a:lstStyle/>
          <a:p>
            <a:pPr indent="0" marL="0">
              <a:buNone/>
            </a:pPr>
            <a:r>
              <a:rPr lang="en-US" sz="9600" b="1" dirty="0">
                <a:solidFill>
                  <a:srgbClr val="C2551F"/>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2743200" y="2487168"/>
            <a:ext cx="8503920" cy="777240"/>
          </a:xfrm>
          <a:prstGeom prst="rect">
            <a:avLst/>
          </a:prstGeom>
          <a:noFill/>
          <a:ln/>
        </p:spPr>
        <p:txBody>
          <a:bodyPr wrap="square" lIns="0" tIns="0" rIns="0" bIns="0" rtlCol="0" anchor="ctr"/>
          <a:lstStyle/>
          <a:p>
            <a:pPr indent="0" marL="0">
              <a:buNone/>
            </a:pPr>
            <a:r>
              <a:rPr lang="en-US" sz="4000" b="1" dirty="0">
                <a:solidFill>
                  <a:srgbClr val="16243A"/>
                </a:solidFill>
                <a:latin typeface="Cambria" pitchFamily="34" charset="0"/>
                <a:ea typeface="Cambria" pitchFamily="34" charset="-122"/>
                <a:cs typeface="Cambria" pitchFamily="34" charset="-120"/>
              </a:rPr>
              <a:t>The approach</a:t>
            </a:r>
            <a:endParaRPr lang="en-US" sz="4000" dirty="0"/>
          </a:p>
        </p:txBody>
      </p:sp>
      <p:sp>
        <p:nvSpPr>
          <p:cNvPr id="4" name="Text 2"/>
          <p:cNvSpPr txBox="1"/>
          <p:nvPr/>
        </p:nvSpPr>
        <p:spPr>
          <a:xfrm>
            <a:off x="2788920" y="3346704"/>
            <a:ext cx="7863840" cy="731520"/>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One decision determines the entire architecture.</a:t>
            </a:r>
            <a:endParaRPr lang="en-US" sz="1450" dirty="0"/>
          </a:p>
        </p:txBody>
      </p:sp>
      <p:sp>
        <p:nvSpPr>
          <p:cNvPr id="5" name="Text 3"/>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THE DESIGN DECISION EVERYTHING FOLLOWS FROM</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Move metadata, not video.</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Analysis runs at the edge, beside the cameras. Only compact structured records travel to the centre. Video moves when, and only when, there is a hit worth reviewing.</a:t>
            </a:r>
            <a:endParaRPr lang="en-US" sz="1450" dirty="0"/>
          </a:p>
        </p:txBody>
      </p:sp>
      <p:sp>
        <p:nvSpPr>
          <p:cNvPr id="5" name="Shape 3"/>
          <p:cNvSpPr/>
          <p:nvPr/>
        </p:nvSpPr>
        <p:spPr>
          <a:xfrm>
            <a:off x="640080" y="2606040"/>
            <a:ext cx="5303520" cy="2651760"/>
          </a:xfrm>
          <a:prstGeom prst="roundRect">
            <a:avLst>
              <a:gd name="adj" fmla="val 1724"/>
            </a:avLst>
          </a:prstGeom>
          <a:solidFill>
            <a:srgbClr val="F2F5F9"/>
          </a:solidFill>
          <a:ln w="12700">
            <a:solidFill>
              <a:srgbClr val="F2F5F9"/>
            </a:solidFill>
            <a:prstDash val="solid"/>
          </a:ln>
        </p:spPr>
      </p:sp>
      <p:sp>
        <p:nvSpPr>
          <p:cNvPr id="6" name="Text 4"/>
          <p:cNvSpPr txBox="1"/>
          <p:nvPr/>
        </p:nvSpPr>
        <p:spPr>
          <a:xfrm>
            <a:off x="960120" y="2852928"/>
            <a:ext cx="4663440" cy="365760"/>
          </a:xfrm>
          <a:prstGeom prst="rect">
            <a:avLst/>
          </a:prstGeom>
          <a:noFill/>
          <a:ln/>
        </p:spPr>
        <p:txBody>
          <a:bodyPr wrap="square" lIns="0" tIns="0" rIns="0" bIns="0" rtlCol="0" anchor="ctr"/>
          <a:lstStyle/>
          <a:p>
            <a:pPr indent="0" marL="0">
              <a:buNone/>
            </a:pPr>
            <a:r>
              <a:rPr lang="en-US" sz="1200" b="1" spc="120" kern="0" dirty="0">
                <a:solidFill>
                  <a:srgbClr val="6B7B8F"/>
                </a:solidFill>
                <a:latin typeface="Calibri" pitchFamily="34" charset="0"/>
                <a:ea typeface="Calibri" pitchFamily="34" charset="-122"/>
                <a:cs typeface="Calibri" pitchFamily="34" charset="-120"/>
              </a:rPr>
              <a:t>If the streams were centralised</a:t>
            </a:r>
            <a:endParaRPr lang="en-US" sz="1200" dirty="0"/>
          </a:p>
        </p:txBody>
      </p:sp>
      <p:sp>
        <p:nvSpPr>
          <p:cNvPr id="7" name="Text 5"/>
          <p:cNvSpPr txBox="1"/>
          <p:nvPr/>
        </p:nvSpPr>
        <p:spPr>
          <a:xfrm>
            <a:off x="960120" y="3291840"/>
            <a:ext cx="2194560" cy="676656"/>
          </a:xfrm>
          <a:prstGeom prst="rect">
            <a:avLst/>
          </a:prstGeom>
          <a:noFill/>
          <a:ln/>
        </p:spPr>
        <p:txBody>
          <a:bodyPr wrap="square" lIns="0" tIns="0" rIns="0" bIns="0" rtlCol="0" anchor="ctr"/>
          <a:lstStyle/>
          <a:p>
            <a:pPr indent="0" marL="0">
              <a:buNone/>
            </a:pPr>
            <a:r>
              <a:rPr lang="en-US" sz="4200" b="1" dirty="0">
                <a:solidFill>
                  <a:srgbClr val="A33B2A"/>
                </a:solidFill>
                <a:latin typeface="Cambria" pitchFamily="34" charset="0"/>
                <a:ea typeface="Cambria" pitchFamily="34" charset="-122"/>
                <a:cs typeface="Cambria" pitchFamily="34" charset="-120"/>
              </a:rPr>
              <a:t>160</a:t>
            </a:r>
            <a:endParaRPr lang="en-US" sz="4200" dirty="0"/>
          </a:p>
        </p:txBody>
      </p:sp>
      <p:sp>
        <p:nvSpPr>
          <p:cNvPr id="8" name="Text 6"/>
          <p:cNvSpPr txBox="1"/>
          <p:nvPr/>
        </p:nvSpPr>
        <p:spPr>
          <a:xfrm>
            <a:off x="960120" y="3968496"/>
            <a:ext cx="2194560" cy="420624"/>
          </a:xfrm>
          <a:prstGeom prst="rect">
            <a:avLst/>
          </a:prstGeom>
          <a:noFill/>
          <a:ln/>
        </p:spPr>
        <p:txBody>
          <a:bodyPr wrap="square" lIns="0" tIns="0" rIns="0" bIns="0" rtlCol="0" anchor="ctr"/>
          <a:lstStyle/>
          <a:p>
            <a:pPr indent="0" marL="0">
              <a:buNone/>
            </a:pPr>
            <a:r>
              <a:rPr lang="en-US" sz="1050" spc="80" kern="0" dirty="0">
                <a:solidFill>
                  <a:srgbClr val="6B7B8F"/>
                </a:solidFill>
                <a:latin typeface="Calibri" pitchFamily="34" charset="0"/>
                <a:ea typeface="Calibri" pitchFamily="34" charset="-122"/>
                <a:cs typeface="Calibri" pitchFamily="34" charset="-120"/>
              </a:rPr>
              <a:t>Gbps sustained backhaul</a:t>
            </a:r>
            <a:endParaRPr lang="en-US" sz="1050" dirty="0"/>
          </a:p>
        </p:txBody>
      </p:sp>
      <p:sp>
        <p:nvSpPr>
          <p:cNvPr id="9" name="Text 7"/>
          <p:cNvSpPr txBox="1"/>
          <p:nvPr/>
        </p:nvSpPr>
        <p:spPr>
          <a:xfrm>
            <a:off x="3383280" y="3291840"/>
            <a:ext cx="2286000" cy="676656"/>
          </a:xfrm>
          <a:prstGeom prst="rect">
            <a:avLst/>
          </a:prstGeom>
          <a:noFill/>
          <a:ln/>
        </p:spPr>
        <p:txBody>
          <a:bodyPr wrap="square" lIns="0" tIns="0" rIns="0" bIns="0" rtlCol="0" anchor="ctr"/>
          <a:lstStyle/>
          <a:p>
            <a:pPr indent="0" marL="0">
              <a:buNone/>
            </a:pPr>
            <a:r>
              <a:rPr lang="en-US" sz="3600" b="1" dirty="0">
                <a:solidFill>
                  <a:srgbClr val="A33B2A"/>
                </a:solidFill>
                <a:latin typeface="Cambria" pitchFamily="34" charset="0"/>
                <a:ea typeface="Cambria" pitchFamily="34" charset="-122"/>
                <a:cs typeface="Cambria" pitchFamily="34" charset="-120"/>
              </a:rPr>
              <a:t>52 PB</a:t>
            </a:r>
            <a:endParaRPr lang="en-US" sz="3600" dirty="0"/>
          </a:p>
        </p:txBody>
      </p:sp>
      <p:sp>
        <p:nvSpPr>
          <p:cNvPr id="10" name="Text 8"/>
          <p:cNvSpPr txBox="1"/>
          <p:nvPr/>
        </p:nvSpPr>
        <p:spPr>
          <a:xfrm>
            <a:off x="3383280" y="3968496"/>
            <a:ext cx="2286000" cy="420624"/>
          </a:xfrm>
          <a:prstGeom prst="rect">
            <a:avLst/>
          </a:prstGeom>
          <a:noFill/>
          <a:ln/>
        </p:spPr>
        <p:txBody>
          <a:bodyPr wrap="square" lIns="0" tIns="0" rIns="0" bIns="0" rtlCol="0" anchor="ctr"/>
          <a:lstStyle/>
          <a:p>
            <a:pPr indent="0" marL="0">
              <a:buNone/>
            </a:pPr>
            <a:r>
              <a:rPr lang="en-US" sz="1050" spc="80" kern="0" dirty="0">
                <a:solidFill>
                  <a:srgbClr val="6B7B8F"/>
                </a:solidFill>
                <a:latin typeface="Calibri" pitchFamily="34" charset="0"/>
                <a:ea typeface="Calibri" pitchFamily="34" charset="-122"/>
                <a:cs typeface="Calibri" pitchFamily="34" charset="-120"/>
              </a:rPr>
              <a:t>stored at 30-day retention</a:t>
            </a:r>
            <a:endParaRPr lang="en-US" sz="1050" dirty="0"/>
          </a:p>
        </p:txBody>
      </p:sp>
      <p:sp>
        <p:nvSpPr>
          <p:cNvPr id="11" name="Text 9"/>
          <p:cNvSpPr txBox="1"/>
          <p:nvPr/>
        </p:nvSpPr>
        <p:spPr>
          <a:xfrm>
            <a:off x="960120" y="4663440"/>
            <a:ext cx="4663440" cy="365760"/>
          </a:xfrm>
          <a:prstGeom prst="rect">
            <a:avLst/>
          </a:prstGeom>
          <a:noFill/>
          <a:ln/>
        </p:spPr>
        <p:txBody>
          <a:bodyPr wrap="square" lIns="0" tIns="0" rIns="0" bIns="0" rtlCol="0" anchor="ctr"/>
          <a:lstStyle/>
          <a:p>
            <a:pPr indent="0" marL="0">
              <a:buNone/>
            </a:pPr>
            <a:r>
              <a:rPr lang="en-US" sz="1150" dirty="0">
                <a:solidFill>
                  <a:srgbClr val="6B7B8F"/>
                </a:solidFill>
                <a:latin typeface="Calibri" pitchFamily="34" charset="0"/>
                <a:ea typeface="Calibri" pitchFamily="34" charset="-122"/>
                <a:cs typeface="Calibri" pitchFamily="34" charset="-120"/>
              </a:rPr>
              <a:t>Eighty thousand cameras at two megabits each.</a:t>
            </a:r>
            <a:endParaRPr lang="en-US" sz="1150" dirty="0"/>
          </a:p>
        </p:txBody>
      </p:sp>
      <p:sp>
        <p:nvSpPr>
          <p:cNvPr id="12" name="Shape 10"/>
          <p:cNvSpPr/>
          <p:nvPr/>
        </p:nvSpPr>
        <p:spPr>
          <a:xfrm>
            <a:off x="6217920" y="2606040"/>
            <a:ext cx="5303520" cy="2651760"/>
          </a:xfrm>
          <a:prstGeom prst="roundRect">
            <a:avLst>
              <a:gd name="adj" fmla="val 1724"/>
            </a:avLst>
          </a:prstGeom>
          <a:solidFill>
            <a:srgbClr val="FBF4EE"/>
          </a:solidFill>
          <a:ln w="12700">
            <a:solidFill>
              <a:srgbClr val="FBF4EE"/>
            </a:solidFill>
            <a:prstDash val="solid"/>
          </a:ln>
        </p:spPr>
      </p:sp>
      <p:sp>
        <p:nvSpPr>
          <p:cNvPr id="13" name="Text 11"/>
          <p:cNvSpPr txBox="1"/>
          <p:nvPr/>
        </p:nvSpPr>
        <p:spPr>
          <a:xfrm>
            <a:off x="6537960" y="2852928"/>
            <a:ext cx="4663440" cy="365760"/>
          </a:xfrm>
          <a:prstGeom prst="rect">
            <a:avLst/>
          </a:prstGeom>
          <a:noFill/>
          <a:ln/>
        </p:spPr>
        <p:txBody>
          <a:bodyPr wrap="square" lIns="0" tIns="0" rIns="0" bIns="0" rtlCol="0" anchor="ctr"/>
          <a:lstStyle/>
          <a:p>
            <a:pPr indent="0" marL="0">
              <a:buNone/>
            </a:pPr>
            <a:r>
              <a:rPr lang="en-US" sz="1200" b="1" spc="120" kern="0" dirty="0">
                <a:solidFill>
                  <a:srgbClr val="C2551F"/>
                </a:solidFill>
                <a:latin typeface="Calibri" pitchFamily="34" charset="0"/>
                <a:ea typeface="Calibri" pitchFamily="34" charset="-122"/>
                <a:cs typeface="Calibri" pitchFamily="34" charset="-120"/>
              </a:rPr>
              <a:t>Centralising the metadata instead</a:t>
            </a:r>
            <a:endParaRPr lang="en-US" sz="1200" dirty="0"/>
          </a:p>
        </p:txBody>
      </p:sp>
      <p:sp>
        <p:nvSpPr>
          <p:cNvPr id="14" name="Text 12"/>
          <p:cNvSpPr txBox="1"/>
          <p:nvPr/>
        </p:nvSpPr>
        <p:spPr>
          <a:xfrm>
            <a:off x="6537960" y="3291840"/>
            <a:ext cx="2194560" cy="676656"/>
          </a:xfrm>
          <a:prstGeom prst="rect">
            <a:avLst/>
          </a:prstGeom>
          <a:noFill/>
          <a:ln/>
        </p:spPr>
        <p:txBody>
          <a:bodyPr wrap="square" lIns="0" tIns="0" rIns="0" bIns="0" rtlCol="0" anchor="ctr"/>
          <a:lstStyle/>
          <a:p>
            <a:pPr indent="0" marL="0">
              <a:buNone/>
            </a:pPr>
            <a:r>
              <a:rPr lang="en-US" sz="4200" b="1" dirty="0">
                <a:solidFill>
                  <a:srgbClr val="0E7C6B"/>
                </a:solidFill>
                <a:latin typeface="Cambria" pitchFamily="34" charset="0"/>
                <a:ea typeface="Cambria" pitchFamily="34" charset="-122"/>
                <a:cs typeface="Cambria" pitchFamily="34" charset="-120"/>
              </a:rPr>
              <a:t>16 GB</a:t>
            </a:r>
            <a:endParaRPr lang="en-US" sz="4200" dirty="0"/>
          </a:p>
        </p:txBody>
      </p:sp>
      <p:sp>
        <p:nvSpPr>
          <p:cNvPr id="15" name="Text 13"/>
          <p:cNvSpPr txBox="1"/>
          <p:nvPr/>
        </p:nvSpPr>
        <p:spPr>
          <a:xfrm>
            <a:off x="6537960" y="3968496"/>
            <a:ext cx="2194560" cy="420624"/>
          </a:xfrm>
          <a:prstGeom prst="rect">
            <a:avLst/>
          </a:prstGeom>
          <a:noFill/>
          <a:ln/>
        </p:spPr>
        <p:txBody>
          <a:bodyPr wrap="square" lIns="0" tIns="0" rIns="0" bIns="0" rtlCol="0" anchor="ctr"/>
          <a:lstStyle/>
          <a:p>
            <a:pPr indent="0" marL="0">
              <a:buNone/>
            </a:pPr>
            <a:r>
              <a:rPr lang="en-US" sz="1050" spc="80" kern="0" dirty="0">
                <a:solidFill>
                  <a:srgbClr val="6B7B8F"/>
                </a:solidFill>
                <a:latin typeface="Calibri" pitchFamily="34" charset="0"/>
                <a:ea typeface="Calibri" pitchFamily="34" charset="-122"/>
                <a:cs typeface="Calibri" pitchFamily="34" charset="-120"/>
              </a:rPr>
              <a:t>per day, whole state</a:t>
            </a:r>
            <a:endParaRPr lang="en-US" sz="1050" dirty="0"/>
          </a:p>
        </p:txBody>
      </p:sp>
      <p:sp>
        <p:nvSpPr>
          <p:cNvPr id="16" name="Text 14"/>
          <p:cNvSpPr txBox="1"/>
          <p:nvPr/>
        </p:nvSpPr>
        <p:spPr>
          <a:xfrm>
            <a:off x="8961120" y="3291840"/>
            <a:ext cx="2286000" cy="676656"/>
          </a:xfrm>
          <a:prstGeom prst="rect">
            <a:avLst/>
          </a:prstGeom>
          <a:noFill/>
          <a:ln/>
        </p:spPr>
        <p:txBody>
          <a:bodyPr wrap="square" lIns="0" tIns="0" rIns="0" bIns="0" rtlCol="0" anchor="ctr"/>
          <a:lstStyle/>
          <a:p>
            <a:pPr indent="0" marL="0">
              <a:buNone/>
            </a:pPr>
            <a:r>
              <a:rPr lang="en-US" sz="3600" b="1" dirty="0">
                <a:solidFill>
                  <a:srgbClr val="0E7C6B"/>
                </a:solidFill>
                <a:latin typeface="Cambria" pitchFamily="34" charset="0"/>
                <a:ea typeface="Cambria" pitchFamily="34" charset="-122"/>
                <a:cs typeface="Cambria" pitchFamily="34" charset="-120"/>
              </a:rPr>
              <a:t>10,000x</a:t>
            </a:r>
            <a:endParaRPr lang="en-US" sz="3600" dirty="0"/>
          </a:p>
        </p:txBody>
      </p:sp>
      <p:sp>
        <p:nvSpPr>
          <p:cNvPr id="17" name="Text 15"/>
          <p:cNvSpPr txBox="1"/>
          <p:nvPr/>
        </p:nvSpPr>
        <p:spPr>
          <a:xfrm>
            <a:off x="8961120" y="3968496"/>
            <a:ext cx="2286000" cy="420624"/>
          </a:xfrm>
          <a:prstGeom prst="rect">
            <a:avLst/>
          </a:prstGeom>
          <a:noFill/>
          <a:ln/>
        </p:spPr>
        <p:txBody>
          <a:bodyPr wrap="square" lIns="0" tIns="0" rIns="0" bIns="0" rtlCol="0" anchor="ctr"/>
          <a:lstStyle/>
          <a:p>
            <a:pPr indent="0" marL="0">
              <a:buNone/>
            </a:pPr>
            <a:r>
              <a:rPr lang="en-US" sz="1050" spc="80" kern="0" dirty="0">
                <a:solidFill>
                  <a:srgbClr val="6B7B8F"/>
                </a:solidFill>
                <a:latin typeface="Calibri" pitchFamily="34" charset="0"/>
                <a:ea typeface="Calibri" pitchFamily="34" charset="-122"/>
                <a:cs typeface="Calibri" pitchFamily="34" charset="-120"/>
              </a:rPr>
              <a:t>less network load</a:t>
            </a:r>
            <a:endParaRPr lang="en-US" sz="1050" dirty="0"/>
          </a:p>
        </p:txBody>
      </p:sp>
      <p:sp>
        <p:nvSpPr>
          <p:cNvPr id="18" name="Text 16"/>
          <p:cNvSpPr txBox="1"/>
          <p:nvPr/>
        </p:nvSpPr>
        <p:spPr>
          <a:xfrm>
            <a:off x="6537960" y="4663440"/>
            <a:ext cx="4663440" cy="365760"/>
          </a:xfrm>
          <a:prstGeom prst="rect">
            <a:avLst/>
          </a:prstGeom>
          <a:noFill/>
          <a:ln/>
        </p:spPr>
        <p:txBody>
          <a:bodyPr wrap="square" lIns="0" tIns="0" rIns="0" bIns="0" rtlCol="0" anchor="ctr"/>
          <a:lstStyle/>
          <a:p>
            <a:pPr indent="0" marL="0">
              <a:buNone/>
            </a:pPr>
            <a:r>
              <a:rPr lang="en-US" sz="1150" dirty="0">
                <a:solidFill>
                  <a:srgbClr val="6B7B8F"/>
                </a:solidFill>
                <a:latin typeface="Calibri" pitchFamily="34" charset="0"/>
                <a:ea typeface="Calibri" pitchFamily="34" charset="-122"/>
                <a:cs typeface="Calibri" pitchFamily="34" charset="-120"/>
              </a:rPr>
              <a:t>The same grid, carrying plate reads instead of pixels.</a:t>
            </a:r>
            <a:endParaRPr lang="en-US" sz="1150" dirty="0"/>
          </a:p>
        </p:txBody>
      </p:sp>
      <p:sp>
        <p:nvSpPr>
          <p:cNvPr id="19" name="Text 17"/>
          <p:cNvSpPr txBox="1"/>
          <p:nvPr/>
        </p:nvSpPr>
        <p:spPr>
          <a:xfrm>
            <a:off x="640080" y="6291072"/>
            <a:ext cx="9601200" cy="274320"/>
          </a:xfrm>
          <a:prstGeom prst="rect">
            <a:avLst/>
          </a:prstGeom>
          <a:noFill/>
          <a:ln/>
        </p:spPr>
        <p:txBody>
          <a:bodyPr wrap="square" lIns="0" tIns="0" rIns="0" bIns="0" rtlCol="0" anchor="ctr"/>
          <a:lstStyle/>
          <a:p>
            <a:pPr indent="0" marL="0">
              <a:buNone/>
            </a:pPr>
            <a:r>
              <a:rPr lang="en-US" sz="950" dirty="0">
                <a:solidFill>
                  <a:srgbClr val="9AA8B8"/>
                </a:solidFill>
                <a:latin typeface="Calibri" pitchFamily="34" charset="0"/>
                <a:ea typeface="Calibri" pitchFamily="34" charset="-122"/>
                <a:cs typeface="Calibri" pitchFamily="34" charset="-120"/>
              </a:rPr>
              <a:t>Order-of-magnitude estimates for a statewide estate at the stated assumptions.</a:t>
            </a:r>
            <a:endParaRPr lang="en-US" sz="950" dirty="0"/>
          </a:p>
        </p:txBody>
      </p:sp>
      <p:sp>
        <p:nvSpPr>
          <p:cNvPr id="20" name="Text 18"/>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ARCHITECTURE</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Three tiers, one event interface</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The same codebase runs as a district edge node or as the central server. Configuration decides which. Departments are never asked to change anything.</a:t>
            </a:r>
            <a:endParaRPr lang="en-US" sz="1450" dirty="0"/>
          </a:p>
        </p:txBody>
      </p:sp>
      <p:sp>
        <p:nvSpPr>
          <p:cNvPr id="5" name="Shape 3"/>
          <p:cNvSpPr/>
          <p:nvPr/>
        </p:nvSpPr>
        <p:spPr>
          <a:xfrm>
            <a:off x="640080" y="2542032"/>
            <a:ext cx="3310128" cy="2743200"/>
          </a:xfrm>
          <a:prstGeom prst="roundRect">
            <a:avLst>
              <a:gd name="adj" fmla="val 1667"/>
            </a:avLst>
          </a:prstGeom>
          <a:solidFill>
            <a:srgbClr val="F2F5F9"/>
          </a:solidFill>
          <a:ln w="12700">
            <a:solidFill>
              <a:srgbClr val="F2F5F9"/>
            </a:solidFill>
            <a:prstDash val="solid"/>
          </a:ln>
        </p:spPr>
      </p:sp>
      <p:sp>
        <p:nvSpPr>
          <p:cNvPr id="6" name="Text 4"/>
          <p:cNvSpPr txBox="1"/>
          <p:nvPr/>
        </p:nvSpPr>
        <p:spPr>
          <a:xfrm>
            <a:off x="914400" y="2798064"/>
            <a:ext cx="2761488" cy="658368"/>
          </a:xfrm>
          <a:prstGeom prst="rect">
            <a:avLst/>
          </a:prstGeom>
          <a:noFill/>
          <a:ln/>
        </p:spPr>
        <p:txBody>
          <a:bodyPr wrap="square" lIns="0" tIns="0" rIns="0" bIns="0" rtlCol="0" anchor="ctr"/>
          <a:lstStyle/>
          <a:p>
            <a:pPr indent="0" marL="0">
              <a:buNone/>
            </a:pPr>
            <a:r>
              <a:rPr lang="en-US" sz="1700" b="1" dirty="0">
                <a:solidFill>
                  <a:srgbClr val="16243A"/>
                </a:solidFill>
                <a:latin typeface="Cambria" pitchFamily="34" charset="0"/>
                <a:ea typeface="Cambria" pitchFamily="34" charset="-122"/>
                <a:cs typeface="Cambria" pitchFamily="34" charset="-120"/>
              </a:rPr>
              <a:t>Departmental systems</a:t>
            </a:r>
            <a:endParaRPr lang="en-US" sz="1700" dirty="0"/>
          </a:p>
        </p:txBody>
      </p:sp>
      <p:sp>
        <p:nvSpPr>
          <p:cNvPr id="7" name="Text 5"/>
          <p:cNvSpPr txBox="1"/>
          <p:nvPr/>
        </p:nvSpPr>
        <p:spPr>
          <a:xfrm>
            <a:off x="914400" y="3529584"/>
            <a:ext cx="2761488" cy="1463040"/>
          </a:xfrm>
          <a:prstGeom prst="rect">
            <a:avLst/>
          </a:prstGeom>
          <a:noFill/>
          <a:ln/>
        </p:spPr>
        <p:txBody>
          <a:bodyPr wrap="square" lIns="0" tIns="0" rIns="0" bIns="0" rtlCol="0" anchor="ctr"/>
          <a:lstStyle/>
          <a:p>
            <a:pPr indent="0" marL="0">
              <a:lnSpc>
                <a:spcPts val="1700"/>
              </a:lnSpc>
              <a:buNone/>
            </a:pPr>
            <a:r>
              <a:rPr lang="en-US" sz="1200" dirty="0">
                <a:solidFill>
                  <a:srgbClr val="3C4A5C"/>
                </a:solidFill>
                <a:latin typeface="Calibri" pitchFamily="34" charset="0"/>
                <a:ea typeface="Calibri" pitchFamily="34" charset="-122"/>
                <a:cs typeface="Calibri" pitchFamily="34" charset="-120"/>
              </a:rPr>
              <a:t>Recorders, vendor software and cameras stay exactly where they are, under the same ownership, with the same retention policy.</a:t>
            </a:r>
            <a:endParaRPr lang="en-US" sz="1200" dirty="0"/>
          </a:p>
        </p:txBody>
      </p:sp>
      <p:sp>
        <p:nvSpPr>
          <p:cNvPr id="8" name="Text 6"/>
          <p:cNvSpPr txBox="1"/>
          <p:nvPr/>
        </p:nvSpPr>
        <p:spPr>
          <a:xfrm>
            <a:off x="3986784" y="3703320"/>
            <a:ext cx="402336" cy="402336"/>
          </a:xfrm>
          <a:prstGeom prst="rect">
            <a:avLst/>
          </a:prstGeom>
          <a:noFill/>
          <a:ln/>
        </p:spPr>
        <p:txBody>
          <a:bodyPr wrap="square" lIns="0" tIns="0" rIns="0" bIns="0" rtlCol="0" anchor="ctr"/>
          <a:lstStyle/>
          <a:p>
            <a:pPr algn="ctr" indent="0" marL="0">
              <a:buNone/>
            </a:pPr>
            <a:r>
              <a:rPr lang="en-US" sz="2200" dirty="0">
                <a:solidFill>
                  <a:srgbClr val="C2551F"/>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4425696" y="2542032"/>
            <a:ext cx="3310128" cy="2743200"/>
          </a:xfrm>
          <a:prstGeom prst="roundRect">
            <a:avLst>
              <a:gd name="adj" fmla="val 1667"/>
            </a:avLst>
          </a:prstGeom>
          <a:solidFill>
            <a:srgbClr val="F2F5F9"/>
          </a:solidFill>
          <a:ln w="12700">
            <a:solidFill>
              <a:srgbClr val="F2F5F9"/>
            </a:solidFill>
            <a:prstDash val="solid"/>
          </a:ln>
        </p:spPr>
      </p:sp>
      <p:sp>
        <p:nvSpPr>
          <p:cNvPr id="10" name="Text 8"/>
          <p:cNvSpPr txBox="1"/>
          <p:nvPr/>
        </p:nvSpPr>
        <p:spPr>
          <a:xfrm>
            <a:off x="4700016" y="2798064"/>
            <a:ext cx="2761488" cy="658368"/>
          </a:xfrm>
          <a:prstGeom prst="rect">
            <a:avLst/>
          </a:prstGeom>
          <a:noFill/>
          <a:ln/>
        </p:spPr>
        <p:txBody>
          <a:bodyPr wrap="square" lIns="0" tIns="0" rIns="0" bIns="0" rtlCol="0" anchor="ctr"/>
          <a:lstStyle/>
          <a:p>
            <a:pPr indent="0" marL="0">
              <a:buNone/>
            </a:pPr>
            <a:r>
              <a:rPr lang="en-US" sz="1700" b="1" dirty="0">
                <a:solidFill>
                  <a:srgbClr val="16243A"/>
                </a:solidFill>
                <a:latin typeface="Cambria" pitchFamily="34" charset="0"/>
                <a:ea typeface="Cambria" pitchFamily="34" charset="-122"/>
                <a:cs typeface="Cambria" pitchFamily="34" charset="-120"/>
              </a:rPr>
              <a:t>Edge / regional node</a:t>
            </a:r>
            <a:endParaRPr lang="en-US" sz="1700" dirty="0"/>
          </a:p>
        </p:txBody>
      </p:sp>
      <p:sp>
        <p:nvSpPr>
          <p:cNvPr id="11" name="Text 9"/>
          <p:cNvSpPr txBox="1"/>
          <p:nvPr/>
        </p:nvSpPr>
        <p:spPr>
          <a:xfrm>
            <a:off x="4700016" y="3529584"/>
            <a:ext cx="2761488" cy="1463040"/>
          </a:xfrm>
          <a:prstGeom prst="rect">
            <a:avLst/>
          </a:prstGeom>
          <a:noFill/>
          <a:ln/>
        </p:spPr>
        <p:txBody>
          <a:bodyPr wrap="square" lIns="0" tIns="0" rIns="0" bIns="0" rtlCol="0" anchor="ctr"/>
          <a:lstStyle/>
          <a:p>
            <a:pPr indent="0" marL="0">
              <a:lnSpc>
                <a:spcPts val="1700"/>
              </a:lnSpc>
              <a:buNone/>
            </a:pPr>
            <a:r>
              <a:rPr lang="en-US" sz="1200" dirty="0">
                <a:solidFill>
                  <a:srgbClr val="3C4A5C"/>
                </a:solidFill>
                <a:latin typeface="Calibri" pitchFamily="34" charset="0"/>
                <a:ea typeface="Calibri" pitchFamily="34" charset="-122"/>
                <a:cs typeface="Calibri" pitchFamily="34" charset="-120"/>
              </a:rPr>
              <a:t>Decode, detect, recognise and match. A durable local queue holds results whenever the link to the centre is unavailable.</a:t>
            </a:r>
            <a:endParaRPr lang="en-US" sz="1200" dirty="0"/>
          </a:p>
        </p:txBody>
      </p:sp>
      <p:sp>
        <p:nvSpPr>
          <p:cNvPr id="12" name="Text 10"/>
          <p:cNvSpPr txBox="1"/>
          <p:nvPr/>
        </p:nvSpPr>
        <p:spPr>
          <a:xfrm>
            <a:off x="7772400" y="3703320"/>
            <a:ext cx="402336" cy="402336"/>
          </a:xfrm>
          <a:prstGeom prst="rect">
            <a:avLst/>
          </a:prstGeom>
          <a:noFill/>
          <a:ln/>
        </p:spPr>
        <p:txBody>
          <a:bodyPr wrap="square" lIns="0" tIns="0" rIns="0" bIns="0" rtlCol="0" anchor="ctr"/>
          <a:lstStyle/>
          <a:p>
            <a:pPr algn="ctr" indent="0" marL="0">
              <a:buNone/>
            </a:pPr>
            <a:r>
              <a:rPr lang="en-US" sz="2200" dirty="0">
                <a:solidFill>
                  <a:srgbClr val="C2551F"/>
                </a:solidFill>
                <a:latin typeface="Calibri" pitchFamily="34" charset="0"/>
                <a:ea typeface="Calibri" pitchFamily="34" charset="-122"/>
                <a:cs typeface="Calibri" pitchFamily="34" charset="-120"/>
              </a:rPr>
              <a:t>→</a:t>
            </a:r>
            <a:endParaRPr lang="en-US" sz="2200" dirty="0"/>
          </a:p>
        </p:txBody>
      </p:sp>
      <p:sp>
        <p:nvSpPr>
          <p:cNvPr id="13" name="Shape 11"/>
          <p:cNvSpPr/>
          <p:nvPr/>
        </p:nvSpPr>
        <p:spPr>
          <a:xfrm>
            <a:off x="8211312" y="2542032"/>
            <a:ext cx="3310128" cy="2743200"/>
          </a:xfrm>
          <a:prstGeom prst="roundRect">
            <a:avLst>
              <a:gd name="adj" fmla="val 1667"/>
            </a:avLst>
          </a:prstGeom>
          <a:solidFill>
            <a:srgbClr val="FBF4EE"/>
          </a:solidFill>
          <a:ln w="12700">
            <a:solidFill>
              <a:srgbClr val="FBF4EE"/>
            </a:solidFill>
            <a:prstDash val="solid"/>
          </a:ln>
        </p:spPr>
      </p:sp>
      <p:sp>
        <p:nvSpPr>
          <p:cNvPr id="14" name="Text 12"/>
          <p:cNvSpPr txBox="1"/>
          <p:nvPr/>
        </p:nvSpPr>
        <p:spPr>
          <a:xfrm>
            <a:off x="8485632" y="2798064"/>
            <a:ext cx="2761488" cy="658368"/>
          </a:xfrm>
          <a:prstGeom prst="rect">
            <a:avLst/>
          </a:prstGeom>
          <a:noFill/>
          <a:ln/>
        </p:spPr>
        <p:txBody>
          <a:bodyPr wrap="square" lIns="0" tIns="0" rIns="0" bIns="0" rtlCol="0" anchor="ctr"/>
          <a:lstStyle/>
          <a:p>
            <a:pPr indent="0" marL="0">
              <a:buNone/>
            </a:pPr>
            <a:r>
              <a:rPr lang="en-US" sz="1700" b="1" dirty="0">
                <a:solidFill>
                  <a:srgbClr val="C2551F"/>
                </a:solidFill>
                <a:latin typeface="Cambria" pitchFamily="34" charset="0"/>
                <a:ea typeface="Cambria" pitchFamily="34" charset="-122"/>
                <a:cs typeface="Cambria" pitchFamily="34" charset="-120"/>
              </a:rPr>
              <a:t>Central tier</a:t>
            </a:r>
            <a:endParaRPr lang="en-US" sz="1700" dirty="0"/>
          </a:p>
        </p:txBody>
      </p:sp>
      <p:sp>
        <p:nvSpPr>
          <p:cNvPr id="15" name="Text 13"/>
          <p:cNvSpPr txBox="1"/>
          <p:nvPr/>
        </p:nvSpPr>
        <p:spPr>
          <a:xfrm>
            <a:off x="8485632" y="3529584"/>
            <a:ext cx="2761488" cy="1463040"/>
          </a:xfrm>
          <a:prstGeom prst="rect">
            <a:avLst/>
          </a:prstGeom>
          <a:noFill/>
          <a:ln/>
        </p:spPr>
        <p:txBody>
          <a:bodyPr wrap="square" lIns="0" tIns="0" rIns="0" bIns="0" rtlCol="0" anchor="ctr"/>
          <a:lstStyle/>
          <a:p>
            <a:pPr indent="0" marL="0">
              <a:lnSpc>
                <a:spcPts val="1700"/>
              </a:lnSpc>
              <a:buNone/>
            </a:pPr>
            <a:r>
              <a:rPr lang="en-US" sz="1200" dirty="0">
                <a:solidFill>
                  <a:srgbClr val="3C4A5C"/>
                </a:solidFill>
                <a:latin typeface="Calibri" pitchFamily="34" charset="0"/>
                <a:ea typeface="Calibri" pitchFamily="34" charset="-122"/>
                <a:cs typeface="Calibri" pitchFamily="34" charset="-120"/>
              </a:rPr>
              <a:t>Registry, metadata index, watchlist matching, alerting, investigation and the GIS console for the whole state.</a:t>
            </a:r>
            <a:endParaRPr lang="en-US" sz="1200" dirty="0"/>
          </a:p>
        </p:txBody>
      </p:sp>
      <p:sp>
        <p:nvSpPr>
          <p:cNvPr id="16" name="Text 14"/>
          <p:cNvSpPr txBox="1"/>
          <p:nvPr/>
        </p:nvSpPr>
        <p:spPr>
          <a:xfrm>
            <a:off x="640080" y="5532120"/>
            <a:ext cx="10881360" cy="365760"/>
          </a:xfrm>
          <a:prstGeom prst="rect">
            <a:avLst/>
          </a:prstGeom>
          <a:noFill/>
          <a:ln/>
        </p:spPr>
        <p:txBody>
          <a:bodyPr wrap="square" lIns="0" tIns="0" rIns="0" bIns="0" rtlCol="0" anchor="ctr"/>
          <a:lstStyle/>
          <a:p>
            <a:pPr indent="0" marL="0">
              <a:buNone/>
            </a:pPr>
            <a:r>
              <a:rPr lang="en-US" sz="1350" i="1" dirty="0">
                <a:solidFill>
                  <a:srgbClr val="C2551F"/>
                </a:solidFill>
                <a:latin typeface="Calibri" pitchFamily="34" charset="0"/>
                <a:ea typeface="Calibri" pitchFamily="34" charset="-122"/>
                <a:cs typeface="Calibri" pitchFamily="34" charset="-120"/>
              </a:rPr>
              <a:t>Metadata travels right. Video is pulled left, on demand, only against a confirmed hit.</a:t>
            </a:r>
            <a:endParaRPr lang="en-US" sz="1350" dirty="0"/>
          </a:p>
        </p:txBody>
      </p:sp>
      <p:sp>
        <p:nvSpPr>
          <p:cNvPr id="17" name="Text 15"/>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MODEL 1  ·  THE COMPULSORY FOUNDATION</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Statewide camera registry with GIS</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Every camera carries its position, orientation and reach, so coverage becomes a map question rather than a spreadsheet question.</a:t>
            </a:r>
            <a:endParaRPr lang="en-US" sz="1450" dirty="0"/>
          </a:p>
        </p:txBody>
      </p:sp>
      <p:sp>
        <p:nvSpPr>
          <p:cNvPr id="5" name="Shape 3"/>
          <p:cNvSpPr/>
          <p:nvPr/>
        </p:nvSpPr>
        <p:spPr>
          <a:xfrm>
            <a:off x="640080" y="2487168"/>
            <a:ext cx="5257800" cy="1371600"/>
          </a:xfrm>
          <a:prstGeom prst="roundRect">
            <a:avLst>
              <a:gd name="adj" fmla="val 3333"/>
            </a:avLst>
          </a:prstGeom>
          <a:solidFill>
            <a:srgbClr val="F2F5F9"/>
          </a:solidFill>
          <a:ln w="12700">
            <a:solidFill>
              <a:srgbClr val="F2F5F9"/>
            </a:solidFill>
            <a:prstDash val="solid"/>
          </a:ln>
        </p:spPr>
      </p:sp>
      <p:sp>
        <p:nvSpPr>
          <p:cNvPr id="6" name="Text 4"/>
          <p:cNvSpPr txBox="1"/>
          <p:nvPr/>
        </p:nvSpPr>
        <p:spPr>
          <a:xfrm>
            <a:off x="932688" y="2670048"/>
            <a:ext cx="4663440" cy="347472"/>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Geospatial record</a:t>
            </a:r>
            <a:endParaRPr lang="en-US" sz="1550" dirty="0"/>
          </a:p>
        </p:txBody>
      </p:sp>
      <p:sp>
        <p:nvSpPr>
          <p:cNvPr id="7" name="Text 5"/>
          <p:cNvSpPr txBox="1"/>
          <p:nvPr/>
        </p:nvSpPr>
        <p:spPr>
          <a:xfrm>
            <a:off x="932688" y="3063240"/>
            <a:ext cx="4663440" cy="713232"/>
          </a:xfrm>
          <a:prstGeom prst="rect">
            <a:avLst/>
          </a:prstGeom>
          <a:noFill/>
          <a:ln/>
        </p:spPr>
        <p:txBody>
          <a:bodyPr wrap="square" lIns="0" tIns="0" rIns="0" bIns="0" rtlCol="0" anchor="ctr"/>
          <a:lstStyle/>
          <a:p>
            <a:pPr indent="0" marL="0">
              <a:lnSpc>
                <a:spcPts val="1600"/>
              </a:lnSpc>
              <a:buNone/>
            </a:pPr>
            <a:r>
              <a:rPr lang="en-US" sz="1200" dirty="0">
                <a:solidFill>
                  <a:srgbClr val="3C4A5C"/>
                </a:solidFill>
                <a:latin typeface="Calibri" pitchFamily="34" charset="0"/>
                <a:ea typeface="Calibri" pitchFamily="34" charset="-122"/>
                <a:cs typeface="Calibri" pitchFamily="34" charset="-120"/>
              </a:rPr>
              <a:t>Latitude, longitude, compass heading, field of view and nominal ground range held for every camera in the estate.</a:t>
            </a:r>
            <a:endParaRPr lang="en-US" sz="1200" dirty="0"/>
          </a:p>
        </p:txBody>
      </p:sp>
      <p:sp>
        <p:nvSpPr>
          <p:cNvPr id="8" name="Shape 6"/>
          <p:cNvSpPr/>
          <p:nvPr/>
        </p:nvSpPr>
        <p:spPr>
          <a:xfrm>
            <a:off x="6263640" y="2487168"/>
            <a:ext cx="5257800" cy="1371600"/>
          </a:xfrm>
          <a:prstGeom prst="roundRect">
            <a:avLst>
              <a:gd name="adj" fmla="val 3333"/>
            </a:avLst>
          </a:prstGeom>
          <a:solidFill>
            <a:srgbClr val="F2F5F9"/>
          </a:solidFill>
          <a:ln w="12700">
            <a:solidFill>
              <a:srgbClr val="F2F5F9"/>
            </a:solidFill>
            <a:prstDash val="solid"/>
          </a:ln>
        </p:spPr>
      </p:sp>
      <p:sp>
        <p:nvSpPr>
          <p:cNvPr id="9" name="Text 7"/>
          <p:cNvSpPr txBox="1"/>
          <p:nvPr/>
        </p:nvSpPr>
        <p:spPr>
          <a:xfrm>
            <a:off x="6556248" y="2670048"/>
            <a:ext cx="4663440" cy="347472"/>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Live health monitoring</a:t>
            </a:r>
            <a:endParaRPr lang="en-US" sz="1550" dirty="0"/>
          </a:p>
        </p:txBody>
      </p:sp>
      <p:sp>
        <p:nvSpPr>
          <p:cNvPr id="10" name="Text 8"/>
          <p:cNvSpPr txBox="1"/>
          <p:nvPr/>
        </p:nvSpPr>
        <p:spPr>
          <a:xfrm>
            <a:off x="6556248" y="3063240"/>
            <a:ext cx="4663440" cy="713232"/>
          </a:xfrm>
          <a:prstGeom prst="rect">
            <a:avLst/>
          </a:prstGeom>
          <a:noFill/>
          <a:ln/>
        </p:spPr>
        <p:txBody>
          <a:bodyPr wrap="square" lIns="0" tIns="0" rIns="0" bIns="0" rtlCol="0" anchor="ctr"/>
          <a:lstStyle/>
          <a:p>
            <a:pPr indent="0" marL="0">
              <a:lnSpc>
                <a:spcPts val="1600"/>
              </a:lnSpc>
              <a:buNone/>
            </a:pPr>
            <a:r>
              <a:rPr lang="en-US" sz="1200" dirty="0">
                <a:solidFill>
                  <a:srgbClr val="3C4A5C"/>
                </a:solidFill>
                <a:latin typeface="Calibri" pitchFamily="34" charset="0"/>
                <a:ea typeface="Calibri" pitchFamily="34" charset="-122"/>
                <a:cs typeface="Calibri" pitchFamily="34" charset="-120"/>
              </a:rPr>
              <a:t>Online, offline or unknown with last-seen timestamps, rolled up by department and by district.</a:t>
            </a:r>
            <a:endParaRPr lang="en-US" sz="1200" dirty="0"/>
          </a:p>
        </p:txBody>
      </p:sp>
      <p:sp>
        <p:nvSpPr>
          <p:cNvPr id="11" name="Shape 9"/>
          <p:cNvSpPr/>
          <p:nvPr/>
        </p:nvSpPr>
        <p:spPr>
          <a:xfrm>
            <a:off x="640080" y="4059936"/>
            <a:ext cx="5257800" cy="1371600"/>
          </a:xfrm>
          <a:prstGeom prst="roundRect">
            <a:avLst>
              <a:gd name="adj" fmla="val 3333"/>
            </a:avLst>
          </a:prstGeom>
          <a:solidFill>
            <a:srgbClr val="F2F5F9"/>
          </a:solidFill>
          <a:ln w="12700">
            <a:solidFill>
              <a:srgbClr val="F2F5F9"/>
            </a:solidFill>
            <a:prstDash val="solid"/>
          </a:ln>
        </p:spPr>
      </p:sp>
      <p:sp>
        <p:nvSpPr>
          <p:cNvPr id="12" name="Text 10"/>
          <p:cNvSpPr txBox="1"/>
          <p:nvPr/>
        </p:nvSpPr>
        <p:spPr>
          <a:xfrm>
            <a:off x="932688" y="4242816"/>
            <a:ext cx="4663440" cy="347472"/>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Coverage and blind spots</a:t>
            </a:r>
            <a:endParaRPr lang="en-US" sz="1550" dirty="0"/>
          </a:p>
        </p:txBody>
      </p:sp>
      <p:sp>
        <p:nvSpPr>
          <p:cNvPr id="13" name="Text 11"/>
          <p:cNvSpPr txBox="1"/>
          <p:nvPr/>
        </p:nvSpPr>
        <p:spPr>
          <a:xfrm>
            <a:off x="932688" y="4636008"/>
            <a:ext cx="4663440" cy="713232"/>
          </a:xfrm>
          <a:prstGeom prst="rect">
            <a:avLst/>
          </a:prstGeom>
          <a:noFill/>
          <a:ln/>
        </p:spPr>
        <p:txBody>
          <a:bodyPr wrap="square" lIns="0" tIns="0" rIns="0" bIns="0" rtlCol="0" anchor="ctr"/>
          <a:lstStyle/>
          <a:p>
            <a:pPr indent="0" marL="0">
              <a:lnSpc>
                <a:spcPts val="1600"/>
              </a:lnSpc>
              <a:buNone/>
            </a:pPr>
            <a:r>
              <a:rPr lang="en-US" sz="1200" dirty="0">
                <a:solidFill>
                  <a:srgbClr val="3C4A5C"/>
                </a:solidFill>
                <a:latin typeface="Calibri" pitchFamily="34" charset="0"/>
                <a:ea typeface="Calibri" pitchFamily="34" charset="-122"/>
                <a:cs typeface="Calibri" pitchFamily="34" charset="-120"/>
              </a:rPr>
              <a:t>The map shows which junctions are watched and, more usefully, which are not — so new cameras are placed on evidence.</a:t>
            </a:r>
            <a:endParaRPr lang="en-US" sz="1200" dirty="0"/>
          </a:p>
        </p:txBody>
      </p:sp>
      <p:sp>
        <p:nvSpPr>
          <p:cNvPr id="14" name="Shape 12"/>
          <p:cNvSpPr/>
          <p:nvPr/>
        </p:nvSpPr>
        <p:spPr>
          <a:xfrm>
            <a:off x="6263640" y="4059936"/>
            <a:ext cx="5257800" cy="1371600"/>
          </a:xfrm>
          <a:prstGeom prst="roundRect">
            <a:avLst>
              <a:gd name="adj" fmla="val 3333"/>
            </a:avLst>
          </a:prstGeom>
          <a:solidFill>
            <a:srgbClr val="F2F5F9"/>
          </a:solidFill>
          <a:ln w="12700">
            <a:solidFill>
              <a:srgbClr val="F2F5F9"/>
            </a:solidFill>
            <a:prstDash val="solid"/>
          </a:ln>
        </p:spPr>
      </p:sp>
      <p:sp>
        <p:nvSpPr>
          <p:cNvPr id="15" name="Text 13"/>
          <p:cNvSpPr txBox="1"/>
          <p:nvPr/>
        </p:nvSpPr>
        <p:spPr>
          <a:xfrm>
            <a:off x="6556248" y="4242816"/>
            <a:ext cx="4663440" cy="347472"/>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Vehicle localisation</a:t>
            </a:r>
            <a:endParaRPr lang="en-US" sz="1550" dirty="0"/>
          </a:p>
        </p:txBody>
      </p:sp>
      <p:sp>
        <p:nvSpPr>
          <p:cNvPr id="16" name="Text 14"/>
          <p:cNvSpPr txBox="1"/>
          <p:nvPr/>
        </p:nvSpPr>
        <p:spPr>
          <a:xfrm>
            <a:off x="6556248" y="4636008"/>
            <a:ext cx="4663440" cy="713232"/>
          </a:xfrm>
          <a:prstGeom prst="rect">
            <a:avLst/>
          </a:prstGeom>
          <a:noFill/>
          <a:ln/>
        </p:spPr>
        <p:txBody>
          <a:bodyPr wrap="square" lIns="0" tIns="0" rIns="0" bIns="0" rtlCol="0" anchor="ctr"/>
          <a:lstStyle/>
          <a:p>
            <a:pPr indent="0" marL="0">
              <a:lnSpc>
                <a:spcPts val="1600"/>
              </a:lnSpc>
              <a:buNone/>
            </a:pPr>
            <a:r>
              <a:rPr lang="en-US" sz="1200" dirty="0">
                <a:solidFill>
                  <a:srgbClr val="3C4A5C"/>
                </a:solidFill>
                <a:latin typeface="Calibri" pitchFamily="34" charset="0"/>
                <a:ea typeface="Calibri" pitchFamily="34" charset="-122"/>
                <a:cs typeface="Calibri" pitchFamily="34" charset="-120"/>
              </a:rPr>
              <a:t>Each detection carries a normalised ground-contact point, so a sighting projects onto real-world coordinates rather than a pixel.</a:t>
            </a:r>
            <a:endParaRPr lang="en-US" sz="1200" dirty="0"/>
          </a:p>
        </p:txBody>
      </p:sp>
      <p:sp>
        <p:nvSpPr>
          <p:cNvPr id="17" name="Text 15"/>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MODEL 3  ·  FEDERATION MIDDLEWARE</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Four adapters, one normalised event</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Each adapter speaks one departmental system and returns the same shape. Onboarding a new vendor means writing an adapter, not changing the platform.</a:t>
            </a:r>
            <a:endParaRPr lang="en-US" sz="1450" dirty="0"/>
          </a:p>
        </p:txBody>
      </p:sp>
      <p:sp>
        <p:nvSpPr>
          <p:cNvPr id="5" name="Shape 3"/>
          <p:cNvSpPr/>
          <p:nvPr/>
        </p:nvSpPr>
        <p:spPr>
          <a:xfrm>
            <a:off x="640080" y="2542032"/>
            <a:ext cx="2528316" cy="2697480"/>
          </a:xfrm>
          <a:prstGeom prst="roundRect">
            <a:avLst>
              <a:gd name="adj" fmla="val 1808"/>
            </a:avLst>
          </a:prstGeom>
          <a:solidFill>
            <a:srgbClr val="F2F5F9"/>
          </a:solidFill>
          <a:ln w="12700">
            <a:solidFill>
              <a:srgbClr val="F2F5F9"/>
            </a:solidFill>
            <a:prstDash val="solid"/>
          </a:ln>
        </p:spPr>
      </p:sp>
      <p:sp>
        <p:nvSpPr>
          <p:cNvPr id="6" name="Text 4"/>
          <p:cNvSpPr txBox="1"/>
          <p:nvPr/>
        </p:nvSpPr>
        <p:spPr>
          <a:xfrm>
            <a:off x="914400" y="2816352"/>
            <a:ext cx="1979676" cy="475488"/>
          </a:xfrm>
          <a:prstGeom prst="rect">
            <a:avLst/>
          </a:prstGeom>
          <a:noFill/>
          <a:ln/>
        </p:spPr>
        <p:txBody>
          <a:bodyPr wrap="square" lIns="0" tIns="0" rIns="0" bIns="0" rtlCol="0" anchor="ctr"/>
          <a:lstStyle/>
          <a:p>
            <a:pPr indent="0" marL="0">
              <a:buNone/>
            </a:pPr>
            <a:r>
              <a:rPr lang="en-US" sz="1500" b="1" dirty="0">
                <a:solidFill>
                  <a:srgbClr val="16243A"/>
                </a:solidFill>
                <a:latin typeface="Cambria" pitchFamily="34" charset="0"/>
                <a:ea typeface="Cambria" pitchFamily="34" charset="-122"/>
                <a:cs typeface="Cambria" pitchFamily="34" charset="-120"/>
              </a:rPr>
              <a:t>State grid</a:t>
            </a:r>
            <a:endParaRPr lang="en-US" sz="1500" dirty="0"/>
          </a:p>
        </p:txBody>
      </p:sp>
      <p:sp>
        <p:nvSpPr>
          <p:cNvPr id="7" name="Text 5"/>
          <p:cNvSpPr txBox="1"/>
          <p:nvPr/>
        </p:nvSpPr>
        <p:spPr>
          <a:xfrm>
            <a:off x="914400" y="3328416"/>
            <a:ext cx="1979676" cy="1645920"/>
          </a:xfrm>
          <a:prstGeom prst="rect">
            <a:avLst/>
          </a:prstGeom>
          <a:noFill/>
          <a:ln/>
        </p:spPr>
        <p:txBody>
          <a:bodyPr wrap="square" lIns="0" tIns="0" rIns="0" bIns="0" rtlCol="0" anchor="ctr"/>
          <a:lstStyle/>
          <a:p>
            <a:pPr indent="0" marL="0">
              <a:lnSpc>
                <a:spcPts val="1700"/>
              </a:lnSpc>
              <a:buNone/>
            </a:pPr>
            <a:r>
              <a:rPr lang="en-US" sz="1150" dirty="0">
                <a:solidFill>
                  <a:srgbClr val="3C4A5C"/>
                </a:solidFill>
                <a:latin typeface="Calibri" pitchFamily="34" charset="0"/>
                <a:ea typeface="Calibri" pitchFamily="34" charset="-122"/>
                <a:cs typeface="Calibri" pitchFamily="34" charset="-120"/>
              </a:rPr>
              <a:t>Streaming over RTSP, HLS and WebRTC against the state feed, with credentials redacted from every log and export.</a:t>
            </a:r>
            <a:endParaRPr lang="en-US" sz="1150" dirty="0"/>
          </a:p>
        </p:txBody>
      </p:sp>
      <p:sp>
        <p:nvSpPr>
          <p:cNvPr id="8" name="Shape 6"/>
          <p:cNvSpPr/>
          <p:nvPr/>
        </p:nvSpPr>
        <p:spPr>
          <a:xfrm>
            <a:off x="3424428" y="2542032"/>
            <a:ext cx="2528316" cy="2697480"/>
          </a:xfrm>
          <a:prstGeom prst="roundRect">
            <a:avLst>
              <a:gd name="adj" fmla="val 1808"/>
            </a:avLst>
          </a:prstGeom>
          <a:solidFill>
            <a:srgbClr val="F2F5F9"/>
          </a:solidFill>
          <a:ln w="12700">
            <a:solidFill>
              <a:srgbClr val="F2F5F9"/>
            </a:solidFill>
            <a:prstDash val="solid"/>
          </a:ln>
        </p:spPr>
      </p:sp>
      <p:sp>
        <p:nvSpPr>
          <p:cNvPr id="9" name="Text 7"/>
          <p:cNvSpPr txBox="1"/>
          <p:nvPr/>
        </p:nvSpPr>
        <p:spPr>
          <a:xfrm>
            <a:off x="3698748" y="2816352"/>
            <a:ext cx="1979676" cy="475488"/>
          </a:xfrm>
          <a:prstGeom prst="rect">
            <a:avLst/>
          </a:prstGeom>
          <a:noFill/>
          <a:ln/>
        </p:spPr>
        <p:txBody>
          <a:bodyPr wrap="square" lIns="0" tIns="0" rIns="0" bIns="0" rtlCol="0" anchor="ctr"/>
          <a:lstStyle/>
          <a:p>
            <a:pPr indent="0" marL="0">
              <a:buNone/>
            </a:pPr>
            <a:r>
              <a:rPr lang="en-US" sz="1500" b="1" dirty="0">
                <a:solidFill>
                  <a:srgbClr val="16243A"/>
                </a:solidFill>
                <a:latin typeface="Cambria" pitchFamily="34" charset="0"/>
                <a:ea typeface="Cambria" pitchFamily="34" charset="-122"/>
                <a:cs typeface="Cambria" pitchFamily="34" charset="-120"/>
              </a:rPr>
              <a:t>ONVIF Profile S</a:t>
            </a:r>
            <a:endParaRPr lang="en-US" sz="1500" dirty="0"/>
          </a:p>
        </p:txBody>
      </p:sp>
      <p:sp>
        <p:nvSpPr>
          <p:cNvPr id="10" name="Text 8"/>
          <p:cNvSpPr txBox="1"/>
          <p:nvPr/>
        </p:nvSpPr>
        <p:spPr>
          <a:xfrm>
            <a:off x="3698748" y="3328416"/>
            <a:ext cx="1979676" cy="1645920"/>
          </a:xfrm>
          <a:prstGeom prst="rect">
            <a:avLst/>
          </a:prstGeom>
          <a:noFill/>
          <a:ln/>
        </p:spPr>
        <p:txBody>
          <a:bodyPr wrap="square" lIns="0" tIns="0" rIns="0" bIns="0" rtlCol="0" anchor="ctr"/>
          <a:lstStyle/>
          <a:p>
            <a:pPr indent="0" marL="0">
              <a:lnSpc>
                <a:spcPts val="1700"/>
              </a:lnSpc>
              <a:buNone/>
            </a:pPr>
            <a:r>
              <a:rPr lang="en-US" sz="1150" dirty="0">
                <a:solidFill>
                  <a:srgbClr val="3C4A5C"/>
                </a:solidFill>
                <a:latin typeface="Calibri" pitchFamily="34" charset="0"/>
                <a:ea typeface="Calibri" pitchFamily="34" charset="-122"/>
                <a:cs typeface="Calibri" pitchFamily="34" charset="-120"/>
              </a:rPr>
              <a:t>Network discovery, then probe and onboard. Disabled by default, because a multicast scan is nobody's idea of a pleasant surprise.</a:t>
            </a:r>
            <a:endParaRPr lang="en-US" sz="1150" dirty="0"/>
          </a:p>
        </p:txBody>
      </p:sp>
      <p:sp>
        <p:nvSpPr>
          <p:cNvPr id="11" name="Shape 9"/>
          <p:cNvSpPr/>
          <p:nvPr/>
        </p:nvSpPr>
        <p:spPr>
          <a:xfrm>
            <a:off x="6208776" y="2542032"/>
            <a:ext cx="2528316" cy="2697480"/>
          </a:xfrm>
          <a:prstGeom prst="roundRect">
            <a:avLst>
              <a:gd name="adj" fmla="val 1808"/>
            </a:avLst>
          </a:prstGeom>
          <a:solidFill>
            <a:srgbClr val="F2F5F9"/>
          </a:solidFill>
          <a:ln w="12700">
            <a:solidFill>
              <a:srgbClr val="F2F5F9"/>
            </a:solidFill>
            <a:prstDash val="solid"/>
          </a:ln>
        </p:spPr>
      </p:sp>
      <p:sp>
        <p:nvSpPr>
          <p:cNvPr id="12" name="Text 10"/>
          <p:cNvSpPr txBox="1"/>
          <p:nvPr/>
        </p:nvSpPr>
        <p:spPr>
          <a:xfrm>
            <a:off x="6483096" y="2816352"/>
            <a:ext cx="1979676" cy="475488"/>
          </a:xfrm>
          <a:prstGeom prst="rect">
            <a:avLst/>
          </a:prstGeom>
          <a:noFill/>
          <a:ln/>
        </p:spPr>
        <p:txBody>
          <a:bodyPr wrap="square" lIns="0" tIns="0" rIns="0" bIns="0" rtlCol="0" anchor="ctr"/>
          <a:lstStyle/>
          <a:p>
            <a:pPr indent="0" marL="0">
              <a:buNone/>
            </a:pPr>
            <a:r>
              <a:rPr lang="en-US" sz="1500" b="1" dirty="0">
                <a:solidFill>
                  <a:srgbClr val="16243A"/>
                </a:solidFill>
                <a:latin typeface="Cambria" pitchFamily="34" charset="0"/>
                <a:ea typeface="Cambria" pitchFamily="34" charset="-122"/>
                <a:cs typeface="Cambria" pitchFamily="34" charset="-120"/>
              </a:rPr>
              <a:t>Manual RTSP</a:t>
            </a:r>
            <a:endParaRPr lang="en-US" sz="1500" dirty="0"/>
          </a:p>
        </p:txBody>
      </p:sp>
      <p:sp>
        <p:nvSpPr>
          <p:cNvPr id="13" name="Text 11"/>
          <p:cNvSpPr txBox="1"/>
          <p:nvPr/>
        </p:nvSpPr>
        <p:spPr>
          <a:xfrm>
            <a:off x="6483096" y="3328416"/>
            <a:ext cx="1979676" cy="1645920"/>
          </a:xfrm>
          <a:prstGeom prst="rect">
            <a:avLst/>
          </a:prstGeom>
          <a:noFill/>
          <a:ln/>
        </p:spPr>
        <p:txBody>
          <a:bodyPr wrap="square" lIns="0" tIns="0" rIns="0" bIns="0" rtlCol="0" anchor="ctr"/>
          <a:lstStyle/>
          <a:p>
            <a:pPr indent="0" marL="0">
              <a:lnSpc>
                <a:spcPts val="1700"/>
              </a:lnSpc>
              <a:buNone/>
            </a:pPr>
            <a:r>
              <a:rPr lang="en-US" sz="1150" dirty="0">
                <a:solidFill>
                  <a:srgbClr val="3C4A5C"/>
                </a:solidFill>
                <a:latin typeface="Calibri" pitchFamily="34" charset="0"/>
                <a:ea typeface="Calibri" pitchFamily="34" charset="-122"/>
                <a:cs typeface="Calibri" pitchFamily="34" charset="-120"/>
              </a:rPr>
              <a:t>Any RTSP device or recorder channel, configured by name and URL. The fallback that works when nothing else does.</a:t>
            </a:r>
            <a:endParaRPr lang="en-US" sz="1150" dirty="0"/>
          </a:p>
        </p:txBody>
      </p:sp>
      <p:sp>
        <p:nvSpPr>
          <p:cNvPr id="14" name="Shape 12"/>
          <p:cNvSpPr/>
          <p:nvPr/>
        </p:nvSpPr>
        <p:spPr>
          <a:xfrm>
            <a:off x="8993124" y="2542032"/>
            <a:ext cx="2528316" cy="2697480"/>
          </a:xfrm>
          <a:prstGeom prst="roundRect">
            <a:avLst>
              <a:gd name="adj" fmla="val 1808"/>
            </a:avLst>
          </a:prstGeom>
          <a:solidFill>
            <a:srgbClr val="F2F5F9"/>
          </a:solidFill>
          <a:ln w="12700">
            <a:solidFill>
              <a:srgbClr val="F2F5F9"/>
            </a:solidFill>
            <a:prstDash val="solid"/>
          </a:ln>
        </p:spPr>
      </p:sp>
      <p:sp>
        <p:nvSpPr>
          <p:cNvPr id="15" name="Text 13"/>
          <p:cNvSpPr txBox="1"/>
          <p:nvPr/>
        </p:nvSpPr>
        <p:spPr>
          <a:xfrm>
            <a:off x="9267444" y="2816352"/>
            <a:ext cx="1979676" cy="475488"/>
          </a:xfrm>
          <a:prstGeom prst="rect">
            <a:avLst/>
          </a:prstGeom>
          <a:noFill/>
          <a:ln/>
        </p:spPr>
        <p:txBody>
          <a:bodyPr wrap="square" lIns="0" tIns="0" rIns="0" bIns="0" rtlCol="0" anchor="ctr"/>
          <a:lstStyle/>
          <a:p>
            <a:pPr indent="0" marL="0">
              <a:buNone/>
            </a:pPr>
            <a:r>
              <a:rPr lang="en-US" sz="1500" b="1" dirty="0">
                <a:solidFill>
                  <a:srgbClr val="16243A"/>
                </a:solidFill>
                <a:latin typeface="Cambria" pitchFamily="34" charset="0"/>
                <a:ea typeface="Cambria" pitchFamily="34" charset="-122"/>
                <a:cs typeface="Cambria" pitchFamily="34" charset="-120"/>
              </a:rPr>
              <a:t>File archive</a:t>
            </a:r>
            <a:endParaRPr lang="en-US" sz="1500" dirty="0"/>
          </a:p>
        </p:txBody>
      </p:sp>
      <p:sp>
        <p:nvSpPr>
          <p:cNvPr id="16" name="Text 14"/>
          <p:cNvSpPr txBox="1"/>
          <p:nvPr/>
        </p:nvSpPr>
        <p:spPr>
          <a:xfrm>
            <a:off x="9267444" y="3328416"/>
            <a:ext cx="1979676" cy="1645920"/>
          </a:xfrm>
          <a:prstGeom prst="rect">
            <a:avLst/>
          </a:prstGeom>
          <a:noFill/>
          <a:ln/>
        </p:spPr>
        <p:txBody>
          <a:bodyPr wrap="square" lIns="0" tIns="0" rIns="0" bIns="0" rtlCol="0" anchor="ctr"/>
          <a:lstStyle/>
          <a:p>
            <a:pPr indent="0" marL="0">
              <a:lnSpc>
                <a:spcPts val="1700"/>
              </a:lnSpc>
              <a:buNone/>
            </a:pPr>
            <a:r>
              <a:rPr lang="en-US" sz="1150" dirty="0">
                <a:solidFill>
                  <a:srgbClr val="3C4A5C"/>
                </a:solidFill>
                <a:latin typeface="Calibri" pitchFamily="34" charset="0"/>
                <a:ea typeface="Calibri" pitchFamily="34" charset="-122"/>
                <a:cs typeface="Calibri" pitchFamily="34" charset="-120"/>
              </a:rPr>
              <a:t>A directory of recorded footage federated as a second, non-network source for replay, training and testing.</a:t>
            </a:r>
            <a:endParaRPr lang="en-US" sz="1150" dirty="0"/>
          </a:p>
        </p:txBody>
      </p:sp>
      <p:sp>
        <p:nvSpPr>
          <p:cNvPr id="17" name="Text 15"/>
          <p:cNvSpPr txBox="1"/>
          <p:nvPr/>
        </p:nvSpPr>
        <p:spPr>
          <a:xfrm>
            <a:off x="640080" y="6291072"/>
            <a:ext cx="9601200" cy="274320"/>
          </a:xfrm>
          <a:prstGeom prst="rect">
            <a:avLst/>
          </a:prstGeom>
          <a:noFill/>
          <a:ln/>
        </p:spPr>
        <p:txBody>
          <a:bodyPr wrap="square" lIns="0" tIns="0" rIns="0" bIns="0" rtlCol="0" anchor="ctr"/>
          <a:lstStyle/>
          <a:p>
            <a:pPr indent="0" marL="0">
              <a:buNone/>
            </a:pPr>
            <a:r>
              <a:rPr lang="en-US" sz="950" dirty="0">
                <a:solidFill>
                  <a:srgbClr val="9AA8B8"/>
                </a:solidFill>
                <a:latin typeface="Calibri" pitchFamily="34" charset="0"/>
                <a:ea typeface="Calibri" pitchFamily="34" charset="-122"/>
                <a:cs typeface="Calibri" pitchFamily="34" charset="-120"/>
              </a:rPr>
              <a:t>Streams are forced over TCP throughout; timing is driven by stream presentation timestamps, never by arrival time.</a:t>
            </a:r>
            <a:endParaRPr lang="en-US" sz="950" dirty="0"/>
          </a:p>
        </p:txBody>
      </p:sp>
      <p:sp>
        <p:nvSpPr>
          <p:cNvPr id="18" name="Text 16"/>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4EE"/>
        </a:solidFill>
      </p:bgPr>
    </p:bg>
    <p:spTree>
      <p:nvGrpSpPr>
        <p:cNvPr id="1" name=""/>
        <p:cNvGrpSpPr/>
        <p:nvPr/>
      </p:nvGrpSpPr>
      <p:grpSpPr>
        <a:xfrm>
          <a:off x="0" y="0"/>
          <a:ext cx="0" cy="0"/>
          <a:chOff x="0" y="0"/>
          <a:chExt cx="0" cy="0"/>
        </a:xfrm>
      </p:grpSpPr>
      <p:sp>
        <p:nvSpPr>
          <p:cNvPr id="2" name="Text 0"/>
          <p:cNvSpPr txBox="1"/>
          <p:nvPr/>
        </p:nvSpPr>
        <p:spPr>
          <a:xfrm>
            <a:off x="822960" y="2286000"/>
            <a:ext cx="1828800" cy="1463040"/>
          </a:xfrm>
          <a:prstGeom prst="rect">
            <a:avLst/>
          </a:prstGeom>
          <a:noFill/>
          <a:ln/>
        </p:spPr>
        <p:txBody>
          <a:bodyPr wrap="square" lIns="0" tIns="0" rIns="0" bIns="0" rtlCol="0" anchor="ctr"/>
          <a:lstStyle/>
          <a:p>
            <a:pPr indent="0" marL="0">
              <a:buNone/>
            </a:pPr>
            <a:r>
              <a:rPr lang="en-US" sz="9600" b="1" dirty="0">
                <a:solidFill>
                  <a:srgbClr val="C2551F"/>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2743200" y="2487168"/>
            <a:ext cx="8503920" cy="777240"/>
          </a:xfrm>
          <a:prstGeom prst="rect">
            <a:avLst/>
          </a:prstGeom>
          <a:noFill/>
          <a:ln/>
        </p:spPr>
        <p:txBody>
          <a:bodyPr wrap="square" lIns="0" tIns="0" rIns="0" bIns="0" rtlCol="0" anchor="ctr"/>
          <a:lstStyle/>
          <a:p>
            <a:pPr indent="0" marL="0">
              <a:buNone/>
            </a:pPr>
            <a:r>
              <a:rPr lang="en-US" sz="4000" b="1" dirty="0">
                <a:solidFill>
                  <a:srgbClr val="16243A"/>
                </a:solidFill>
                <a:latin typeface="Cambria" pitchFamily="34" charset="0"/>
                <a:ea typeface="Cambria" pitchFamily="34" charset="-122"/>
                <a:cs typeface="Cambria" pitchFamily="34" charset="-120"/>
              </a:rPr>
              <a:t>System design</a:t>
            </a:r>
            <a:endParaRPr lang="en-US" sz="4000" dirty="0"/>
          </a:p>
        </p:txBody>
      </p:sp>
      <p:sp>
        <p:nvSpPr>
          <p:cNvPr id="4" name="Text 2"/>
          <p:cNvSpPr txBox="1"/>
          <p:nvPr/>
        </p:nvSpPr>
        <p:spPr>
          <a:xfrm>
            <a:off x="2788920" y="3346704"/>
            <a:ext cx="7863840" cy="731520"/>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The whole platform, band by band, and what moves between them.</a:t>
            </a:r>
            <a:endParaRPr lang="en-US" sz="1450" dirty="0"/>
          </a:p>
        </p:txBody>
      </p:sp>
      <p:sp>
        <p:nvSpPr>
          <p:cNvPr id="5" name="Text 3"/>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HIGH LEVEL DESIGN</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The complete system on one page</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Four bands. Analysis happens at the edge; only structured records cross into the centre. The following slides take each band in turn.</a:t>
            </a:r>
            <a:endParaRPr lang="en-US" sz="1450" dirty="0"/>
          </a:p>
        </p:txBody>
      </p:sp>
      <p:sp>
        <p:nvSpPr>
          <p:cNvPr id="5" name="Shape 3"/>
          <p:cNvSpPr/>
          <p:nvPr/>
        </p:nvSpPr>
        <p:spPr>
          <a:xfrm>
            <a:off x="640080" y="2395728"/>
            <a:ext cx="2423160" cy="2788920"/>
          </a:xfrm>
          <a:prstGeom prst="roundRect">
            <a:avLst>
              <a:gd name="adj" fmla="val 1509"/>
            </a:avLst>
          </a:prstGeom>
          <a:solidFill>
            <a:srgbClr val="F2F5F9"/>
          </a:solidFill>
          <a:ln w="12700">
            <a:solidFill>
              <a:srgbClr val="F2F5F9"/>
            </a:solidFill>
            <a:prstDash val="solid"/>
          </a:ln>
        </p:spPr>
      </p:sp>
      <p:sp>
        <p:nvSpPr>
          <p:cNvPr id="6" name="Text 4"/>
          <p:cNvSpPr txBox="1"/>
          <p:nvPr/>
        </p:nvSpPr>
        <p:spPr>
          <a:xfrm>
            <a:off x="786384" y="2542032"/>
            <a:ext cx="2130552" cy="365760"/>
          </a:xfrm>
          <a:prstGeom prst="rect">
            <a:avLst/>
          </a:prstGeom>
          <a:noFill/>
          <a:ln/>
        </p:spPr>
        <p:txBody>
          <a:bodyPr wrap="square" lIns="0" tIns="0" rIns="0" bIns="0" rtlCol="0" anchor="ctr"/>
          <a:lstStyle/>
          <a:p>
            <a:pPr algn="ctr" indent="0" marL="0">
              <a:buNone/>
            </a:pPr>
            <a:r>
              <a:rPr lang="en-US" sz="1050" b="1" spc="140" kern="0" dirty="0">
                <a:solidFill>
                  <a:srgbClr val="C2551F"/>
                </a:solidFill>
                <a:latin typeface="Calibri" pitchFamily="34" charset="0"/>
                <a:ea typeface="Calibri" pitchFamily="34" charset="-122"/>
                <a:cs typeface="Calibri" pitchFamily="34" charset="-120"/>
              </a:rPr>
              <a:t>BAND 1 · DEPARTMENTS</a:t>
            </a:r>
            <a:endParaRPr lang="en-US" sz="1050" dirty="0"/>
          </a:p>
        </p:txBody>
      </p:sp>
      <p:sp>
        <p:nvSpPr>
          <p:cNvPr id="7" name="Shape 5"/>
          <p:cNvSpPr/>
          <p:nvPr/>
        </p:nvSpPr>
        <p:spPr>
          <a:xfrm>
            <a:off x="804672" y="2999232"/>
            <a:ext cx="2093976" cy="347472"/>
          </a:xfrm>
          <a:prstGeom prst="roundRect">
            <a:avLst>
              <a:gd name="adj" fmla="val 9211"/>
            </a:avLst>
          </a:prstGeom>
          <a:solidFill>
            <a:srgbClr val="FFFFFF"/>
          </a:solidFill>
          <a:ln w="12700">
            <a:solidFill>
              <a:srgbClr val="DCE3EB"/>
            </a:solidFill>
            <a:prstDash val="solid"/>
          </a:ln>
        </p:spPr>
      </p:sp>
      <p:sp>
        <p:nvSpPr>
          <p:cNvPr id="8" name="Text 6"/>
          <p:cNvSpPr txBox="1"/>
          <p:nvPr/>
        </p:nvSpPr>
        <p:spPr>
          <a:xfrm>
            <a:off x="868680" y="2999232"/>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Police DVR / NVR</a:t>
            </a:r>
            <a:endParaRPr lang="en-US" sz="900" dirty="0"/>
          </a:p>
        </p:txBody>
      </p:sp>
      <p:sp>
        <p:nvSpPr>
          <p:cNvPr id="9" name="Shape 7"/>
          <p:cNvSpPr/>
          <p:nvPr/>
        </p:nvSpPr>
        <p:spPr>
          <a:xfrm>
            <a:off x="804672" y="3447288"/>
            <a:ext cx="2093976" cy="347472"/>
          </a:xfrm>
          <a:prstGeom prst="roundRect">
            <a:avLst>
              <a:gd name="adj" fmla="val 9211"/>
            </a:avLst>
          </a:prstGeom>
          <a:solidFill>
            <a:srgbClr val="FFFFFF"/>
          </a:solidFill>
          <a:ln w="12700">
            <a:solidFill>
              <a:srgbClr val="DCE3EB"/>
            </a:solidFill>
            <a:prstDash val="solid"/>
          </a:ln>
        </p:spPr>
      </p:sp>
      <p:sp>
        <p:nvSpPr>
          <p:cNvPr id="10" name="Text 8"/>
          <p:cNvSpPr txBox="1"/>
          <p:nvPr/>
        </p:nvSpPr>
        <p:spPr>
          <a:xfrm>
            <a:off x="868680" y="3447288"/>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Municipal VMS</a:t>
            </a:r>
            <a:endParaRPr lang="en-US" sz="900" dirty="0"/>
          </a:p>
        </p:txBody>
      </p:sp>
      <p:sp>
        <p:nvSpPr>
          <p:cNvPr id="11" name="Shape 9"/>
          <p:cNvSpPr/>
          <p:nvPr/>
        </p:nvSpPr>
        <p:spPr>
          <a:xfrm>
            <a:off x="804672" y="3895344"/>
            <a:ext cx="2093976" cy="347472"/>
          </a:xfrm>
          <a:prstGeom prst="roundRect">
            <a:avLst>
              <a:gd name="adj" fmla="val 9211"/>
            </a:avLst>
          </a:prstGeom>
          <a:solidFill>
            <a:srgbClr val="FFFFFF"/>
          </a:solidFill>
          <a:ln w="12700">
            <a:solidFill>
              <a:srgbClr val="DCE3EB"/>
            </a:solidFill>
            <a:prstDash val="solid"/>
          </a:ln>
        </p:spPr>
      </p:sp>
      <p:sp>
        <p:nvSpPr>
          <p:cNvPr id="12" name="Text 10"/>
          <p:cNvSpPr txBox="1"/>
          <p:nvPr/>
        </p:nvSpPr>
        <p:spPr>
          <a:xfrm>
            <a:off x="868680" y="3895344"/>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Transport cameras</a:t>
            </a:r>
            <a:endParaRPr lang="en-US" sz="900" dirty="0"/>
          </a:p>
        </p:txBody>
      </p:sp>
      <p:sp>
        <p:nvSpPr>
          <p:cNvPr id="13" name="Shape 11"/>
          <p:cNvSpPr/>
          <p:nvPr/>
        </p:nvSpPr>
        <p:spPr>
          <a:xfrm>
            <a:off x="804672" y="4343400"/>
            <a:ext cx="2093976" cy="347472"/>
          </a:xfrm>
          <a:prstGeom prst="roundRect">
            <a:avLst>
              <a:gd name="adj" fmla="val 9211"/>
            </a:avLst>
          </a:prstGeom>
          <a:solidFill>
            <a:srgbClr val="FFFFFF"/>
          </a:solidFill>
          <a:ln w="12700">
            <a:solidFill>
              <a:srgbClr val="DCE3EB"/>
            </a:solidFill>
            <a:prstDash val="solid"/>
          </a:ln>
        </p:spPr>
      </p:sp>
      <p:sp>
        <p:nvSpPr>
          <p:cNvPr id="14" name="Text 12"/>
          <p:cNvSpPr txBox="1"/>
          <p:nvPr/>
        </p:nvSpPr>
        <p:spPr>
          <a:xfrm>
            <a:off x="868680" y="4343400"/>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ONVIF IP cameras</a:t>
            </a:r>
            <a:endParaRPr lang="en-US" sz="900" dirty="0"/>
          </a:p>
        </p:txBody>
      </p:sp>
      <p:sp>
        <p:nvSpPr>
          <p:cNvPr id="15" name="Shape 13"/>
          <p:cNvSpPr/>
          <p:nvPr/>
        </p:nvSpPr>
        <p:spPr>
          <a:xfrm>
            <a:off x="804672" y="4791456"/>
            <a:ext cx="2093976" cy="347472"/>
          </a:xfrm>
          <a:prstGeom prst="roundRect">
            <a:avLst>
              <a:gd name="adj" fmla="val 9211"/>
            </a:avLst>
          </a:prstGeom>
          <a:solidFill>
            <a:srgbClr val="FFFFFF"/>
          </a:solidFill>
          <a:ln w="12700">
            <a:solidFill>
              <a:srgbClr val="DCE3EB"/>
            </a:solidFill>
            <a:prstDash val="solid"/>
          </a:ln>
        </p:spPr>
      </p:sp>
      <p:sp>
        <p:nvSpPr>
          <p:cNvPr id="16" name="Text 14"/>
          <p:cNvSpPr txBox="1"/>
          <p:nvPr/>
        </p:nvSpPr>
        <p:spPr>
          <a:xfrm>
            <a:off x="868680" y="4791456"/>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Recorded archive</a:t>
            </a:r>
            <a:endParaRPr lang="en-US" sz="900" dirty="0"/>
          </a:p>
        </p:txBody>
      </p:sp>
      <p:sp>
        <p:nvSpPr>
          <p:cNvPr id="17" name="Shape 15"/>
          <p:cNvSpPr/>
          <p:nvPr/>
        </p:nvSpPr>
        <p:spPr>
          <a:xfrm>
            <a:off x="3118104" y="3790188"/>
            <a:ext cx="256032" cy="0"/>
          </a:xfrm>
          <a:prstGeom prst="line">
            <a:avLst/>
          </a:prstGeom>
          <a:noFill/>
          <a:ln w="22225">
            <a:solidFill>
              <a:srgbClr val="C2551F"/>
            </a:solidFill>
            <a:prstDash val="solid"/>
            <a:tailEnd type="triangle"/>
          </a:ln>
        </p:spPr>
      </p:sp>
      <p:sp>
        <p:nvSpPr>
          <p:cNvPr id="18" name="Shape 16"/>
          <p:cNvSpPr/>
          <p:nvPr/>
        </p:nvSpPr>
        <p:spPr>
          <a:xfrm>
            <a:off x="3429000" y="2395728"/>
            <a:ext cx="2423160" cy="2788920"/>
          </a:xfrm>
          <a:prstGeom prst="roundRect">
            <a:avLst>
              <a:gd name="adj" fmla="val 1509"/>
            </a:avLst>
          </a:prstGeom>
          <a:solidFill>
            <a:srgbClr val="F2F5F9"/>
          </a:solidFill>
          <a:ln w="12700">
            <a:solidFill>
              <a:srgbClr val="F2F5F9"/>
            </a:solidFill>
            <a:prstDash val="solid"/>
          </a:ln>
        </p:spPr>
      </p:sp>
      <p:sp>
        <p:nvSpPr>
          <p:cNvPr id="19" name="Text 17"/>
          <p:cNvSpPr txBox="1"/>
          <p:nvPr/>
        </p:nvSpPr>
        <p:spPr>
          <a:xfrm>
            <a:off x="3575304" y="2542032"/>
            <a:ext cx="2130552" cy="365760"/>
          </a:xfrm>
          <a:prstGeom prst="rect">
            <a:avLst/>
          </a:prstGeom>
          <a:noFill/>
          <a:ln/>
        </p:spPr>
        <p:txBody>
          <a:bodyPr wrap="square" lIns="0" tIns="0" rIns="0" bIns="0" rtlCol="0" anchor="ctr"/>
          <a:lstStyle/>
          <a:p>
            <a:pPr algn="ctr" indent="0" marL="0">
              <a:buNone/>
            </a:pPr>
            <a:r>
              <a:rPr lang="en-US" sz="1050" b="1" spc="140" kern="0" dirty="0">
                <a:solidFill>
                  <a:srgbClr val="C2551F"/>
                </a:solidFill>
                <a:latin typeface="Calibri" pitchFamily="34" charset="0"/>
                <a:ea typeface="Calibri" pitchFamily="34" charset="-122"/>
                <a:cs typeface="Calibri" pitchFamily="34" charset="-120"/>
              </a:rPr>
              <a:t>BAND 2 · ADAPTERS</a:t>
            </a:r>
            <a:endParaRPr lang="en-US" sz="1050" dirty="0"/>
          </a:p>
        </p:txBody>
      </p:sp>
      <p:sp>
        <p:nvSpPr>
          <p:cNvPr id="20" name="Shape 18"/>
          <p:cNvSpPr/>
          <p:nvPr/>
        </p:nvSpPr>
        <p:spPr>
          <a:xfrm>
            <a:off x="3593592" y="2999232"/>
            <a:ext cx="2093976" cy="347472"/>
          </a:xfrm>
          <a:prstGeom prst="roundRect">
            <a:avLst>
              <a:gd name="adj" fmla="val 9211"/>
            </a:avLst>
          </a:prstGeom>
          <a:solidFill>
            <a:srgbClr val="FFFFFF"/>
          </a:solidFill>
          <a:ln w="12700">
            <a:solidFill>
              <a:srgbClr val="DCE3EB"/>
            </a:solidFill>
            <a:prstDash val="solid"/>
          </a:ln>
        </p:spPr>
      </p:sp>
      <p:sp>
        <p:nvSpPr>
          <p:cNvPr id="21" name="Text 19"/>
          <p:cNvSpPr txBox="1"/>
          <p:nvPr/>
        </p:nvSpPr>
        <p:spPr>
          <a:xfrm>
            <a:off x="3657600" y="2999232"/>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State grid</a:t>
            </a:r>
            <a:endParaRPr lang="en-US" sz="900" dirty="0"/>
          </a:p>
        </p:txBody>
      </p:sp>
      <p:sp>
        <p:nvSpPr>
          <p:cNvPr id="22" name="Shape 20"/>
          <p:cNvSpPr/>
          <p:nvPr/>
        </p:nvSpPr>
        <p:spPr>
          <a:xfrm>
            <a:off x="3593592" y="3447288"/>
            <a:ext cx="2093976" cy="347472"/>
          </a:xfrm>
          <a:prstGeom prst="roundRect">
            <a:avLst>
              <a:gd name="adj" fmla="val 9211"/>
            </a:avLst>
          </a:prstGeom>
          <a:solidFill>
            <a:srgbClr val="FFFFFF"/>
          </a:solidFill>
          <a:ln w="12700">
            <a:solidFill>
              <a:srgbClr val="DCE3EB"/>
            </a:solidFill>
            <a:prstDash val="solid"/>
          </a:ln>
        </p:spPr>
      </p:sp>
      <p:sp>
        <p:nvSpPr>
          <p:cNvPr id="23" name="Text 21"/>
          <p:cNvSpPr txBox="1"/>
          <p:nvPr/>
        </p:nvSpPr>
        <p:spPr>
          <a:xfrm>
            <a:off x="3657600" y="3447288"/>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ONVIF discovery</a:t>
            </a:r>
            <a:endParaRPr lang="en-US" sz="900" dirty="0"/>
          </a:p>
        </p:txBody>
      </p:sp>
      <p:sp>
        <p:nvSpPr>
          <p:cNvPr id="24" name="Shape 22"/>
          <p:cNvSpPr/>
          <p:nvPr/>
        </p:nvSpPr>
        <p:spPr>
          <a:xfrm>
            <a:off x="3593592" y="3895344"/>
            <a:ext cx="2093976" cy="347472"/>
          </a:xfrm>
          <a:prstGeom prst="roundRect">
            <a:avLst>
              <a:gd name="adj" fmla="val 9211"/>
            </a:avLst>
          </a:prstGeom>
          <a:solidFill>
            <a:srgbClr val="FFFFFF"/>
          </a:solidFill>
          <a:ln w="12700">
            <a:solidFill>
              <a:srgbClr val="DCE3EB"/>
            </a:solidFill>
            <a:prstDash val="solid"/>
          </a:ln>
        </p:spPr>
      </p:sp>
      <p:sp>
        <p:nvSpPr>
          <p:cNvPr id="25" name="Text 23"/>
          <p:cNvSpPr txBox="1"/>
          <p:nvPr/>
        </p:nvSpPr>
        <p:spPr>
          <a:xfrm>
            <a:off x="3657600" y="3895344"/>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Manual RTSP</a:t>
            </a:r>
            <a:endParaRPr lang="en-US" sz="900" dirty="0"/>
          </a:p>
        </p:txBody>
      </p:sp>
      <p:sp>
        <p:nvSpPr>
          <p:cNvPr id="26" name="Shape 24"/>
          <p:cNvSpPr/>
          <p:nvPr/>
        </p:nvSpPr>
        <p:spPr>
          <a:xfrm>
            <a:off x="3593592" y="4343400"/>
            <a:ext cx="2093976" cy="347472"/>
          </a:xfrm>
          <a:prstGeom prst="roundRect">
            <a:avLst>
              <a:gd name="adj" fmla="val 9211"/>
            </a:avLst>
          </a:prstGeom>
          <a:solidFill>
            <a:srgbClr val="FFFFFF"/>
          </a:solidFill>
          <a:ln w="12700">
            <a:solidFill>
              <a:srgbClr val="DCE3EB"/>
            </a:solidFill>
            <a:prstDash val="solid"/>
          </a:ln>
        </p:spPr>
      </p:sp>
      <p:sp>
        <p:nvSpPr>
          <p:cNvPr id="27" name="Text 25"/>
          <p:cNvSpPr txBox="1"/>
          <p:nvPr/>
        </p:nvSpPr>
        <p:spPr>
          <a:xfrm>
            <a:off x="3657600" y="4343400"/>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File archive</a:t>
            </a:r>
            <a:endParaRPr lang="en-US" sz="900" dirty="0"/>
          </a:p>
        </p:txBody>
      </p:sp>
      <p:sp>
        <p:nvSpPr>
          <p:cNvPr id="28" name="Shape 26"/>
          <p:cNvSpPr/>
          <p:nvPr/>
        </p:nvSpPr>
        <p:spPr>
          <a:xfrm>
            <a:off x="5907024" y="3790188"/>
            <a:ext cx="256032" cy="0"/>
          </a:xfrm>
          <a:prstGeom prst="line">
            <a:avLst/>
          </a:prstGeom>
          <a:noFill/>
          <a:ln w="22225">
            <a:solidFill>
              <a:srgbClr val="C2551F"/>
            </a:solidFill>
            <a:prstDash val="solid"/>
            <a:tailEnd type="triangle"/>
          </a:ln>
        </p:spPr>
      </p:sp>
      <p:sp>
        <p:nvSpPr>
          <p:cNvPr id="29" name="Shape 27"/>
          <p:cNvSpPr/>
          <p:nvPr/>
        </p:nvSpPr>
        <p:spPr>
          <a:xfrm>
            <a:off x="6217920" y="2395728"/>
            <a:ext cx="2423160" cy="2788920"/>
          </a:xfrm>
          <a:prstGeom prst="roundRect">
            <a:avLst>
              <a:gd name="adj" fmla="val 1509"/>
            </a:avLst>
          </a:prstGeom>
          <a:solidFill>
            <a:srgbClr val="FBF4EE"/>
          </a:solidFill>
          <a:ln w="12700">
            <a:solidFill>
              <a:srgbClr val="FBF4EE"/>
            </a:solidFill>
            <a:prstDash val="solid"/>
          </a:ln>
        </p:spPr>
      </p:sp>
      <p:sp>
        <p:nvSpPr>
          <p:cNvPr id="30" name="Text 28"/>
          <p:cNvSpPr txBox="1"/>
          <p:nvPr/>
        </p:nvSpPr>
        <p:spPr>
          <a:xfrm>
            <a:off x="6364224" y="2542032"/>
            <a:ext cx="2130552" cy="365760"/>
          </a:xfrm>
          <a:prstGeom prst="rect">
            <a:avLst/>
          </a:prstGeom>
          <a:noFill/>
          <a:ln/>
        </p:spPr>
        <p:txBody>
          <a:bodyPr wrap="square" lIns="0" tIns="0" rIns="0" bIns="0" rtlCol="0" anchor="ctr"/>
          <a:lstStyle/>
          <a:p>
            <a:pPr algn="ctr" indent="0" marL="0">
              <a:buNone/>
            </a:pPr>
            <a:r>
              <a:rPr lang="en-US" sz="1050" b="1" spc="140" kern="0" dirty="0">
                <a:solidFill>
                  <a:srgbClr val="C2551F"/>
                </a:solidFill>
                <a:latin typeface="Calibri" pitchFamily="34" charset="0"/>
                <a:ea typeface="Calibri" pitchFamily="34" charset="-122"/>
                <a:cs typeface="Calibri" pitchFamily="34" charset="-120"/>
              </a:rPr>
              <a:t>BAND 3 · EDGE NODE</a:t>
            </a:r>
            <a:endParaRPr lang="en-US" sz="1050" dirty="0"/>
          </a:p>
        </p:txBody>
      </p:sp>
      <p:sp>
        <p:nvSpPr>
          <p:cNvPr id="31" name="Shape 29"/>
          <p:cNvSpPr/>
          <p:nvPr/>
        </p:nvSpPr>
        <p:spPr>
          <a:xfrm>
            <a:off x="6382512" y="2999232"/>
            <a:ext cx="2093976" cy="347472"/>
          </a:xfrm>
          <a:prstGeom prst="roundRect">
            <a:avLst>
              <a:gd name="adj" fmla="val 9211"/>
            </a:avLst>
          </a:prstGeom>
          <a:solidFill>
            <a:srgbClr val="FFFFFF"/>
          </a:solidFill>
          <a:ln w="12700">
            <a:solidFill>
              <a:srgbClr val="E8CBB4"/>
            </a:solidFill>
            <a:prstDash val="solid"/>
          </a:ln>
        </p:spPr>
      </p:sp>
      <p:sp>
        <p:nvSpPr>
          <p:cNvPr id="32" name="Text 30"/>
          <p:cNvSpPr txBox="1"/>
          <p:nvPr/>
        </p:nvSpPr>
        <p:spPr>
          <a:xfrm>
            <a:off x="6446520" y="2999232"/>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Camera workers</a:t>
            </a:r>
            <a:endParaRPr lang="en-US" sz="900" dirty="0"/>
          </a:p>
        </p:txBody>
      </p:sp>
      <p:sp>
        <p:nvSpPr>
          <p:cNvPr id="33" name="Shape 31"/>
          <p:cNvSpPr/>
          <p:nvPr/>
        </p:nvSpPr>
        <p:spPr>
          <a:xfrm>
            <a:off x="6382512" y="3447288"/>
            <a:ext cx="2093976" cy="347472"/>
          </a:xfrm>
          <a:prstGeom prst="roundRect">
            <a:avLst>
              <a:gd name="adj" fmla="val 9211"/>
            </a:avLst>
          </a:prstGeom>
          <a:solidFill>
            <a:srgbClr val="FFFFFF"/>
          </a:solidFill>
          <a:ln w="12700">
            <a:solidFill>
              <a:srgbClr val="E8CBB4"/>
            </a:solidFill>
            <a:prstDash val="solid"/>
          </a:ln>
        </p:spPr>
      </p:sp>
      <p:sp>
        <p:nvSpPr>
          <p:cNvPr id="34" name="Text 32"/>
          <p:cNvSpPr txBox="1"/>
          <p:nvPr/>
        </p:nvSpPr>
        <p:spPr>
          <a:xfrm>
            <a:off x="6446520" y="3447288"/>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Plate cascade</a:t>
            </a:r>
            <a:endParaRPr lang="en-US" sz="900" dirty="0"/>
          </a:p>
        </p:txBody>
      </p:sp>
      <p:sp>
        <p:nvSpPr>
          <p:cNvPr id="35" name="Shape 33"/>
          <p:cNvSpPr/>
          <p:nvPr/>
        </p:nvSpPr>
        <p:spPr>
          <a:xfrm>
            <a:off x="6382512" y="3895344"/>
            <a:ext cx="2093976" cy="347472"/>
          </a:xfrm>
          <a:prstGeom prst="roundRect">
            <a:avLst>
              <a:gd name="adj" fmla="val 9211"/>
            </a:avLst>
          </a:prstGeom>
          <a:solidFill>
            <a:srgbClr val="FFFFFF"/>
          </a:solidFill>
          <a:ln w="12700">
            <a:solidFill>
              <a:srgbClr val="E8CBB4"/>
            </a:solidFill>
            <a:prstDash val="solid"/>
          </a:ln>
        </p:spPr>
      </p:sp>
      <p:sp>
        <p:nvSpPr>
          <p:cNvPr id="36" name="Text 34"/>
          <p:cNvSpPr txBox="1"/>
          <p:nvPr/>
        </p:nvSpPr>
        <p:spPr>
          <a:xfrm>
            <a:off x="6446520" y="3895344"/>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Face engine</a:t>
            </a:r>
            <a:endParaRPr lang="en-US" sz="900" dirty="0"/>
          </a:p>
        </p:txBody>
      </p:sp>
      <p:sp>
        <p:nvSpPr>
          <p:cNvPr id="37" name="Shape 35"/>
          <p:cNvSpPr/>
          <p:nvPr/>
        </p:nvSpPr>
        <p:spPr>
          <a:xfrm>
            <a:off x="6382512" y="4343400"/>
            <a:ext cx="2093976" cy="347472"/>
          </a:xfrm>
          <a:prstGeom prst="roundRect">
            <a:avLst>
              <a:gd name="adj" fmla="val 9211"/>
            </a:avLst>
          </a:prstGeom>
          <a:solidFill>
            <a:srgbClr val="FFFFFF"/>
          </a:solidFill>
          <a:ln w="12700">
            <a:solidFill>
              <a:srgbClr val="E8CBB4"/>
            </a:solidFill>
            <a:prstDash val="solid"/>
          </a:ln>
        </p:spPr>
      </p:sp>
      <p:sp>
        <p:nvSpPr>
          <p:cNvPr id="38" name="Text 36"/>
          <p:cNvSpPr txBox="1"/>
          <p:nvPr/>
        </p:nvSpPr>
        <p:spPr>
          <a:xfrm>
            <a:off x="6446520" y="4343400"/>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Watchlist match</a:t>
            </a:r>
            <a:endParaRPr lang="en-US" sz="900" dirty="0"/>
          </a:p>
        </p:txBody>
      </p:sp>
      <p:sp>
        <p:nvSpPr>
          <p:cNvPr id="39" name="Shape 37"/>
          <p:cNvSpPr/>
          <p:nvPr/>
        </p:nvSpPr>
        <p:spPr>
          <a:xfrm>
            <a:off x="6382512" y="4791456"/>
            <a:ext cx="2093976" cy="347472"/>
          </a:xfrm>
          <a:prstGeom prst="roundRect">
            <a:avLst>
              <a:gd name="adj" fmla="val 9211"/>
            </a:avLst>
          </a:prstGeom>
          <a:solidFill>
            <a:srgbClr val="FFFFFF"/>
          </a:solidFill>
          <a:ln w="12700">
            <a:solidFill>
              <a:srgbClr val="E8CBB4"/>
            </a:solidFill>
            <a:prstDash val="solid"/>
          </a:ln>
        </p:spPr>
      </p:sp>
      <p:sp>
        <p:nvSpPr>
          <p:cNvPr id="40" name="Text 38"/>
          <p:cNvSpPr txBox="1"/>
          <p:nvPr/>
        </p:nvSpPr>
        <p:spPr>
          <a:xfrm>
            <a:off x="6446520" y="4791456"/>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Offline spool</a:t>
            </a:r>
            <a:endParaRPr lang="en-US" sz="900" dirty="0"/>
          </a:p>
        </p:txBody>
      </p:sp>
      <p:sp>
        <p:nvSpPr>
          <p:cNvPr id="41" name="Shape 39"/>
          <p:cNvSpPr/>
          <p:nvPr/>
        </p:nvSpPr>
        <p:spPr>
          <a:xfrm>
            <a:off x="8695944" y="3790188"/>
            <a:ext cx="256032" cy="0"/>
          </a:xfrm>
          <a:prstGeom prst="line">
            <a:avLst/>
          </a:prstGeom>
          <a:noFill/>
          <a:ln w="22225">
            <a:solidFill>
              <a:srgbClr val="C2551F"/>
            </a:solidFill>
            <a:prstDash val="solid"/>
            <a:tailEnd type="triangle"/>
          </a:ln>
        </p:spPr>
      </p:sp>
      <p:sp>
        <p:nvSpPr>
          <p:cNvPr id="42" name="Shape 40"/>
          <p:cNvSpPr/>
          <p:nvPr/>
        </p:nvSpPr>
        <p:spPr>
          <a:xfrm>
            <a:off x="9006840" y="2395728"/>
            <a:ext cx="2423160" cy="2788920"/>
          </a:xfrm>
          <a:prstGeom prst="roundRect">
            <a:avLst>
              <a:gd name="adj" fmla="val 1509"/>
            </a:avLst>
          </a:prstGeom>
          <a:solidFill>
            <a:srgbClr val="F2F5F9"/>
          </a:solidFill>
          <a:ln w="12700">
            <a:solidFill>
              <a:srgbClr val="F2F5F9"/>
            </a:solidFill>
            <a:prstDash val="solid"/>
          </a:ln>
        </p:spPr>
      </p:sp>
      <p:sp>
        <p:nvSpPr>
          <p:cNvPr id="43" name="Text 41"/>
          <p:cNvSpPr txBox="1"/>
          <p:nvPr/>
        </p:nvSpPr>
        <p:spPr>
          <a:xfrm>
            <a:off x="9153144" y="2542032"/>
            <a:ext cx="2130552" cy="365760"/>
          </a:xfrm>
          <a:prstGeom prst="rect">
            <a:avLst/>
          </a:prstGeom>
          <a:noFill/>
          <a:ln/>
        </p:spPr>
        <p:txBody>
          <a:bodyPr wrap="square" lIns="0" tIns="0" rIns="0" bIns="0" rtlCol="0" anchor="ctr"/>
          <a:lstStyle/>
          <a:p>
            <a:pPr algn="ctr" indent="0" marL="0">
              <a:buNone/>
            </a:pPr>
            <a:r>
              <a:rPr lang="en-US" sz="1050" b="1" spc="140" kern="0" dirty="0">
                <a:solidFill>
                  <a:srgbClr val="C2551F"/>
                </a:solidFill>
                <a:latin typeface="Calibri" pitchFamily="34" charset="0"/>
                <a:ea typeface="Calibri" pitchFamily="34" charset="-122"/>
                <a:cs typeface="Calibri" pitchFamily="34" charset="-120"/>
              </a:rPr>
              <a:t>BAND 4 · CENTRAL</a:t>
            </a:r>
            <a:endParaRPr lang="en-US" sz="1050" dirty="0"/>
          </a:p>
        </p:txBody>
      </p:sp>
      <p:sp>
        <p:nvSpPr>
          <p:cNvPr id="44" name="Shape 42"/>
          <p:cNvSpPr/>
          <p:nvPr/>
        </p:nvSpPr>
        <p:spPr>
          <a:xfrm>
            <a:off x="9171432" y="2999232"/>
            <a:ext cx="2093976" cy="347472"/>
          </a:xfrm>
          <a:prstGeom prst="roundRect">
            <a:avLst>
              <a:gd name="adj" fmla="val 9211"/>
            </a:avLst>
          </a:prstGeom>
          <a:solidFill>
            <a:srgbClr val="FFFFFF"/>
          </a:solidFill>
          <a:ln w="12700">
            <a:solidFill>
              <a:srgbClr val="DCE3EB"/>
            </a:solidFill>
            <a:prstDash val="solid"/>
          </a:ln>
        </p:spPr>
      </p:sp>
      <p:sp>
        <p:nvSpPr>
          <p:cNvPr id="45" name="Text 43"/>
          <p:cNvSpPr txBox="1"/>
          <p:nvPr/>
        </p:nvSpPr>
        <p:spPr>
          <a:xfrm>
            <a:off x="9235440" y="2999232"/>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Access + audit gate</a:t>
            </a:r>
            <a:endParaRPr lang="en-US" sz="900" dirty="0"/>
          </a:p>
        </p:txBody>
      </p:sp>
      <p:sp>
        <p:nvSpPr>
          <p:cNvPr id="46" name="Shape 44"/>
          <p:cNvSpPr/>
          <p:nvPr/>
        </p:nvSpPr>
        <p:spPr>
          <a:xfrm>
            <a:off x="9171432" y="3447288"/>
            <a:ext cx="2093976" cy="347472"/>
          </a:xfrm>
          <a:prstGeom prst="roundRect">
            <a:avLst>
              <a:gd name="adj" fmla="val 9211"/>
            </a:avLst>
          </a:prstGeom>
          <a:solidFill>
            <a:srgbClr val="FFFFFF"/>
          </a:solidFill>
          <a:ln w="12700">
            <a:solidFill>
              <a:srgbClr val="DCE3EB"/>
            </a:solidFill>
            <a:prstDash val="solid"/>
          </a:ln>
        </p:spPr>
      </p:sp>
      <p:sp>
        <p:nvSpPr>
          <p:cNvPr id="47" name="Text 45"/>
          <p:cNvSpPr txBox="1"/>
          <p:nvPr/>
        </p:nvSpPr>
        <p:spPr>
          <a:xfrm>
            <a:off x="9235440" y="3447288"/>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Metadata index</a:t>
            </a:r>
            <a:endParaRPr lang="en-US" sz="900" dirty="0"/>
          </a:p>
        </p:txBody>
      </p:sp>
      <p:sp>
        <p:nvSpPr>
          <p:cNvPr id="48" name="Shape 46"/>
          <p:cNvSpPr/>
          <p:nvPr/>
        </p:nvSpPr>
        <p:spPr>
          <a:xfrm>
            <a:off x="9171432" y="3895344"/>
            <a:ext cx="2093976" cy="347472"/>
          </a:xfrm>
          <a:prstGeom prst="roundRect">
            <a:avLst>
              <a:gd name="adj" fmla="val 9211"/>
            </a:avLst>
          </a:prstGeom>
          <a:solidFill>
            <a:srgbClr val="FFFFFF"/>
          </a:solidFill>
          <a:ln w="12700">
            <a:solidFill>
              <a:srgbClr val="DCE3EB"/>
            </a:solidFill>
            <a:prstDash val="solid"/>
          </a:ln>
        </p:spPr>
      </p:sp>
      <p:sp>
        <p:nvSpPr>
          <p:cNvPr id="49" name="Text 47"/>
          <p:cNvSpPr txBox="1"/>
          <p:nvPr/>
        </p:nvSpPr>
        <p:spPr>
          <a:xfrm>
            <a:off x="9235440" y="3895344"/>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Trace + validation</a:t>
            </a:r>
            <a:endParaRPr lang="en-US" sz="900" dirty="0"/>
          </a:p>
        </p:txBody>
      </p:sp>
      <p:sp>
        <p:nvSpPr>
          <p:cNvPr id="50" name="Shape 48"/>
          <p:cNvSpPr/>
          <p:nvPr/>
        </p:nvSpPr>
        <p:spPr>
          <a:xfrm>
            <a:off x="9171432" y="4343400"/>
            <a:ext cx="2093976" cy="347472"/>
          </a:xfrm>
          <a:prstGeom prst="roundRect">
            <a:avLst>
              <a:gd name="adj" fmla="val 9211"/>
            </a:avLst>
          </a:prstGeom>
          <a:solidFill>
            <a:srgbClr val="FFFFFF"/>
          </a:solidFill>
          <a:ln w="12700">
            <a:solidFill>
              <a:srgbClr val="DCE3EB"/>
            </a:solidFill>
            <a:prstDash val="solid"/>
          </a:ln>
        </p:spPr>
      </p:sp>
      <p:sp>
        <p:nvSpPr>
          <p:cNvPr id="51" name="Text 49"/>
          <p:cNvSpPr txBox="1"/>
          <p:nvPr/>
        </p:nvSpPr>
        <p:spPr>
          <a:xfrm>
            <a:off x="9235440" y="4343400"/>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Alerts + evidence</a:t>
            </a:r>
            <a:endParaRPr lang="en-US" sz="900" dirty="0"/>
          </a:p>
        </p:txBody>
      </p:sp>
      <p:sp>
        <p:nvSpPr>
          <p:cNvPr id="52" name="Shape 50"/>
          <p:cNvSpPr/>
          <p:nvPr/>
        </p:nvSpPr>
        <p:spPr>
          <a:xfrm>
            <a:off x="9171432" y="4791456"/>
            <a:ext cx="2093976" cy="347472"/>
          </a:xfrm>
          <a:prstGeom prst="roundRect">
            <a:avLst>
              <a:gd name="adj" fmla="val 9211"/>
            </a:avLst>
          </a:prstGeom>
          <a:solidFill>
            <a:srgbClr val="FFFFFF"/>
          </a:solidFill>
          <a:ln w="12700">
            <a:solidFill>
              <a:srgbClr val="DCE3EB"/>
            </a:solidFill>
            <a:prstDash val="solid"/>
          </a:ln>
        </p:spPr>
      </p:sp>
      <p:sp>
        <p:nvSpPr>
          <p:cNvPr id="53" name="Text 51"/>
          <p:cNvSpPr txBox="1"/>
          <p:nvPr/>
        </p:nvSpPr>
        <p:spPr>
          <a:xfrm>
            <a:off x="9235440" y="4791456"/>
            <a:ext cx="1965960" cy="347472"/>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Retention</a:t>
            </a:r>
            <a:endParaRPr lang="en-US" sz="900" dirty="0"/>
          </a:p>
        </p:txBody>
      </p:sp>
      <p:sp>
        <p:nvSpPr>
          <p:cNvPr id="54" name="Text 52"/>
          <p:cNvSpPr txBox="1"/>
          <p:nvPr/>
        </p:nvSpPr>
        <p:spPr>
          <a:xfrm>
            <a:off x="3429000" y="5321808"/>
            <a:ext cx="2423160" cy="237744"/>
          </a:xfrm>
          <a:prstGeom prst="rect">
            <a:avLst/>
          </a:prstGeom>
          <a:noFill/>
          <a:ln/>
        </p:spPr>
        <p:txBody>
          <a:bodyPr wrap="square" lIns="0" tIns="0" rIns="0" bIns="0" rtlCol="0" anchor="ctr"/>
          <a:lstStyle/>
          <a:p>
            <a:pPr algn="ctr" indent="0" marL="0">
              <a:buNone/>
            </a:pPr>
            <a:r>
              <a:rPr lang="en-US" sz="800" dirty="0">
                <a:solidFill>
                  <a:srgbClr val="6B7B8F"/>
                </a:solidFill>
                <a:latin typeface="Calibri" pitchFamily="34" charset="0"/>
                <a:ea typeface="Calibri" pitchFamily="34" charset="-122"/>
                <a:cs typeface="Calibri" pitchFamily="34" charset="-120"/>
              </a:rPr>
              <a:t>normalised</a:t>
            </a:r>
            <a:endParaRPr lang="en-US" sz="800" dirty="0"/>
          </a:p>
        </p:txBody>
      </p:sp>
      <p:sp>
        <p:nvSpPr>
          <p:cNvPr id="55" name="Text 53"/>
          <p:cNvSpPr txBox="1"/>
          <p:nvPr/>
        </p:nvSpPr>
        <p:spPr>
          <a:xfrm>
            <a:off x="6217920" y="5321808"/>
            <a:ext cx="2423160" cy="237744"/>
          </a:xfrm>
          <a:prstGeom prst="rect">
            <a:avLst/>
          </a:prstGeom>
          <a:noFill/>
          <a:ln/>
        </p:spPr>
        <p:txBody>
          <a:bodyPr wrap="square" lIns="0" tIns="0" rIns="0" bIns="0" rtlCol="0" anchor="ctr"/>
          <a:lstStyle/>
          <a:p>
            <a:pPr algn="ctr" indent="0" marL="0">
              <a:buNone/>
            </a:pPr>
            <a:r>
              <a:rPr lang="en-US" sz="800" b="1" dirty="0">
                <a:solidFill>
                  <a:srgbClr val="C2551F"/>
                </a:solidFill>
                <a:latin typeface="Calibri" pitchFamily="34" charset="0"/>
                <a:ea typeface="Calibri" pitchFamily="34" charset="-122"/>
                <a:cs typeface="Calibri" pitchFamily="34" charset="-120"/>
              </a:rPr>
              <a:t>analysed here</a:t>
            </a:r>
            <a:endParaRPr lang="en-US" sz="800" dirty="0"/>
          </a:p>
        </p:txBody>
      </p:sp>
      <p:sp>
        <p:nvSpPr>
          <p:cNvPr id="56" name="Shape 54"/>
          <p:cNvSpPr/>
          <p:nvPr/>
        </p:nvSpPr>
        <p:spPr>
          <a:xfrm>
            <a:off x="8796528" y="2240280"/>
            <a:ext cx="0" cy="3108960"/>
          </a:xfrm>
          <a:prstGeom prst="line">
            <a:avLst/>
          </a:prstGeom>
          <a:noFill/>
          <a:ln w="19050">
            <a:solidFill>
              <a:srgbClr val="C2551F"/>
            </a:solidFill>
            <a:prstDash val="dash"/>
          </a:ln>
        </p:spPr>
      </p:sp>
      <p:sp>
        <p:nvSpPr>
          <p:cNvPr id="57" name="Text 55"/>
          <p:cNvSpPr txBox="1"/>
          <p:nvPr/>
        </p:nvSpPr>
        <p:spPr>
          <a:xfrm>
            <a:off x="7223760" y="5650992"/>
            <a:ext cx="3108960" cy="237744"/>
          </a:xfrm>
          <a:prstGeom prst="rect">
            <a:avLst/>
          </a:prstGeom>
          <a:noFill/>
          <a:ln/>
        </p:spPr>
        <p:txBody>
          <a:bodyPr wrap="square" lIns="0" tIns="0" rIns="0" bIns="0" rtlCol="0" anchor="ctr"/>
          <a:lstStyle/>
          <a:p>
            <a:pPr algn="ctr" indent="0" marL="0">
              <a:buNone/>
            </a:pPr>
            <a:r>
              <a:rPr lang="en-US" sz="850" b="1" dirty="0">
                <a:solidFill>
                  <a:srgbClr val="C2551F"/>
                </a:solidFill>
                <a:latin typeface="Calibri" pitchFamily="34" charset="0"/>
                <a:ea typeface="Calibri" pitchFamily="34" charset="-122"/>
                <a:cs typeface="Calibri" pitchFamily="34" charset="-120"/>
              </a:rPr>
              <a:t>METADATA ONLY CROSSES HERE</a:t>
            </a:r>
            <a:endParaRPr lang="en-US" sz="850" dirty="0"/>
          </a:p>
        </p:txBody>
      </p:sp>
      <p:sp>
        <p:nvSpPr>
          <p:cNvPr id="58" name="Shape 56"/>
          <p:cNvSpPr/>
          <p:nvPr/>
        </p:nvSpPr>
        <p:spPr>
          <a:xfrm>
            <a:off x="822960" y="6053328"/>
            <a:ext cx="7589520" cy="0"/>
          </a:xfrm>
          <a:prstGeom prst="line">
            <a:avLst/>
          </a:prstGeom>
          <a:noFill/>
          <a:ln w="38100">
            <a:solidFill>
              <a:srgbClr val="B4BECA"/>
            </a:solidFill>
            <a:prstDash val="lgDash"/>
            <a:tailEnd type="none"/>
          </a:ln>
        </p:spPr>
      </p:sp>
      <p:sp>
        <p:nvSpPr>
          <p:cNvPr id="59" name="Shape 57"/>
          <p:cNvSpPr/>
          <p:nvPr/>
        </p:nvSpPr>
        <p:spPr>
          <a:xfrm>
            <a:off x="8458200" y="5870448"/>
            <a:ext cx="0" cy="365760"/>
          </a:xfrm>
          <a:prstGeom prst="line">
            <a:avLst/>
          </a:prstGeom>
          <a:noFill/>
          <a:ln w="31750">
            <a:solidFill>
              <a:srgbClr val="8A97A6"/>
            </a:solidFill>
            <a:prstDash val="solid"/>
          </a:ln>
        </p:spPr>
      </p:sp>
      <p:sp>
        <p:nvSpPr>
          <p:cNvPr id="60" name="Text 58"/>
          <p:cNvSpPr txBox="1"/>
          <p:nvPr/>
        </p:nvSpPr>
        <p:spPr>
          <a:xfrm>
            <a:off x="822960" y="6199632"/>
            <a:ext cx="7589520" cy="237744"/>
          </a:xfrm>
          <a:prstGeom prst="rect">
            <a:avLst/>
          </a:prstGeom>
          <a:noFill/>
          <a:ln/>
        </p:spPr>
        <p:txBody>
          <a:bodyPr wrap="square" lIns="0" tIns="0" rIns="0" bIns="0" rtlCol="0" anchor="ctr"/>
          <a:lstStyle/>
          <a:p>
            <a:pPr algn="l" indent="0" marL="0">
              <a:buNone/>
            </a:pPr>
            <a:r>
              <a:rPr lang="en-US" sz="850" dirty="0">
                <a:solidFill>
                  <a:srgbClr val="6B7B8F"/>
                </a:solidFill>
                <a:latin typeface="Calibri" pitchFamily="34" charset="0"/>
                <a:ea typeface="Calibri" pitchFamily="34" charset="-122"/>
                <a:cs typeface="Calibri" pitchFamily="34" charset="-120"/>
              </a:rPr>
              <a:t>raw video — never crosses into the central tier</a:t>
            </a:r>
            <a:endParaRPr lang="en-US" sz="850" dirty="0"/>
          </a:p>
        </p:txBody>
      </p:sp>
      <p:sp>
        <p:nvSpPr>
          <p:cNvPr id="61" name="Text 59"/>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BAND 1</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Departmental systems, left exactly as they are</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Cameras, storage and retention stay with the department that owns them. Nothing in this band is replaced, migrated or reconfigured.</a:t>
            </a:r>
            <a:endParaRPr lang="en-US" sz="1450" dirty="0"/>
          </a:p>
        </p:txBody>
      </p:sp>
      <p:sp>
        <p:nvSpPr>
          <p:cNvPr id="5" name="Shape 3"/>
          <p:cNvSpPr/>
          <p:nvPr/>
        </p:nvSpPr>
        <p:spPr>
          <a:xfrm>
            <a:off x="640080" y="2514600"/>
            <a:ext cx="2057400" cy="1417320"/>
          </a:xfrm>
          <a:prstGeom prst="roundRect">
            <a:avLst>
              <a:gd name="adj" fmla="val 2581"/>
            </a:avLst>
          </a:prstGeom>
          <a:solidFill>
            <a:srgbClr val="FFFFFF"/>
          </a:solidFill>
          <a:ln w="12700">
            <a:solidFill>
              <a:srgbClr val="DCE3EB"/>
            </a:solidFill>
            <a:prstDash val="solid"/>
          </a:ln>
        </p:spPr>
      </p:sp>
      <p:sp>
        <p:nvSpPr>
          <p:cNvPr id="6" name="Text 4"/>
          <p:cNvSpPr txBox="1"/>
          <p:nvPr/>
        </p:nvSpPr>
        <p:spPr>
          <a:xfrm>
            <a:off x="786384" y="2642616"/>
            <a:ext cx="1764792" cy="310896"/>
          </a:xfrm>
          <a:prstGeom prst="rect">
            <a:avLst/>
          </a:prstGeom>
          <a:noFill/>
          <a:ln/>
        </p:spPr>
        <p:txBody>
          <a:bodyPr wrap="square" lIns="0" tIns="0" rIns="0" bIns="0" rtlCol="0" anchor="ctr"/>
          <a:lstStyle/>
          <a:p>
            <a:pPr indent="0" marL="0">
              <a:buNone/>
            </a:pPr>
            <a:r>
              <a:rPr lang="en-US" sz="1300" b="1" dirty="0">
                <a:solidFill>
                  <a:srgbClr val="16243A"/>
                </a:solidFill>
                <a:latin typeface="Cambria" pitchFamily="34" charset="0"/>
                <a:ea typeface="Cambria" pitchFamily="34" charset="-122"/>
                <a:cs typeface="Cambria" pitchFamily="34" charset="-120"/>
              </a:rPr>
              <a:t>Police</a:t>
            </a:r>
            <a:endParaRPr lang="en-US" sz="1300" dirty="0"/>
          </a:p>
        </p:txBody>
      </p:sp>
      <p:sp>
        <p:nvSpPr>
          <p:cNvPr id="7" name="Text 5"/>
          <p:cNvSpPr txBox="1"/>
          <p:nvPr/>
        </p:nvSpPr>
        <p:spPr>
          <a:xfrm>
            <a:off x="786384" y="2971800"/>
            <a:ext cx="1764792" cy="83210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DVR and NVR recorders</a:t>
            </a:r>
            <a:endParaRPr lang="en-US" sz="950" dirty="0"/>
          </a:p>
        </p:txBody>
      </p:sp>
      <p:sp>
        <p:nvSpPr>
          <p:cNvPr id="8" name="Shape 6"/>
          <p:cNvSpPr/>
          <p:nvPr/>
        </p:nvSpPr>
        <p:spPr>
          <a:xfrm>
            <a:off x="2880360" y="2514600"/>
            <a:ext cx="2057400" cy="1417320"/>
          </a:xfrm>
          <a:prstGeom prst="roundRect">
            <a:avLst>
              <a:gd name="adj" fmla="val 2581"/>
            </a:avLst>
          </a:prstGeom>
          <a:solidFill>
            <a:srgbClr val="FFFFFF"/>
          </a:solidFill>
          <a:ln w="12700">
            <a:solidFill>
              <a:srgbClr val="DCE3EB"/>
            </a:solidFill>
            <a:prstDash val="solid"/>
          </a:ln>
        </p:spPr>
      </p:sp>
      <p:sp>
        <p:nvSpPr>
          <p:cNvPr id="9" name="Text 7"/>
          <p:cNvSpPr txBox="1"/>
          <p:nvPr/>
        </p:nvSpPr>
        <p:spPr>
          <a:xfrm>
            <a:off x="3026664" y="2642616"/>
            <a:ext cx="1764792" cy="310896"/>
          </a:xfrm>
          <a:prstGeom prst="rect">
            <a:avLst/>
          </a:prstGeom>
          <a:noFill/>
          <a:ln/>
        </p:spPr>
        <p:txBody>
          <a:bodyPr wrap="square" lIns="0" tIns="0" rIns="0" bIns="0" rtlCol="0" anchor="ctr"/>
          <a:lstStyle/>
          <a:p>
            <a:pPr indent="0" marL="0">
              <a:buNone/>
            </a:pPr>
            <a:r>
              <a:rPr lang="en-US" sz="1300" b="1" dirty="0">
                <a:solidFill>
                  <a:srgbClr val="16243A"/>
                </a:solidFill>
                <a:latin typeface="Cambria" pitchFamily="34" charset="0"/>
                <a:ea typeface="Cambria" pitchFamily="34" charset="-122"/>
                <a:cs typeface="Cambria" pitchFamily="34" charset="-120"/>
              </a:rPr>
              <a:t>Municipal</a:t>
            </a:r>
            <a:endParaRPr lang="en-US" sz="1300" dirty="0"/>
          </a:p>
        </p:txBody>
      </p:sp>
      <p:sp>
        <p:nvSpPr>
          <p:cNvPr id="10" name="Text 8"/>
          <p:cNvSpPr txBox="1"/>
          <p:nvPr/>
        </p:nvSpPr>
        <p:spPr>
          <a:xfrm>
            <a:off x="3026664" y="2971800"/>
            <a:ext cx="1764792" cy="83210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Vendor video management system</a:t>
            </a:r>
            <a:endParaRPr lang="en-US" sz="950" dirty="0"/>
          </a:p>
        </p:txBody>
      </p:sp>
      <p:sp>
        <p:nvSpPr>
          <p:cNvPr id="11" name="Shape 9"/>
          <p:cNvSpPr/>
          <p:nvPr/>
        </p:nvSpPr>
        <p:spPr>
          <a:xfrm>
            <a:off x="5120640" y="2514600"/>
            <a:ext cx="2057400" cy="1417320"/>
          </a:xfrm>
          <a:prstGeom prst="roundRect">
            <a:avLst>
              <a:gd name="adj" fmla="val 2581"/>
            </a:avLst>
          </a:prstGeom>
          <a:solidFill>
            <a:srgbClr val="FFFFFF"/>
          </a:solidFill>
          <a:ln w="12700">
            <a:solidFill>
              <a:srgbClr val="DCE3EB"/>
            </a:solidFill>
            <a:prstDash val="solid"/>
          </a:ln>
        </p:spPr>
      </p:sp>
      <p:sp>
        <p:nvSpPr>
          <p:cNvPr id="12" name="Text 10"/>
          <p:cNvSpPr txBox="1"/>
          <p:nvPr/>
        </p:nvSpPr>
        <p:spPr>
          <a:xfrm>
            <a:off x="5266944" y="2642616"/>
            <a:ext cx="1764792" cy="310896"/>
          </a:xfrm>
          <a:prstGeom prst="rect">
            <a:avLst/>
          </a:prstGeom>
          <a:noFill/>
          <a:ln/>
        </p:spPr>
        <p:txBody>
          <a:bodyPr wrap="square" lIns="0" tIns="0" rIns="0" bIns="0" rtlCol="0" anchor="ctr"/>
          <a:lstStyle/>
          <a:p>
            <a:pPr indent="0" marL="0">
              <a:buNone/>
            </a:pPr>
            <a:r>
              <a:rPr lang="en-US" sz="1300" b="1" dirty="0">
                <a:solidFill>
                  <a:srgbClr val="16243A"/>
                </a:solidFill>
                <a:latin typeface="Cambria" pitchFamily="34" charset="0"/>
                <a:ea typeface="Cambria" pitchFamily="34" charset="-122"/>
                <a:cs typeface="Cambria" pitchFamily="34" charset="-120"/>
              </a:rPr>
              <a:t>Transport</a:t>
            </a:r>
            <a:endParaRPr lang="en-US" sz="1300" dirty="0"/>
          </a:p>
        </p:txBody>
      </p:sp>
      <p:sp>
        <p:nvSpPr>
          <p:cNvPr id="13" name="Text 11"/>
          <p:cNvSpPr txBox="1"/>
          <p:nvPr/>
        </p:nvSpPr>
        <p:spPr>
          <a:xfrm>
            <a:off x="5266944" y="2971800"/>
            <a:ext cx="1764792" cy="83210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Highway and terminal cameras</a:t>
            </a:r>
            <a:endParaRPr lang="en-US" sz="950" dirty="0"/>
          </a:p>
        </p:txBody>
      </p:sp>
      <p:sp>
        <p:nvSpPr>
          <p:cNvPr id="14" name="Shape 12"/>
          <p:cNvSpPr/>
          <p:nvPr/>
        </p:nvSpPr>
        <p:spPr>
          <a:xfrm>
            <a:off x="7360920" y="2514600"/>
            <a:ext cx="2057400" cy="1417320"/>
          </a:xfrm>
          <a:prstGeom prst="roundRect">
            <a:avLst>
              <a:gd name="adj" fmla="val 2581"/>
            </a:avLst>
          </a:prstGeom>
          <a:solidFill>
            <a:srgbClr val="FFFFFF"/>
          </a:solidFill>
          <a:ln w="12700">
            <a:solidFill>
              <a:srgbClr val="DCE3EB"/>
            </a:solidFill>
            <a:prstDash val="solid"/>
          </a:ln>
        </p:spPr>
      </p:sp>
      <p:sp>
        <p:nvSpPr>
          <p:cNvPr id="15" name="Text 13"/>
          <p:cNvSpPr txBox="1"/>
          <p:nvPr/>
        </p:nvSpPr>
        <p:spPr>
          <a:xfrm>
            <a:off x="7507224" y="2642616"/>
            <a:ext cx="1764792" cy="310896"/>
          </a:xfrm>
          <a:prstGeom prst="rect">
            <a:avLst/>
          </a:prstGeom>
          <a:noFill/>
          <a:ln/>
        </p:spPr>
        <p:txBody>
          <a:bodyPr wrap="square" lIns="0" tIns="0" rIns="0" bIns="0" rtlCol="0" anchor="ctr"/>
          <a:lstStyle/>
          <a:p>
            <a:pPr indent="0" marL="0">
              <a:buNone/>
            </a:pPr>
            <a:r>
              <a:rPr lang="en-US" sz="1300" b="1" dirty="0">
                <a:solidFill>
                  <a:srgbClr val="16243A"/>
                </a:solidFill>
                <a:latin typeface="Cambria" pitchFamily="34" charset="0"/>
                <a:ea typeface="Cambria" pitchFamily="34" charset="-122"/>
                <a:cs typeface="Cambria" pitchFamily="34" charset="-120"/>
              </a:rPr>
              <a:t>Any estate</a:t>
            </a:r>
            <a:endParaRPr lang="en-US" sz="1300" dirty="0"/>
          </a:p>
        </p:txBody>
      </p:sp>
      <p:sp>
        <p:nvSpPr>
          <p:cNvPr id="16" name="Text 14"/>
          <p:cNvSpPr txBox="1"/>
          <p:nvPr/>
        </p:nvSpPr>
        <p:spPr>
          <a:xfrm>
            <a:off x="7507224" y="2971800"/>
            <a:ext cx="1764792" cy="83210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ONVIF-compliant IP cameras</a:t>
            </a:r>
            <a:endParaRPr lang="en-US" sz="950" dirty="0"/>
          </a:p>
        </p:txBody>
      </p:sp>
      <p:sp>
        <p:nvSpPr>
          <p:cNvPr id="17" name="Shape 15"/>
          <p:cNvSpPr/>
          <p:nvPr/>
        </p:nvSpPr>
        <p:spPr>
          <a:xfrm>
            <a:off x="9601200" y="2514600"/>
            <a:ext cx="2057400" cy="1417320"/>
          </a:xfrm>
          <a:prstGeom prst="roundRect">
            <a:avLst>
              <a:gd name="adj" fmla="val 2581"/>
            </a:avLst>
          </a:prstGeom>
          <a:solidFill>
            <a:srgbClr val="FFFFFF"/>
          </a:solidFill>
          <a:ln w="12700">
            <a:solidFill>
              <a:srgbClr val="DCE3EB"/>
            </a:solidFill>
            <a:prstDash val="solid"/>
          </a:ln>
        </p:spPr>
      </p:sp>
      <p:sp>
        <p:nvSpPr>
          <p:cNvPr id="18" name="Text 16"/>
          <p:cNvSpPr txBox="1"/>
          <p:nvPr/>
        </p:nvSpPr>
        <p:spPr>
          <a:xfrm>
            <a:off x="9747504" y="2642616"/>
            <a:ext cx="1764792" cy="310896"/>
          </a:xfrm>
          <a:prstGeom prst="rect">
            <a:avLst/>
          </a:prstGeom>
          <a:noFill/>
          <a:ln/>
        </p:spPr>
        <p:txBody>
          <a:bodyPr wrap="square" lIns="0" tIns="0" rIns="0" bIns="0" rtlCol="0" anchor="ctr"/>
          <a:lstStyle/>
          <a:p>
            <a:pPr indent="0" marL="0">
              <a:buNone/>
            </a:pPr>
            <a:r>
              <a:rPr lang="en-US" sz="1300" b="1" dirty="0">
                <a:solidFill>
                  <a:srgbClr val="16243A"/>
                </a:solidFill>
                <a:latin typeface="Cambria" pitchFamily="34" charset="0"/>
                <a:ea typeface="Cambria" pitchFamily="34" charset="-122"/>
                <a:cs typeface="Cambria" pitchFamily="34" charset="-120"/>
              </a:rPr>
              <a:t>Archive</a:t>
            </a:r>
            <a:endParaRPr lang="en-US" sz="1300" dirty="0"/>
          </a:p>
        </p:txBody>
      </p:sp>
      <p:sp>
        <p:nvSpPr>
          <p:cNvPr id="19" name="Text 17"/>
          <p:cNvSpPr txBox="1"/>
          <p:nvPr/>
        </p:nvSpPr>
        <p:spPr>
          <a:xfrm>
            <a:off x="9747504" y="2971800"/>
            <a:ext cx="1764792" cy="83210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Recorded footage on disk</a:t>
            </a:r>
            <a:endParaRPr lang="en-US" sz="950" dirty="0"/>
          </a:p>
        </p:txBody>
      </p:sp>
      <p:sp>
        <p:nvSpPr>
          <p:cNvPr id="20" name="Shape 18"/>
          <p:cNvSpPr/>
          <p:nvPr/>
        </p:nvSpPr>
        <p:spPr>
          <a:xfrm>
            <a:off x="640080" y="4343400"/>
            <a:ext cx="10881360" cy="1051560"/>
          </a:xfrm>
          <a:prstGeom prst="roundRect">
            <a:avLst>
              <a:gd name="adj" fmla="val 3478"/>
            </a:avLst>
          </a:prstGeom>
          <a:solidFill>
            <a:srgbClr val="FBF4EE"/>
          </a:solidFill>
          <a:ln w="12700">
            <a:solidFill>
              <a:srgbClr val="FBF4EE"/>
            </a:solidFill>
            <a:prstDash val="solid"/>
          </a:ln>
        </p:spPr>
      </p:sp>
      <p:sp>
        <p:nvSpPr>
          <p:cNvPr id="21" name="Text 19"/>
          <p:cNvSpPr txBox="1"/>
          <p:nvPr/>
        </p:nvSpPr>
        <p:spPr>
          <a:xfrm>
            <a:off x="960120" y="4498848"/>
            <a:ext cx="10241280" cy="292608"/>
          </a:xfrm>
          <a:prstGeom prst="rect">
            <a:avLst/>
          </a:prstGeom>
          <a:noFill/>
          <a:ln/>
        </p:spPr>
        <p:txBody>
          <a:bodyPr wrap="square" lIns="0" tIns="0" rIns="0" bIns="0" rtlCol="0" anchor="ctr"/>
          <a:lstStyle/>
          <a:p>
            <a:pPr indent="0" marL="0">
              <a:buNone/>
            </a:pPr>
            <a:r>
              <a:rPr lang="en-US" sz="1100" b="1" spc="120" kern="0" dirty="0">
                <a:solidFill>
                  <a:srgbClr val="C2551F"/>
                </a:solidFill>
                <a:latin typeface="Calibri" pitchFamily="34" charset="0"/>
                <a:ea typeface="Calibri" pitchFamily="34" charset="-122"/>
                <a:cs typeface="Calibri" pitchFamily="34" charset="-120"/>
              </a:rPr>
              <a:t>Why this band is untouched</a:t>
            </a:r>
            <a:endParaRPr lang="en-US" sz="1100" dirty="0"/>
          </a:p>
        </p:txBody>
      </p:sp>
      <p:sp>
        <p:nvSpPr>
          <p:cNvPr id="22" name="Text 20"/>
          <p:cNvSpPr txBox="1"/>
          <p:nvPr/>
        </p:nvSpPr>
        <p:spPr>
          <a:xfrm>
            <a:off x="960120" y="4791456"/>
            <a:ext cx="10241280" cy="548640"/>
          </a:xfrm>
          <a:prstGeom prst="rect">
            <a:avLst/>
          </a:prstGeom>
          <a:noFill/>
          <a:ln/>
        </p:spPr>
        <p:txBody>
          <a:bodyPr wrap="square" lIns="0" tIns="0" rIns="0" bIns="0" rtlCol="0" anchor="ctr"/>
          <a:lstStyle/>
          <a:p>
            <a:pPr indent="0" marL="0">
              <a:lnSpc>
                <a:spcPts val="1700"/>
              </a:lnSpc>
              <a:buNone/>
            </a:pPr>
            <a:r>
              <a:rPr lang="en-US" sz="1200" dirty="0">
                <a:solidFill>
                  <a:srgbClr val="3C4A5C"/>
                </a:solidFill>
                <a:latin typeface="Calibri" pitchFamily="34" charset="0"/>
                <a:ea typeface="Calibri" pitchFamily="34" charset="-122"/>
                <a:cs typeface="Calibri" pitchFamily="34" charset="-120"/>
              </a:rPr>
              <a:t>Departments will not surrender control of their cameras, their storage or their budgets, and no statewide programme can succeed by asking them to. Federation is the only approach that survives contact with the organisations involved.</a:t>
            </a:r>
            <a:endParaRPr lang="en-US" sz="1200" dirty="0"/>
          </a:p>
        </p:txBody>
      </p:sp>
      <p:sp>
        <p:nvSpPr>
          <p:cNvPr id="23" name="Text 21"/>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BAND 2</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Federation adapters — the translation layer</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Each adapter speaks one kind of departmental system and returns an identical record. Onboarding a new vendor means writing an adapter, not changing the platform.</a:t>
            </a:r>
            <a:endParaRPr lang="en-US" sz="1450" dirty="0"/>
          </a:p>
        </p:txBody>
      </p:sp>
      <p:sp>
        <p:nvSpPr>
          <p:cNvPr id="5" name="Shape 3"/>
          <p:cNvSpPr/>
          <p:nvPr/>
        </p:nvSpPr>
        <p:spPr>
          <a:xfrm>
            <a:off x="640080" y="2487168"/>
            <a:ext cx="2377440" cy="1463040"/>
          </a:xfrm>
          <a:prstGeom prst="roundRect">
            <a:avLst>
              <a:gd name="adj" fmla="val 2500"/>
            </a:avLst>
          </a:prstGeom>
          <a:solidFill>
            <a:srgbClr val="FFFFFF"/>
          </a:solidFill>
          <a:ln w="12700">
            <a:solidFill>
              <a:srgbClr val="E8CBB4"/>
            </a:solidFill>
            <a:prstDash val="solid"/>
          </a:ln>
        </p:spPr>
      </p:sp>
      <p:sp>
        <p:nvSpPr>
          <p:cNvPr id="6" name="Text 4"/>
          <p:cNvSpPr txBox="1"/>
          <p:nvPr/>
        </p:nvSpPr>
        <p:spPr>
          <a:xfrm>
            <a:off x="786384" y="2615184"/>
            <a:ext cx="2084832" cy="310896"/>
          </a:xfrm>
          <a:prstGeom prst="rect">
            <a:avLst/>
          </a:prstGeom>
          <a:noFill/>
          <a:ln/>
        </p:spPr>
        <p:txBody>
          <a:bodyPr wrap="square" lIns="0" tIns="0" rIns="0" bIns="0" rtlCol="0" anchor="ctr"/>
          <a:lstStyle/>
          <a:p>
            <a:pPr indent="0" marL="0">
              <a:buNone/>
            </a:pPr>
            <a:r>
              <a:rPr lang="en-US" sz="1300" b="1" dirty="0">
                <a:solidFill>
                  <a:srgbClr val="16243A"/>
                </a:solidFill>
                <a:latin typeface="Cambria" pitchFamily="34" charset="0"/>
                <a:ea typeface="Cambria" pitchFamily="34" charset="-122"/>
                <a:cs typeface="Cambria" pitchFamily="34" charset="-120"/>
              </a:rPr>
              <a:t>State grid</a:t>
            </a:r>
            <a:endParaRPr lang="en-US" sz="1300" dirty="0"/>
          </a:p>
        </p:txBody>
      </p:sp>
      <p:sp>
        <p:nvSpPr>
          <p:cNvPr id="7" name="Text 5"/>
          <p:cNvSpPr txBox="1"/>
          <p:nvPr/>
        </p:nvSpPr>
        <p:spPr>
          <a:xfrm>
            <a:off x="786384" y="2944368"/>
            <a:ext cx="2084832" cy="87782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RTSP, HLS and WebRTC streams from the state feed</a:t>
            </a:r>
            <a:endParaRPr lang="en-US" sz="950" dirty="0"/>
          </a:p>
        </p:txBody>
      </p:sp>
      <p:sp>
        <p:nvSpPr>
          <p:cNvPr id="8" name="Shape 6"/>
          <p:cNvSpPr/>
          <p:nvPr/>
        </p:nvSpPr>
        <p:spPr>
          <a:xfrm>
            <a:off x="1828800" y="4023360"/>
            <a:ext cx="0" cy="384048"/>
          </a:xfrm>
          <a:prstGeom prst="line">
            <a:avLst/>
          </a:prstGeom>
          <a:noFill/>
          <a:ln w="22225">
            <a:solidFill>
              <a:srgbClr val="C2551F"/>
            </a:solidFill>
            <a:prstDash val="solid"/>
            <a:tailEnd type="triangle"/>
          </a:ln>
        </p:spPr>
      </p:sp>
      <p:sp>
        <p:nvSpPr>
          <p:cNvPr id="9" name="Shape 7"/>
          <p:cNvSpPr/>
          <p:nvPr/>
        </p:nvSpPr>
        <p:spPr>
          <a:xfrm>
            <a:off x="3337560" y="2487168"/>
            <a:ext cx="2377440" cy="1463040"/>
          </a:xfrm>
          <a:prstGeom prst="roundRect">
            <a:avLst>
              <a:gd name="adj" fmla="val 2500"/>
            </a:avLst>
          </a:prstGeom>
          <a:solidFill>
            <a:srgbClr val="FFFFFF"/>
          </a:solidFill>
          <a:ln w="12700">
            <a:solidFill>
              <a:srgbClr val="E8CBB4"/>
            </a:solidFill>
            <a:prstDash val="solid"/>
          </a:ln>
        </p:spPr>
      </p:sp>
      <p:sp>
        <p:nvSpPr>
          <p:cNvPr id="10" name="Text 8"/>
          <p:cNvSpPr txBox="1"/>
          <p:nvPr/>
        </p:nvSpPr>
        <p:spPr>
          <a:xfrm>
            <a:off x="3483864" y="2615184"/>
            <a:ext cx="2084832" cy="310896"/>
          </a:xfrm>
          <a:prstGeom prst="rect">
            <a:avLst/>
          </a:prstGeom>
          <a:noFill/>
          <a:ln/>
        </p:spPr>
        <p:txBody>
          <a:bodyPr wrap="square" lIns="0" tIns="0" rIns="0" bIns="0" rtlCol="0" anchor="ctr"/>
          <a:lstStyle/>
          <a:p>
            <a:pPr indent="0" marL="0">
              <a:buNone/>
            </a:pPr>
            <a:r>
              <a:rPr lang="en-US" sz="1300" b="1" dirty="0">
                <a:solidFill>
                  <a:srgbClr val="16243A"/>
                </a:solidFill>
                <a:latin typeface="Cambria" pitchFamily="34" charset="0"/>
                <a:ea typeface="Cambria" pitchFamily="34" charset="-122"/>
                <a:cs typeface="Cambria" pitchFamily="34" charset="-120"/>
              </a:rPr>
              <a:t>ONVIF</a:t>
            </a:r>
            <a:endParaRPr lang="en-US" sz="1300" dirty="0"/>
          </a:p>
        </p:txBody>
      </p:sp>
      <p:sp>
        <p:nvSpPr>
          <p:cNvPr id="11" name="Text 9"/>
          <p:cNvSpPr txBox="1"/>
          <p:nvPr/>
        </p:nvSpPr>
        <p:spPr>
          <a:xfrm>
            <a:off x="3483864" y="2944368"/>
            <a:ext cx="2084832" cy="87782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Network discovery, then probe and onboard</a:t>
            </a:r>
            <a:endParaRPr lang="en-US" sz="950" dirty="0"/>
          </a:p>
        </p:txBody>
      </p:sp>
      <p:sp>
        <p:nvSpPr>
          <p:cNvPr id="12" name="Shape 10"/>
          <p:cNvSpPr/>
          <p:nvPr/>
        </p:nvSpPr>
        <p:spPr>
          <a:xfrm>
            <a:off x="4526280" y="4023360"/>
            <a:ext cx="0" cy="384048"/>
          </a:xfrm>
          <a:prstGeom prst="line">
            <a:avLst/>
          </a:prstGeom>
          <a:noFill/>
          <a:ln w="22225">
            <a:solidFill>
              <a:srgbClr val="C2551F"/>
            </a:solidFill>
            <a:prstDash val="solid"/>
            <a:tailEnd type="triangle"/>
          </a:ln>
        </p:spPr>
      </p:sp>
      <p:sp>
        <p:nvSpPr>
          <p:cNvPr id="13" name="Shape 11"/>
          <p:cNvSpPr/>
          <p:nvPr/>
        </p:nvSpPr>
        <p:spPr>
          <a:xfrm>
            <a:off x="6035040" y="2487168"/>
            <a:ext cx="2377440" cy="1463040"/>
          </a:xfrm>
          <a:prstGeom prst="roundRect">
            <a:avLst>
              <a:gd name="adj" fmla="val 2500"/>
            </a:avLst>
          </a:prstGeom>
          <a:solidFill>
            <a:srgbClr val="FFFFFF"/>
          </a:solidFill>
          <a:ln w="12700">
            <a:solidFill>
              <a:srgbClr val="E8CBB4"/>
            </a:solidFill>
            <a:prstDash val="solid"/>
          </a:ln>
        </p:spPr>
      </p:sp>
      <p:sp>
        <p:nvSpPr>
          <p:cNvPr id="14" name="Text 12"/>
          <p:cNvSpPr txBox="1"/>
          <p:nvPr/>
        </p:nvSpPr>
        <p:spPr>
          <a:xfrm>
            <a:off x="6181344" y="2615184"/>
            <a:ext cx="2084832" cy="310896"/>
          </a:xfrm>
          <a:prstGeom prst="rect">
            <a:avLst/>
          </a:prstGeom>
          <a:noFill/>
          <a:ln/>
        </p:spPr>
        <p:txBody>
          <a:bodyPr wrap="square" lIns="0" tIns="0" rIns="0" bIns="0" rtlCol="0" anchor="ctr"/>
          <a:lstStyle/>
          <a:p>
            <a:pPr indent="0" marL="0">
              <a:buNone/>
            </a:pPr>
            <a:r>
              <a:rPr lang="en-US" sz="1300" b="1" dirty="0">
                <a:solidFill>
                  <a:srgbClr val="16243A"/>
                </a:solidFill>
                <a:latin typeface="Cambria" pitchFamily="34" charset="0"/>
                <a:ea typeface="Cambria" pitchFamily="34" charset="-122"/>
                <a:cs typeface="Cambria" pitchFamily="34" charset="-120"/>
              </a:rPr>
              <a:t>Manual RTSP</a:t>
            </a:r>
            <a:endParaRPr lang="en-US" sz="1300" dirty="0"/>
          </a:p>
        </p:txBody>
      </p:sp>
      <p:sp>
        <p:nvSpPr>
          <p:cNvPr id="15" name="Text 13"/>
          <p:cNvSpPr txBox="1"/>
          <p:nvPr/>
        </p:nvSpPr>
        <p:spPr>
          <a:xfrm>
            <a:off x="6181344" y="2944368"/>
            <a:ext cx="2084832" cy="87782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Any device or recorder channel, by URL</a:t>
            </a:r>
            <a:endParaRPr lang="en-US" sz="950" dirty="0"/>
          </a:p>
        </p:txBody>
      </p:sp>
      <p:sp>
        <p:nvSpPr>
          <p:cNvPr id="16" name="Shape 14"/>
          <p:cNvSpPr/>
          <p:nvPr/>
        </p:nvSpPr>
        <p:spPr>
          <a:xfrm>
            <a:off x="7223760" y="4023360"/>
            <a:ext cx="0" cy="384048"/>
          </a:xfrm>
          <a:prstGeom prst="line">
            <a:avLst/>
          </a:prstGeom>
          <a:noFill/>
          <a:ln w="22225">
            <a:solidFill>
              <a:srgbClr val="C2551F"/>
            </a:solidFill>
            <a:prstDash val="solid"/>
            <a:tailEnd type="triangle"/>
          </a:ln>
        </p:spPr>
      </p:sp>
      <p:sp>
        <p:nvSpPr>
          <p:cNvPr id="17" name="Shape 15"/>
          <p:cNvSpPr/>
          <p:nvPr/>
        </p:nvSpPr>
        <p:spPr>
          <a:xfrm>
            <a:off x="8732520" y="2487168"/>
            <a:ext cx="2377440" cy="1463040"/>
          </a:xfrm>
          <a:prstGeom prst="roundRect">
            <a:avLst>
              <a:gd name="adj" fmla="val 2500"/>
            </a:avLst>
          </a:prstGeom>
          <a:solidFill>
            <a:srgbClr val="FFFFFF"/>
          </a:solidFill>
          <a:ln w="12700">
            <a:solidFill>
              <a:srgbClr val="E8CBB4"/>
            </a:solidFill>
            <a:prstDash val="solid"/>
          </a:ln>
        </p:spPr>
      </p:sp>
      <p:sp>
        <p:nvSpPr>
          <p:cNvPr id="18" name="Text 16"/>
          <p:cNvSpPr txBox="1"/>
          <p:nvPr/>
        </p:nvSpPr>
        <p:spPr>
          <a:xfrm>
            <a:off x="8878824" y="2615184"/>
            <a:ext cx="2084832" cy="310896"/>
          </a:xfrm>
          <a:prstGeom prst="rect">
            <a:avLst/>
          </a:prstGeom>
          <a:noFill/>
          <a:ln/>
        </p:spPr>
        <p:txBody>
          <a:bodyPr wrap="square" lIns="0" tIns="0" rIns="0" bIns="0" rtlCol="0" anchor="ctr"/>
          <a:lstStyle/>
          <a:p>
            <a:pPr indent="0" marL="0">
              <a:buNone/>
            </a:pPr>
            <a:r>
              <a:rPr lang="en-US" sz="1300" b="1" dirty="0">
                <a:solidFill>
                  <a:srgbClr val="16243A"/>
                </a:solidFill>
                <a:latin typeface="Cambria" pitchFamily="34" charset="0"/>
                <a:ea typeface="Cambria" pitchFamily="34" charset="-122"/>
                <a:cs typeface="Cambria" pitchFamily="34" charset="-120"/>
              </a:rPr>
              <a:t>File archive</a:t>
            </a:r>
            <a:endParaRPr lang="en-US" sz="1300" dirty="0"/>
          </a:p>
        </p:txBody>
      </p:sp>
      <p:sp>
        <p:nvSpPr>
          <p:cNvPr id="19" name="Text 17"/>
          <p:cNvSpPr txBox="1"/>
          <p:nvPr/>
        </p:nvSpPr>
        <p:spPr>
          <a:xfrm>
            <a:off x="8878824" y="2944368"/>
            <a:ext cx="2084832" cy="87782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Recorded video replayed as a live source</a:t>
            </a:r>
            <a:endParaRPr lang="en-US" sz="950" dirty="0"/>
          </a:p>
        </p:txBody>
      </p:sp>
      <p:sp>
        <p:nvSpPr>
          <p:cNvPr id="20" name="Shape 18"/>
          <p:cNvSpPr/>
          <p:nvPr/>
        </p:nvSpPr>
        <p:spPr>
          <a:xfrm>
            <a:off x="9921240" y="4023360"/>
            <a:ext cx="0" cy="384048"/>
          </a:xfrm>
          <a:prstGeom prst="line">
            <a:avLst/>
          </a:prstGeom>
          <a:noFill/>
          <a:ln w="22225">
            <a:solidFill>
              <a:srgbClr val="C2551F"/>
            </a:solidFill>
            <a:prstDash val="solid"/>
            <a:tailEnd type="triangle"/>
          </a:ln>
        </p:spPr>
      </p:sp>
      <p:sp>
        <p:nvSpPr>
          <p:cNvPr id="21" name="Shape 19"/>
          <p:cNvSpPr/>
          <p:nvPr/>
        </p:nvSpPr>
        <p:spPr>
          <a:xfrm>
            <a:off x="640080" y="4480560"/>
            <a:ext cx="10881360" cy="822960"/>
          </a:xfrm>
          <a:prstGeom prst="roundRect">
            <a:avLst>
              <a:gd name="adj" fmla="val 4444"/>
            </a:avLst>
          </a:prstGeom>
          <a:solidFill>
            <a:srgbClr val="C2551F"/>
          </a:solidFill>
          <a:ln w="12700">
            <a:solidFill>
              <a:srgbClr val="C2551F"/>
            </a:solidFill>
            <a:prstDash val="solid"/>
          </a:ln>
        </p:spPr>
      </p:sp>
      <p:sp>
        <p:nvSpPr>
          <p:cNvPr id="22" name="Text 20"/>
          <p:cNvSpPr txBox="1"/>
          <p:nvPr/>
        </p:nvSpPr>
        <p:spPr>
          <a:xfrm>
            <a:off x="640080" y="4480560"/>
            <a:ext cx="108813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One normalised camera record</a:t>
            </a:r>
            <a:endParaRPr lang="en-US" sz="1600" dirty="0"/>
          </a:p>
        </p:txBody>
      </p:sp>
      <p:sp>
        <p:nvSpPr>
          <p:cNvPr id="23" name="Text 21"/>
          <p:cNvSpPr txBox="1"/>
          <p:nvPr/>
        </p:nvSpPr>
        <p:spPr>
          <a:xfrm>
            <a:off x="640080" y="5468112"/>
            <a:ext cx="10881360" cy="457200"/>
          </a:xfrm>
          <a:prstGeom prst="rect">
            <a:avLst/>
          </a:prstGeom>
          <a:noFill/>
          <a:ln/>
        </p:spPr>
        <p:txBody>
          <a:bodyPr wrap="square" lIns="0" tIns="0" rIns="0" bIns="0" rtlCol="0" anchor="ctr"/>
          <a:lstStyle/>
          <a:p>
            <a:pPr algn="ctr" indent="0" marL="0">
              <a:buNone/>
            </a:pPr>
            <a:r>
              <a:rPr lang="en-US" sz="1200" dirty="0">
                <a:solidFill>
                  <a:srgbClr val="6B7B8F"/>
                </a:solidFill>
                <a:latin typeface="Calibri" pitchFamily="34" charset="0"/>
                <a:ea typeface="Calibri" pitchFamily="34" charset="-122"/>
                <a:cs typeface="Calibri" pitchFamily="34" charset="-120"/>
              </a:rPr>
              <a:t>Identity, stream URLs, coordinates, heading, field of view and range — the same shape regardless of which department or vendor it came from.</a:t>
            </a:r>
            <a:endParaRPr lang="en-US" sz="1200" dirty="0"/>
          </a:p>
        </p:txBody>
      </p:sp>
      <p:sp>
        <p:nvSpPr>
          <p:cNvPr id="24" name="Text 22"/>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BAND 3</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Edge node — where all the analysis happens</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Decode, recognise and match beside the cameras. Only the result travels onward.</a:t>
            </a:r>
            <a:endParaRPr lang="en-US" sz="1450" dirty="0"/>
          </a:p>
        </p:txBody>
      </p:sp>
      <p:sp>
        <p:nvSpPr>
          <p:cNvPr id="5" name="Shape 3"/>
          <p:cNvSpPr/>
          <p:nvPr/>
        </p:nvSpPr>
        <p:spPr>
          <a:xfrm>
            <a:off x="640080" y="2395728"/>
            <a:ext cx="2286000" cy="1371600"/>
          </a:xfrm>
          <a:prstGeom prst="roundRect">
            <a:avLst>
              <a:gd name="adj" fmla="val 2667"/>
            </a:avLst>
          </a:prstGeom>
          <a:solidFill>
            <a:srgbClr val="FFFFFF"/>
          </a:solidFill>
          <a:ln w="12700">
            <a:solidFill>
              <a:srgbClr val="E8CBB4"/>
            </a:solidFill>
            <a:prstDash val="solid"/>
          </a:ln>
        </p:spPr>
      </p:sp>
      <p:sp>
        <p:nvSpPr>
          <p:cNvPr id="6" name="Text 4"/>
          <p:cNvSpPr txBox="1"/>
          <p:nvPr/>
        </p:nvSpPr>
        <p:spPr>
          <a:xfrm>
            <a:off x="786384" y="2523744"/>
            <a:ext cx="1993392" cy="310896"/>
          </a:xfrm>
          <a:prstGeom prst="rect">
            <a:avLst/>
          </a:prstGeom>
          <a:noFill/>
          <a:ln/>
        </p:spPr>
        <p:txBody>
          <a:bodyPr wrap="square" lIns="0" tIns="0" rIns="0" bIns="0" rtlCol="0" anchor="ctr"/>
          <a:lstStyle/>
          <a:p>
            <a:pPr indent="0" marL="0">
              <a:buNone/>
            </a:pPr>
            <a:r>
              <a:rPr lang="en-US" sz="1250" b="1" dirty="0">
                <a:solidFill>
                  <a:srgbClr val="16243A"/>
                </a:solidFill>
                <a:latin typeface="Cambria" pitchFamily="34" charset="0"/>
                <a:ea typeface="Cambria" pitchFamily="34" charset="-122"/>
                <a:cs typeface="Cambria" pitchFamily="34" charset="-120"/>
              </a:rPr>
              <a:t>Camera workers</a:t>
            </a:r>
            <a:endParaRPr lang="en-US" sz="1250" dirty="0"/>
          </a:p>
        </p:txBody>
      </p:sp>
      <p:sp>
        <p:nvSpPr>
          <p:cNvPr id="7" name="Text 5"/>
          <p:cNvSpPr txBox="1"/>
          <p:nvPr/>
        </p:nvSpPr>
        <p:spPr>
          <a:xfrm>
            <a:off x="786384" y="2852928"/>
            <a:ext cx="1993392" cy="78638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One thread per camera. TCP streams, sampled decode, timing from the stream's own clock, backoff on failure.</a:t>
            </a:r>
            <a:endParaRPr lang="en-US" sz="950" dirty="0"/>
          </a:p>
        </p:txBody>
      </p:sp>
      <p:sp>
        <p:nvSpPr>
          <p:cNvPr id="8" name="Shape 6"/>
          <p:cNvSpPr/>
          <p:nvPr/>
        </p:nvSpPr>
        <p:spPr>
          <a:xfrm>
            <a:off x="2999232" y="3081528"/>
            <a:ext cx="274320" cy="0"/>
          </a:xfrm>
          <a:prstGeom prst="line">
            <a:avLst/>
          </a:prstGeom>
          <a:noFill/>
          <a:ln w="22225">
            <a:solidFill>
              <a:srgbClr val="C2551F"/>
            </a:solidFill>
            <a:prstDash val="solid"/>
            <a:tailEnd type="triangle"/>
          </a:ln>
        </p:spPr>
      </p:sp>
      <p:sp>
        <p:nvSpPr>
          <p:cNvPr id="9" name="Shape 7"/>
          <p:cNvSpPr/>
          <p:nvPr/>
        </p:nvSpPr>
        <p:spPr>
          <a:xfrm>
            <a:off x="3364992" y="2286000"/>
            <a:ext cx="8156448" cy="1600200"/>
          </a:xfrm>
          <a:prstGeom prst="roundRect">
            <a:avLst>
              <a:gd name="adj" fmla="val 2286"/>
            </a:avLst>
          </a:prstGeom>
          <a:solidFill>
            <a:srgbClr val="FBF4EE"/>
          </a:solidFill>
          <a:ln w="12700">
            <a:solidFill>
              <a:srgbClr val="FBF4EE"/>
            </a:solidFill>
            <a:prstDash val="solid"/>
          </a:ln>
        </p:spPr>
      </p:sp>
      <p:sp>
        <p:nvSpPr>
          <p:cNvPr id="10" name="Text 8"/>
          <p:cNvSpPr txBox="1"/>
          <p:nvPr/>
        </p:nvSpPr>
        <p:spPr>
          <a:xfrm>
            <a:off x="3529584" y="2395728"/>
            <a:ext cx="7827264" cy="256032"/>
          </a:xfrm>
          <a:prstGeom prst="rect">
            <a:avLst/>
          </a:prstGeom>
          <a:noFill/>
          <a:ln/>
        </p:spPr>
        <p:txBody>
          <a:bodyPr wrap="square" lIns="0" tIns="0" rIns="0" bIns="0" rtlCol="0" anchor="ctr"/>
          <a:lstStyle/>
          <a:p>
            <a:pPr indent="0" marL="0">
              <a:buNone/>
            </a:pPr>
            <a:r>
              <a:rPr lang="en-US" sz="950" b="1" spc="120" kern="0" dirty="0">
                <a:solidFill>
                  <a:srgbClr val="C2551F"/>
                </a:solidFill>
                <a:latin typeface="Calibri" pitchFamily="34" charset="0"/>
                <a:ea typeface="Calibri" pitchFamily="34" charset="-122"/>
                <a:cs typeface="Calibri" pitchFamily="34" charset="-120"/>
              </a:rPr>
              <a:t>PLATE RECOGNITION CASCADE — vehicle first, then plate</a:t>
            </a:r>
            <a:endParaRPr lang="en-US" sz="950" dirty="0"/>
          </a:p>
        </p:txBody>
      </p:sp>
      <p:sp>
        <p:nvSpPr>
          <p:cNvPr id="11" name="Shape 9"/>
          <p:cNvSpPr/>
          <p:nvPr/>
        </p:nvSpPr>
        <p:spPr>
          <a:xfrm>
            <a:off x="3529584" y="2724912"/>
            <a:ext cx="1847088" cy="1005840"/>
          </a:xfrm>
          <a:prstGeom prst="roundRect">
            <a:avLst>
              <a:gd name="adj" fmla="val 3182"/>
            </a:avLst>
          </a:prstGeom>
          <a:solidFill>
            <a:srgbClr val="FFFFFF"/>
          </a:solidFill>
          <a:ln w="12700">
            <a:solidFill>
              <a:srgbClr val="DCE3EB"/>
            </a:solidFill>
            <a:prstDash val="solid"/>
          </a:ln>
        </p:spPr>
      </p:sp>
      <p:sp>
        <p:nvSpPr>
          <p:cNvPr id="12" name="Text 10"/>
          <p:cNvSpPr txBox="1"/>
          <p:nvPr/>
        </p:nvSpPr>
        <p:spPr>
          <a:xfrm>
            <a:off x="3593592" y="2724912"/>
            <a:ext cx="1719072" cy="1005840"/>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1  Detect vehicles</a:t>
            </a:r>
            <a:endParaRPr lang="en-US" sz="900" dirty="0"/>
          </a:p>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car, motorcycle, bus, truck</a:t>
            </a:r>
            <a:endParaRPr lang="en-US" sz="900" dirty="0"/>
          </a:p>
        </p:txBody>
      </p:sp>
      <p:sp>
        <p:nvSpPr>
          <p:cNvPr id="13" name="Shape 11"/>
          <p:cNvSpPr/>
          <p:nvPr/>
        </p:nvSpPr>
        <p:spPr>
          <a:xfrm>
            <a:off x="5404104" y="3227832"/>
            <a:ext cx="128016" cy="0"/>
          </a:xfrm>
          <a:prstGeom prst="line">
            <a:avLst/>
          </a:prstGeom>
          <a:noFill/>
          <a:ln w="17780">
            <a:solidFill>
              <a:srgbClr val="C2551F"/>
            </a:solidFill>
            <a:prstDash val="solid"/>
            <a:tailEnd type="triangle"/>
          </a:ln>
        </p:spPr>
      </p:sp>
      <p:sp>
        <p:nvSpPr>
          <p:cNvPr id="14" name="Shape 12"/>
          <p:cNvSpPr/>
          <p:nvPr/>
        </p:nvSpPr>
        <p:spPr>
          <a:xfrm>
            <a:off x="5559552" y="2724912"/>
            <a:ext cx="1847088" cy="1005840"/>
          </a:xfrm>
          <a:prstGeom prst="roundRect">
            <a:avLst>
              <a:gd name="adj" fmla="val 3182"/>
            </a:avLst>
          </a:prstGeom>
          <a:solidFill>
            <a:srgbClr val="FFFFFF"/>
          </a:solidFill>
          <a:ln w="12700">
            <a:solidFill>
              <a:srgbClr val="DCE3EB"/>
            </a:solidFill>
            <a:prstDash val="solid"/>
          </a:ln>
        </p:spPr>
      </p:sp>
      <p:sp>
        <p:nvSpPr>
          <p:cNvPr id="15" name="Text 13"/>
          <p:cNvSpPr txBox="1"/>
          <p:nvPr/>
        </p:nvSpPr>
        <p:spPr>
          <a:xfrm>
            <a:off x="5623560" y="2724912"/>
            <a:ext cx="1719072" cy="1005840"/>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2  Find the plate</a:t>
            </a:r>
            <a:endParaRPr lang="en-US" sz="900" dirty="0"/>
          </a:p>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on each enlarged crop</a:t>
            </a:r>
            <a:endParaRPr lang="en-US" sz="900" dirty="0"/>
          </a:p>
        </p:txBody>
      </p:sp>
      <p:sp>
        <p:nvSpPr>
          <p:cNvPr id="16" name="Shape 14"/>
          <p:cNvSpPr/>
          <p:nvPr/>
        </p:nvSpPr>
        <p:spPr>
          <a:xfrm>
            <a:off x="7434072" y="3227832"/>
            <a:ext cx="128016" cy="0"/>
          </a:xfrm>
          <a:prstGeom prst="line">
            <a:avLst/>
          </a:prstGeom>
          <a:noFill/>
          <a:ln w="17780">
            <a:solidFill>
              <a:srgbClr val="C2551F"/>
            </a:solidFill>
            <a:prstDash val="solid"/>
            <a:tailEnd type="triangle"/>
          </a:ln>
        </p:spPr>
      </p:sp>
      <p:sp>
        <p:nvSpPr>
          <p:cNvPr id="17" name="Shape 15"/>
          <p:cNvSpPr/>
          <p:nvPr/>
        </p:nvSpPr>
        <p:spPr>
          <a:xfrm>
            <a:off x="7589520" y="2724912"/>
            <a:ext cx="1847088" cy="1005840"/>
          </a:xfrm>
          <a:prstGeom prst="roundRect">
            <a:avLst>
              <a:gd name="adj" fmla="val 3182"/>
            </a:avLst>
          </a:prstGeom>
          <a:solidFill>
            <a:srgbClr val="FFFFFF"/>
          </a:solidFill>
          <a:ln w="12700">
            <a:solidFill>
              <a:srgbClr val="DCE3EB"/>
            </a:solidFill>
            <a:prstDash val="solid"/>
          </a:ln>
        </p:spPr>
      </p:sp>
      <p:sp>
        <p:nvSpPr>
          <p:cNvPr id="18" name="Text 16"/>
          <p:cNvSpPr txBox="1"/>
          <p:nvPr/>
        </p:nvSpPr>
        <p:spPr>
          <a:xfrm>
            <a:off x="7653528" y="2724912"/>
            <a:ext cx="1719072" cy="1005840"/>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3  Read characters</a:t>
            </a:r>
            <a:endParaRPr lang="en-US" sz="900" dirty="0"/>
          </a:p>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Indian-tuned recogniser</a:t>
            </a:r>
            <a:endParaRPr lang="en-US" sz="900" dirty="0"/>
          </a:p>
        </p:txBody>
      </p:sp>
      <p:sp>
        <p:nvSpPr>
          <p:cNvPr id="19" name="Shape 17"/>
          <p:cNvSpPr/>
          <p:nvPr/>
        </p:nvSpPr>
        <p:spPr>
          <a:xfrm>
            <a:off x="9464040" y="3227832"/>
            <a:ext cx="128016" cy="0"/>
          </a:xfrm>
          <a:prstGeom prst="line">
            <a:avLst/>
          </a:prstGeom>
          <a:noFill/>
          <a:ln w="17780">
            <a:solidFill>
              <a:srgbClr val="C2551F"/>
            </a:solidFill>
            <a:prstDash val="solid"/>
            <a:tailEnd type="triangle"/>
          </a:ln>
        </p:spPr>
      </p:sp>
      <p:sp>
        <p:nvSpPr>
          <p:cNvPr id="20" name="Shape 18"/>
          <p:cNvSpPr/>
          <p:nvPr/>
        </p:nvSpPr>
        <p:spPr>
          <a:xfrm>
            <a:off x="9619488" y="2724912"/>
            <a:ext cx="1847088" cy="1005840"/>
          </a:xfrm>
          <a:prstGeom prst="roundRect">
            <a:avLst>
              <a:gd name="adj" fmla="val 3182"/>
            </a:avLst>
          </a:prstGeom>
          <a:solidFill>
            <a:srgbClr val="FFFFFF"/>
          </a:solidFill>
          <a:ln w="12700">
            <a:solidFill>
              <a:srgbClr val="DCE3EB"/>
            </a:solidFill>
            <a:prstDash val="solid"/>
          </a:ln>
        </p:spPr>
      </p:sp>
      <p:sp>
        <p:nvSpPr>
          <p:cNvPr id="21" name="Text 19"/>
          <p:cNvSpPr txBox="1"/>
          <p:nvPr/>
        </p:nvSpPr>
        <p:spPr>
          <a:xfrm>
            <a:off x="9683496" y="2724912"/>
            <a:ext cx="1719072" cy="1005840"/>
          </a:xfrm>
          <a:prstGeom prst="rect">
            <a:avLst/>
          </a:prstGeom>
          <a:noFill/>
          <a:ln/>
        </p:spPr>
        <p:txBody>
          <a:bodyPr wrap="square" lIns="0" tIns="0" rIns="0" bIns="0" rtlCol="0" anchor="ctr"/>
          <a:lstStyle/>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4  Reach consensus</a:t>
            </a:r>
            <a:endParaRPr lang="en-US" sz="900" dirty="0"/>
          </a:p>
          <a:p>
            <a:pPr algn="ctr" indent="0" marL="0">
              <a:lnSpc>
                <a:spcPts val="1200"/>
              </a:lnSpc>
              <a:buNone/>
            </a:pPr>
            <a:r>
              <a:rPr lang="en-US" sz="900" b="1" dirty="0">
                <a:solidFill>
                  <a:srgbClr val="16243A"/>
                </a:solidFill>
                <a:latin typeface="Calibri" pitchFamily="34" charset="0"/>
                <a:ea typeface="Calibri" pitchFamily="34" charset="-122"/>
                <a:cs typeface="Calibri" pitchFamily="34" charset="-120"/>
              </a:rPr>
              <a:t>several reads must agree</a:t>
            </a:r>
            <a:endParaRPr lang="en-US" sz="900" dirty="0"/>
          </a:p>
        </p:txBody>
      </p:sp>
      <p:sp>
        <p:nvSpPr>
          <p:cNvPr id="22" name="Shape 20"/>
          <p:cNvSpPr/>
          <p:nvPr/>
        </p:nvSpPr>
        <p:spPr>
          <a:xfrm>
            <a:off x="640080" y="4069080"/>
            <a:ext cx="2057400" cy="1417320"/>
          </a:xfrm>
          <a:prstGeom prst="roundRect">
            <a:avLst>
              <a:gd name="adj" fmla="val 2581"/>
            </a:avLst>
          </a:prstGeom>
          <a:solidFill>
            <a:srgbClr val="FFFFFF"/>
          </a:solidFill>
          <a:ln w="12700">
            <a:solidFill>
              <a:srgbClr val="DCE3EB"/>
            </a:solidFill>
            <a:prstDash val="solid"/>
          </a:ln>
        </p:spPr>
      </p:sp>
      <p:sp>
        <p:nvSpPr>
          <p:cNvPr id="23" name="Text 21"/>
          <p:cNvSpPr txBox="1"/>
          <p:nvPr/>
        </p:nvSpPr>
        <p:spPr>
          <a:xfrm>
            <a:off x="786384" y="4197096"/>
            <a:ext cx="1764792" cy="310896"/>
          </a:xfrm>
          <a:prstGeom prst="rect">
            <a:avLst/>
          </a:prstGeom>
          <a:noFill/>
          <a:ln/>
        </p:spPr>
        <p:txBody>
          <a:bodyPr wrap="square" lIns="0" tIns="0" rIns="0" bIns="0" rtlCol="0" anchor="ctr"/>
          <a:lstStyle/>
          <a:p>
            <a:pPr indent="0" marL="0">
              <a:buNone/>
            </a:pPr>
            <a:r>
              <a:rPr lang="en-US" sz="1150" b="1" dirty="0">
                <a:solidFill>
                  <a:srgbClr val="16243A"/>
                </a:solidFill>
                <a:latin typeface="Cambria" pitchFamily="34" charset="0"/>
                <a:ea typeface="Cambria" pitchFamily="34" charset="-122"/>
                <a:cs typeface="Cambria" pitchFamily="34" charset="-120"/>
              </a:rPr>
              <a:t>Face engine</a:t>
            </a:r>
            <a:endParaRPr lang="en-US" sz="1150" dirty="0"/>
          </a:p>
        </p:txBody>
      </p:sp>
      <p:sp>
        <p:nvSpPr>
          <p:cNvPr id="24" name="Text 22"/>
          <p:cNvSpPr txBox="1"/>
          <p:nvPr/>
        </p:nvSpPr>
        <p:spPr>
          <a:xfrm>
            <a:off x="786384" y="4526280"/>
            <a:ext cx="1764792" cy="832104"/>
          </a:xfrm>
          <a:prstGeom prst="rect">
            <a:avLst/>
          </a:prstGeom>
          <a:noFill/>
          <a:ln/>
        </p:spPr>
        <p:txBody>
          <a:bodyPr wrap="square" lIns="0" tIns="0" rIns="0" bIns="0" rtlCol="0" anchor="ctr"/>
          <a:lstStyle/>
          <a:p>
            <a:pPr indent="0" marL="0">
              <a:lnSpc>
                <a:spcPts val="1300"/>
              </a:lnSpc>
              <a:buNone/>
            </a:pPr>
            <a:r>
              <a:rPr lang="en-US" sz="900" dirty="0">
                <a:solidFill>
                  <a:srgbClr val="3C4A5C"/>
                </a:solidFill>
                <a:latin typeface="Calibri" pitchFamily="34" charset="0"/>
                <a:ea typeface="Calibri" pitchFamily="34" charset="-122"/>
                <a:cs typeface="Calibri" pitchFamily="34" charset="-120"/>
              </a:rPr>
              <a:t>Matches enrolled wanted and missing persons. Runs only when somebody is enrolled.</a:t>
            </a:r>
            <a:endParaRPr lang="en-US" sz="900" dirty="0"/>
          </a:p>
        </p:txBody>
      </p:sp>
      <p:sp>
        <p:nvSpPr>
          <p:cNvPr id="25" name="Shape 23"/>
          <p:cNvSpPr/>
          <p:nvPr/>
        </p:nvSpPr>
        <p:spPr>
          <a:xfrm>
            <a:off x="2871216" y="4069080"/>
            <a:ext cx="2057400" cy="1417320"/>
          </a:xfrm>
          <a:prstGeom prst="roundRect">
            <a:avLst>
              <a:gd name="adj" fmla="val 2581"/>
            </a:avLst>
          </a:prstGeom>
          <a:solidFill>
            <a:srgbClr val="FFFFFF"/>
          </a:solidFill>
          <a:ln w="12700">
            <a:solidFill>
              <a:srgbClr val="DCE3EB"/>
            </a:solidFill>
            <a:prstDash val="solid"/>
          </a:ln>
        </p:spPr>
      </p:sp>
      <p:sp>
        <p:nvSpPr>
          <p:cNvPr id="26" name="Text 24"/>
          <p:cNvSpPr txBox="1"/>
          <p:nvPr/>
        </p:nvSpPr>
        <p:spPr>
          <a:xfrm>
            <a:off x="3017520" y="4197096"/>
            <a:ext cx="1764792" cy="310896"/>
          </a:xfrm>
          <a:prstGeom prst="rect">
            <a:avLst/>
          </a:prstGeom>
          <a:noFill/>
          <a:ln/>
        </p:spPr>
        <p:txBody>
          <a:bodyPr wrap="square" lIns="0" tIns="0" rIns="0" bIns="0" rtlCol="0" anchor="ctr"/>
          <a:lstStyle/>
          <a:p>
            <a:pPr indent="0" marL="0">
              <a:buNone/>
            </a:pPr>
            <a:r>
              <a:rPr lang="en-US" sz="1150" b="1" dirty="0">
                <a:solidFill>
                  <a:srgbClr val="16243A"/>
                </a:solidFill>
                <a:latin typeface="Cambria" pitchFamily="34" charset="0"/>
                <a:ea typeface="Cambria" pitchFamily="34" charset="-122"/>
                <a:cs typeface="Cambria" pitchFamily="34" charset="-120"/>
              </a:rPr>
              <a:t>Inference runtime</a:t>
            </a:r>
            <a:endParaRPr lang="en-US" sz="1150" dirty="0"/>
          </a:p>
        </p:txBody>
      </p:sp>
      <p:sp>
        <p:nvSpPr>
          <p:cNvPr id="27" name="Text 25"/>
          <p:cNvSpPr txBox="1"/>
          <p:nvPr/>
        </p:nvSpPr>
        <p:spPr>
          <a:xfrm>
            <a:off x="3017520" y="4526280"/>
            <a:ext cx="1764792" cy="832104"/>
          </a:xfrm>
          <a:prstGeom prst="rect">
            <a:avLst/>
          </a:prstGeom>
          <a:noFill/>
          <a:ln/>
        </p:spPr>
        <p:txBody>
          <a:bodyPr wrap="square" lIns="0" tIns="0" rIns="0" bIns="0" rtlCol="0" anchor="ctr"/>
          <a:lstStyle/>
          <a:p>
            <a:pPr indent="0" marL="0">
              <a:lnSpc>
                <a:spcPts val="1300"/>
              </a:lnSpc>
              <a:buNone/>
            </a:pPr>
            <a:r>
              <a:rPr lang="en-US" sz="900" dirty="0">
                <a:solidFill>
                  <a:srgbClr val="3C4A5C"/>
                </a:solidFill>
                <a:latin typeface="Calibri" pitchFamily="34" charset="0"/>
                <a:ea typeface="Calibri" pitchFamily="34" charset="-122"/>
                <a:cs typeface="Calibri" pitchFamily="34" charset="-120"/>
              </a:rPr>
              <a:t>GPU when one genuinely works, confirmed by running a real workload, otherwise CPU.</a:t>
            </a:r>
            <a:endParaRPr lang="en-US" sz="900" dirty="0"/>
          </a:p>
        </p:txBody>
      </p:sp>
      <p:sp>
        <p:nvSpPr>
          <p:cNvPr id="28" name="Shape 26"/>
          <p:cNvSpPr/>
          <p:nvPr/>
        </p:nvSpPr>
        <p:spPr>
          <a:xfrm>
            <a:off x="5102352" y="4069080"/>
            <a:ext cx="2057400" cy="1417320"/>
          </a:xfrm>
          <a:prstGeom prst="roundRect">
            <a:avLst>
              <a:gd name="adj" fmla="val 2581"/>
            </a:avLst>
          </a:prstGeom>
          <a:solidFill>
            <a:srgbClr val="FFFFFF"/>
          </a:solidFill>
          <a:ln w="12700">
            <a:solidFill>
              <a:srgbClr val="DCE3EB"/>
            </a:solidFill>
            <a:prstDash val="solid"/>
          </a:ln>
        </p:spPr>
      </p:sp>
      <p:sp>
        <p:nvSpPr>
          <p:cNvPr id="29" name="Text 27"/>
          <p:cNvSpPr txBox="1"/>
          <p:nvPr/>
        </p:nvSpPr>
        <p:spPr>
          <a:xfrm>
            <a:off x="5248656" y="4197096"/>
            <a:ext cx="1764792" cy="310896"/>
          </a:xfrm>
          <a:prstGeom prst="rect">
            <a:avLst/>
          </a:prstGeom>
          <a:noFill/>
          <a:ln/>
        </p:spPr>
        <p:txBody>
          <a:bodyPr wrap="square" lIns="0" tIns="0" rIns="0" bIns="0" rtlCol="0" anchor="ctr"/>
          <a:lstStyle/>
          <a:p>
            <a:pPr indent="0" marL="0">
              <a:buNone/>
            </a:pPr>
            <a:r>
              <a:rPr lang="en-US" sz="1150" b="1" dirty="0">
                <a:solidFill>
                  <a:srgbClr val="16243A"/>
                </a:solidFill>
                <a:latin typeface="Cambria" pitchFamily="34" charset="0"/>
                <a:ea typeface="Cambria" pitchFamily="34" charset="-122"/>
                <a:cs typeface="Cambria" pitchFamily="34" charset="-120"/>
              </a:rPr>
              <a:t>Watchlist matcher</a:t>
            </a:r>
            <a:endParaRPr lang="en-US" sz="1150" dirty="0"/>
          </a:p>
        </p:txBody>
      </p:sp>
      <p:sp>
        <p:nvSpPr>
          <p:cNvPr id="30" name="Text 28"/>
          <p:cNvSpPr txBox="1"/>
          <p:nvPr/>
        </p:nvSpPr>
        <p:spPr>
          <a:xfrm>
            <a:off x="5248656" y="4526280"/>
            <a:ext cx="1764792" cy="832104"/>
          </a:xfrm>
          <a:prstGeom prst="rect">
            <a:avLst/>
          </a:prstGeom>
          <a:noFill/>
          <a:ln/>
        </p:spPr>
        <p:txBody>
          <a:bodyPr wrap="square" lIns="0" tIns="0" rIns="0" bIns="0" rtlCol="0" anchor="ctr"/>
          <a:lstStyle/>
          <a:p>
            <a:pPr indent="0" marL="0">
              <a:lnSpc>
                <a:spcPts val="1300"/>
              </a:lnSpc>
              <a:buNone/>
            </a:pPr>
            <a:r>
              <a:rPr lang="en-US" sz="900" dirty="0">
                <a:solidFill>
                  <a:srgbClr val="3C4A5C"/>
                </a:solidFill>
                <a:latin typeface="Calibri" pitchFamily="34" charset="0"/>
                <a:ea typeface="Calibri" pitchFamily="34" charset="-122"/>
                <a:cs typeface="Calibri" pitchFamily="34" charset="-120"/>
              </a:rPr>
              <a:t>Fuzzy plate comparison and face similarity, so an imperfect read still alerts.</a:t>
            </a:r>
            <a:endParaRPr lang="en-US" sz="900" dirty="0"/>
          </a:p>
        </p:txBody>
      </p:sp>
      <p:sp>
        <p:nvSpPr>
          <p:cNvPr id="31" name="Shape 29"/>
          <p:cNvSpPr/>
          <p:nvPr/>
        </p:nvSpPr>
        <p:spPr>
          <a:xfrm>
            <a:off x="7333488" y="4069080"/>
            <a:ext cx="2057400" cy="1417320"/>
          </a:xfrm>
          <a:prstGeom prst="roundRect">
            <a:avLst>
              <a:gd name="adj" fmla="val 2581"/>
            </a:avLst>
          </a:prstGeom>
          <a:solidFill>
            <a:srgbClr val="FFFFFF"/>
          </a:solidFill>
          <a:ln w="12700">
            <a:solidFill>
              <a:srgbClr val="DCE3EB"/>
            </a:solidFill>
            <a:prstDash val="solid"/>
          </a:ln>
        </p:spPr>
      </p:sp>
      <p:sp>
        <p:nvSpPr>
          <p:cNvPr id="32" name="Text 30"/>
          <p:cNvSpPr txBox="1"/>
          <p:nvPr/>
        </p:nvSpPr>
        <p:spPr>
          <a:xfrm>
            <a:off x="7479792" y="4197096"/>
            <a:ext cx="1764792" cy="310896"/>
          </a:xfrm>
          <a:prstGeom prst="rect">
            <a:avLst/>
          </a:prstGeom>
          <a:noFill/>
          <a:ln/>
        </p:spPr>
        <p:txBody>
          <a:bodyPr wrap="square" lIns="0" tIns="0" rIns="0" bIns="0" rtlCol="0" anchor="ctr"/>
          <a:lstStyle/>
          <a:p>
            <a:pPr indent="0" marL="0">
              <a:buNone/>
            </a:pPr>
            <a:r>
              <a:rPr lang="en-US" sz="1150" b="1" dirty="0">
                <a:solidFill>
                  <a:srgbClr val="16243A"/>
                </a:solidFill>
                <a:latin typeface="Cambria" pitchFamily="34" charset="0"/>
                <a:ea typeface="Cambria" pitchFamily="34" charset="-122"/>
                <a:cs typeface="Cambria" pitchFamily="34" charset="-120"/>
              </a:rPr>
              <a:t>Snapshot store</a:t>
            </a:r>
            <a:endParaRPr lang="en-US" sz="1150" dirty="0"/>
          </a:p>
        </p:txBody>
      </p:sp>
      <p:sp>
        <p:nvSpPr>
          <p:cNvPr id="33" name="Text 31"/>
          <p:cNvSpPr txBox="1"/>
          <p:nvPr/>
        </p:nvSpPr>
        <p:spPr>
          <a:xfrm>
            <a:off x="7479792" y="4526280"/>
            <a:ext cx="1764792" cy="832104"/>
          </a:xfrm>
          <a:prstGeom prst="rect">
            <a:avLst/>
          </a:prstGeom>
          <a:noFill/>
          <a:ln/>
        </p:spPr>
        <p:txBody>
          <a:bodyPr wrap="square" lIns="0" tIns="0" rIns="0" bIns="0" rtlCol="0" anchor="ctr"/>
          <a:lstStyle/>
          <a:p>
            <a:pPr indent="0" marL="0">
              <a:lnSpc>
                <a:spcPts val="1300"/>
              </a:lnSpc>
              <a:buNone/>
            </a:pPr>
            <a:r>
              <a:rPr lang="en-US" sz="900" dirty="0">
                <a:solidFill>
                  <a:srgbClr val="3C4A5C"/>
                </a:solidFill>
                <a:latin typeface="Calibri" pitchFamily="34" charset="0"/>
                <a:ea typeface="Calibri" pitchFamily="34" charset="-122"/>
                <a:cs typeface="Calibri" pitchFamily="34" charset="-120"/>
              </a:rPr>
              <a:t>Annotated evidence frames, each hashed at the moment of capture.</a:t>
            </a:r>
            <a:endParaRPr lang="en-US" sz="900" dirty="0"/>
          </a:p>
        </p:txBody>
      </p:sp>
      <p:sp>
        <p:nvSpPr>
          <p:cNvPr id="34" name="Shape 32"/>
          <p:cNvSpPr/>
          <p:nvPr/>
        </p:nvSpPr>
        <p:spPr>
          <a:xfrm>
            <a:off x="9564624" y="4069080"/>
            <a:ext cx="2057400" cy="1417320"/>
          </a:xfrm>
          <a:prstGeom prst="roundRect">
            <a:avLst>
              <a:gd name="adj" fmla="val 2581"/>
            </a:avLst>
          </a:prstGeom>
          <a:solidFill>
            <a:srgbClr val="FFFFFF"/>
          </a:solidFill>
          <a:ln w="12700">
            <a:solidFill>
              <a:srgbClr val="DCE3EB"/>
            </a:solidFill>
            <a:prstDash val="solid"/>
          </a:ln>
        </p:spPr>
      </p:sp>
      <p:sp>
        <p:nvSpPr>
          <p:cNvPr id="35" name="Text 33"/>
          <p:cNvSpPr txBox="1"/>
          <p:nvPr/>
        </p:nvSpPr>
        <p:spPr>
          <a:xfrm>
            <a:off x="9710928" y="4197096"/>
            <a:ext cx="1764792" cy="310896"/>
          </a:xfrm>
          <a:prstGeom prst="rect">
            <a:avLst/>
          </a:prstGeom>
          <a:noFill/>
          <a:ln/>
        </p:spPr>
        <p:txBody>
          <a:bodyPr wrap="square" lIns="0" tIns="0" rIns="0" bIns="0" rtlCol="0" anchor="ctr"/>
          <a:lstStyle/>
          <a:p>
            <a:pPr indent="0" marL="0">
              <a:buNone/>
            </a:pPr>
            <a:r>
              <a:rPr lang="en-US" sz="1150" b="1" dirty="0">
                <a:solidFill>
                  <a:srgbClr val="16243A"/>
                </a:solidFill>
                <a:latin typeface="Cambria" pitchFamily="34" charset="0"/>
                <a:ea typeface="Cambria" pitchFamily="34" charset="-122"/>
                <a:cs typeface="Cambria" pitchFamily="34" charset="-120"/>
              </a:rPr>
              <a:t>Offline spool</a:t>
            </a:r>
            <a:endParaRPr lang="en-US" sz="1150" dirty="0"/>
          </a:p>
        </p:txBody>
      </p:sp>
      <p:sp>
        <p:nvSpPr>
          <p:cNvPr id="36" name="Text 34"/>
          <p:cNvSpPr txBox="1"/>
          <p:nvPr/>
        </p:nvSpPr>
        <p:spPr>
          <a:xfrm>
            <a:off x="9710928" y="4526280"/>
            <a:ext cx="1764792" cy="832104"/>
          </a:xfrm>
          <a:prstGeom prst="rect">
            <a:avLst/>
          </a:prstGeom>
          <a:noFill/>
          <a:ln/>
        </p:spPr>
        <p:txBody>
          <a:bodyPr wrap="square" lIns="0" tIns="0" rIns="0" bIns="0" rtlCol="0" anchor="ctr"/>
          <a:lstStyle/>
          <a:p>
            <a:pPr indent="0" marL="0">
              <a:lnSpc>
                <a:spcPts val="1300"/>
              </a:lnSpc>
              <a:buNone/>
            </a:pPr>
            <a:r>
              <a:rPr lang="en-US" sz="900" dirty="0">
                <a:solidFill>
                  <a:srgbClr val="3C4A5C"/>
                </a:solidFill>
                <a:latin typeface="Calibri" pitchFamily="34" charset="0"/>
                <a:ea typeface="Calibri" pitchFamily="34" charset="-122"/>
                <a:cs typeface="Calibri" pitchFamily="34" charset="-120"/>
              </a:rPr>
              <a:t>Durable local queue. Holds results when the link drops and replays them in order.</a:t>
            </a:r>
            <a:endParaRPr lang="en-US" sz="900" dirty="0"/>
          </a:p>
        </p:txBody>
      </p:sp>
      <p:sp>
        <p:nvSpPr>
          <p:cNvPr id="37" name="Text 35"/>
          <p:cNvSpPr txBox="1"/>
          <p:nvPr/>
        </p:nvSpPr>
        <p:spPr>
          <a:xfrm>
            <a:off x="9052560" y="5596128"/>
            <a:ext cx="2468880" cy="237744"/>
          </a:xfrm>
          <a:prstGeom prst="rect">
            <a:avLst/>
          </a:prstGeom>
          <a:noFill/>
          <a:ln/>
        </p:spPr>
        <p:txBody>
          <a:bodyPr wrap="square" lIns="0" tIns="0" rIns="0" bIns="0" rtlCol="0" anchor="ctr"/>
          <a:lstStyle/>
          <a:p>
            <a:pPr algn="ctr" indent="0" marL="0">
              <a:buNone/>
            </a:pPr>
            <a:r>
              <a:rPr lang="en-US" sz="850" dirty="0">
                <a:solidFill>
                  <a:srgbClr val="C2551F"/>
                </a:solidFill>
                <a:latin typeface="Calibri" pitchFamily="34" charset="0"/>
                <a:ea typeface="Calibri" pitchFamily="34" charset="-122"/>
                <a:cs typeface="Calibri" pitchFamily="34" charset="-120"/>
              </a:rPr>
              <a:t>replays automatically on reconnect</a:t>
            </a:r>
            <a:endParaRPr lang="en-US" sz="850" dirty="0"/>
          </a:p>
        </p:txBody>
      </p:sp>
      <p:sp>
        <p:nvSpPr>
          <p:cNvPr id="38" name="Text 36"/>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BAND 4</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Central tier — index, investigate, account for</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Every request enters through one checkpoint. Nothing reaches the data without passing a role check, a session check and an audit write.</a:t>
            </a:r>
            <a:endParaRPr lang="en-US" sz="1450" dirty="0"/>
          </a:p>
        </p:txBody>
      </p:sp>
      <p:sp>
        <p:nvSpPr>
          <p:cNvPr id="5" name="Shape 3"/>
          <p:cNvSpPr/>
          <p:nvPr/>
        </p:nvSpPr>
        <p:spPr>
          <a:xfrm>
            <a:off x="640080" y="2450592"/>
            <a:ext cx="10881360" cy="749808"/>
          </a:xfrm>
          <a:prstGeom prst="roundRect">
            <a:avLst>
              <a:gd name="adj" fmla="val 4878"/>
            </a:avLst>
          </a:prstGeom>
          <a:solidFill>
            <a:srgbClr val="C2551F"/>
          </a:solidFill>
          <a:ln w="12700">
            <a:solidFill>
              <a:srgbClr val="C2551F"/>
            </a:solidFill>
            <a:prstDash val="solid"/>
          </a:ln>
        </p:spPr>
      </p:sp>
      <p:sp>
        <p:nvSpPr>
          <p:cNvPr id="6" name="Text 4"/>
          <p:cNvSpPr txBox="1"/>
          <p:nvPr/>
        </p:nvSpPr>
        <p:spPr>
          <a:xfrm>
            <a:off x="822960" y="2450592"/>
            <a:ext cx="4572000" cy="749808"/>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Access control and audit gate</a:t>
            </a:r>
            <a:endParaRPr lang="en-US" sz="1500" dirty="0"/>
          </a:p>
        </p:txBody>
      </p:sp>
      <p:sp>
        <p:nvSpPr>
          <p:cNvPr id="7" name="Text 5"/>
          <p:cNvSpPr txBox="1"/>
          <p:nvPr/>
        </p:nvSpPr>
        <p:spPr>
          <a:xfrm>
            <a:off x="5486400" y="2450592"/>
            <a:ext cx="5852160" cy="749808"/>
          </a:xfrm>
          <a:prstGeom prst="rect">
            <a:avLst/>
          </a:prstGeom>
          <a:noFill/>
          <a:ln/>
        </p:spPr>
        <p:txBody>
          <a:bodyPr wrap="square" lIns="0" tIns="0" rIns="0" bIns="0" rtlCol="0" anchor="ctr"/>
          <a:lstStyle/>
          <a:p>
            <a:pPr algn="r" indent="0" marL="0">
              <a:buNone/>
            </a:pPr>
            <a:r>
              <a:rPr lang="en-US" sz="1050" dirty="0">
                <a:solidFill>
                  <a:srgbClr val="FBE6D8"/>
                </a:solidFill>
                <a:latin typeface="Calibri" pitchFamily="34" charset="0"/>
                <a:ea typeface="Calibri" pitchFamily="34" charset="-122"/>
                <a:cs typeface="Calibri" pitchFamily="34" charset="-120"/>
              </a:rPr>
              <a:t>Checks the caller's role · confirms the session is still valid · records who did what and what the outcome was</a:t>
            </a:r>
            <a:endParaRPr lang="en-US" sz="1050" dirty="0"/>
          </a:p>
        </p:txBody>
      </p:sp>
      <p:sp>
        <p:nvSpPr>
          <p:cNvPr id="8" name="Shape 6"/>
          <p:cNvSpPr/>
          <p:nvPr/>
        </p:nvSpPr>
        <p:spPr>
          <a:xfrm>
            <a:off x="6080760" y="3255264"/>
            <a:ext cx="0" cy="274320"/>
          </a:xfrm>
          <a:prstGeom prst="line">
            <a:avLst/>
          </a:prstGeom>
          <a:noFill/>
          <a:ln w="22225">
            <a:solidFill>
              <a:srgbClr val="C2551F"/>
            </a:solidFill>
            <a:prstDash val="solid"/>
            <a:tailEnd type="triangle"/>
          </a:ln>
        </p:spPr>
      </p:sp>
      <p:sp>
        <p:nvSpPr>
          <p:cNvPr id="9" name="Shape 7"/>
          <p:cNvSpPr/>
          <p:nvPr/>
        </p:nvSpPr>
        <p:spPr>
          <a:xfrm>
            <a:off x="640080" y="3657600"/>
            <a:ext cx="3502152" cy="1097280"/>
          </a:xfrm>
          <a:prstGeom prst="roundRect">
            <a:avLst>
              <a:gd name="adj" fmla="val 3333"/>
            </a:avLst>
          </a:prstGeom>
          <a:solidFill>
            <a:srgbClr val="FFFFFF"/>
          </a:solidFill>
          <a:ln w="12700">
            <a:solidFill>
              <a:srgbClr val="DCE3EB"/>
            </a:solidFill>
            <a:prstDash val="solid"/>
          </a:ln>
        </p:spPr>
      </p:sp>
      <p:sp>
        <p:nvSpPr>
          <p:cNvPr id="10" name="Text 8"/>
          <p:cNvSpPr txBox="1"/>
          <p:nvPr/>
        </p:nvSpPr>
        <p:spPr>
          <a:xfrm>
            <a:off x="786384" y="3785616"/>
            <a:ext cx="3209544" cy="310896"/>
          </a:xfrm>
          <a:prstGeom prst="rect">
            <a:avLst/>
          </a:prstGeom>
          <a:noFill/>
          <a:ln/>
        </p:spPr>
        <p:txBody>
          <a:bodyPr wrap="square" lIns="0" tIns="0" rIns="0" bIns="0" rtlCol="0" anchor="ctr"/>
          <a:lstStyle/>
          <a:p>
            <a:pPr indent="0" marL="0">
              <a:buNone/>
            </a:pPr>
            <a:r>
              <a:rPr lang="en-US" sz="1200" b="1" dirty="0">
                <a:solidFill>
                  <a:srgbClr val="16243A"/>
                </a:solidFill>
                <a:latin typeface="Cambria" pitchFamily="34" charset="0"/>
                <a:ea typeface="Cambria" pitchFamily="34" charset="-122"/>
                <a:cs typeface="Cambria" pitchFamily="34" charset="-120"/>
              </a:rPr>
              <a:t>Metadata index</a:t>
            </a:r>
            <a:endParaRPr lang="en-US" sz="1200" dirty="0"/>
          </a:p>
        </p:txBody>
      </p:sp>
      <p:sp>
        <p:nvSpPr>
          <p:cNvPr id="11" name="Text 9"/>
          <p:cNvSpPr txBox="1"/>
          <p:nvPr/>
        </p:nvSpPr>
        <p:spPr>
          <a:xfrm>
            <a:off x="786384" y="4114800"/>
            <a:ext cx="3209544" cy="51206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Cameras, sightings, detections, watchlists, alerts, accounts and the audit log</a:t>
            </a:r>
            <a:endParaRPr lang="en-US" sz="950" dirty="0"/>
          </a:p>
        </p:txBody>
      </p:sp>
      <p:sp>
        <p:nvSpPr>
          <p:cNvPr id="12" name="Shape 10"/>
          <p:cNvSpPr/>
          <p:nvPr/>
        </p:nvSpPr>
        <p:spPr>
          <a:xfrm>
            <a:off x="4325112" y="3657600"/>
            <a:ext cx="3502152" cy="1097280"/>
          </a:xfrm>
          <a:prstGeom prst="roundRect">
            <a:avLst>
              <a:gd name="adj" fmla="val 3333"/>
            </a:avLst>
          </a:prstGeom>
          <a:solidFill>
            <a:srgbClr val="FFFFFF"/>
          </a:solidFill>
          <a:ln w="12700">
            <a:solidFill>
              <a:srgbClr val="DCE3EB"/>
            </a:solidFill>
            <a:prstDash val="solid"/>
          </a:ln>
        </p:spPr>
      </p:sp>
      <p:sp>
        <p:nvSpPr>
          <p:cNvPr id="13" name="Text 11"/>
          <p:cNvSpPr txBox="1"/>
          <p:nvPr/>
        </p:nvSpPr>
        <p:spPr>
          <a:xfrm>
            <a:off x="4471416" y="3785616"/>
            <a:ext cx="3209544" cy="310896"/>
          </a:xfrm>
          <a:prstGeom prst="rect">
            <a:avLst/>
          </a:prstGeom>
          <a:noFill/>
          <a:ln/>
        </p:spPr>
        <p:txBody>
          <a:bodyPr wrap="square" lIns="0" tIns="0" rIns="0" bIns="0" rtlCol="0" anchor="ctr"/>
          <a:lstStyle/>
          <a:p>
            <a:pPr indent="0" marL="0">
              <a:buNone/>
            </a:pPr>
            <a:r>
              <a:rPr lang="en-US" sz="1200" b="1" dirty="0">
                <a:solidFill>
                  <a:srgbClr val="16243A"/>
                </a:solidFill>
                <a:latin typeface="Cambria" pitchFamily="34" charset="0"/>
                <a:ea typeface="Cambria" pitchFamily="34" charset="-122"/>
                <a:cs typeface="Cambria" pitchFamily="34" charset="-120"/>
              </a:rPr>
              <a:t>Vehicle trace</a:t>
            </a:r>
            <a:endParaRPr lang="en-US" sz="1200" dirty="0"/>
          </a:p>
        </p:txBody>
      </p:sp>
      <p:sp>
        <p:nvSpPr>
          <p:cNvPr id="14" name="Text 12"/>
          <p:cNvSpPr txBox="1"/>
          <p:nvPr/>
        </p:nvSpPr>
        <p:spPr>
          <a:xfrm>
            <a:off x="4471416" y="4114800"/>
            <a:ext cx="3209544" cy="51206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Reconstructs a vehicle's movement history from the sighting record</a:t>
            </a:r>
            <a:endParaRPr lang="en-US" sz="950" dirty="0"/>
          </a:p>
        </p:txBody>
      </p:sp>
      <p:sp>
        <p:nvSpPr>
          <p:cNvPr id="15" name="Shape 13"/>
          <p:cNvSpPr/>
          <p:nvPr/>
        </p:nvSpPr>
        <p:spPr>
          <a:xfrm>
            <a:off x="8010144" y="3657600"/>
            <a:ext cx="3502152" cy="1097280"/>
          </a:xfrm>
          <a:prstGeom prst="roundRect">
            <a:avLst>
              <a:gd name="adj" fmla="val 3333"/>
            </a:avLst>
          </a:prstGeom>
          <a:solidFill>
            <a:srgbClr val="FFFFFF"/>
          </a:solidFill>
          <a:ln w="12700">
            <a:solidFill>
              <a:srgbClr val="DCE3EB"/>
            </a:solidFill>
            <a:prstDash val="solid"/>
          </a:ln>
        </p:spPr>
      </p:sp>
      <p:sp>
        <p:nvSpPr>
          <p:cNvPr id="16" name="Text 14"/>
          <p:cNvSpPr txBox="1"/>
          <p:nvPr/>
        </p:nvSpPr>
        <p:spPr>
          <a:xfrm>
            <a:off x="8156448" y="3785616"/>
            <a:ext cx="3209544" cy="310896"/>
          </a:xfrm>
          <a:prstGeom prst="rect">
            <a:avLst/>
          </a:prstGeom>
          <a:noFill/>
          <a:ln/>
        </p:spPr>
        <p:txBody>
          <a:bodyPr wrap="square" lIns="0" tIns="0" rIns="0" bIns="0" rtlCol="0" anchor="ctr"/>
          <a:lstStyle/>
          <a:p>
            <a:pPr indent="0" marL="0">
              <a:buNone/>
            </a:pPr>
            <a:r>
              <a:rPr lang="en-US" sz="1200" b="1" dirty="0">
                <a:solidFill>
                  <a:srgbClr val="16243A"/>
                </a:solidFill>
                <a:latin typeface="Cambria" pitchFamily="34" charset="0"/>
                <a:ea typeface="Cambria" pitchFamily="34" charset="-122"/>
                <a:cs typeface="Cambria" pitchFamily="34" charset="-120"/>
              </a:rPr>
              <a:t>Route validation</a:t>
            </a:r>
            <a:endParaRPr lang="en-US" sz="1200" dirty="0"/>
          </a:p>
        </p:txBody>
      </p:sp>
      <p:sp>
        <p:nvSpPr>
          <p:cNvPr id="17" name="Text 15"/>
          <p:cNvSpPr txBox="1"/>
          <p:nvPr/>
        </p:nvSpPr>
        <p:spPr>
          <a:xfrm>
            <a:off x="8156448" y="4114800"/>
            <a:ext cx="3209544" cy="51206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Flags any hop nobody could physically have driven in the time available</a:t>
            </a:r>
            <a:endParaRPr lang="en-US" sz="950" dirty="0"/>
          </a:p>
        </p:txBody>
      </p:sp>
      <p:sp>
        <p:nvSpPr>
          <p:cNvPr id="18" name="Shape 16"/>
          <p:cNvSpPr/>
          <p:nvPr/>
        </p:nvSpPr>
        <p:spPr>
          <a:xfrm>
            <a:off x="640080" y="4873752"/>
            <a:ext cx="3502152" cy="1097280"/>
          </a:xfrm>
          <a:prstGeom prst="roundRect">
            <a:avLst>
              <a:gd name="adj" fmla="val 3333"/>
            </a:avLst>
          </a:prstGeom>
          <a:solidFill>
            <a:srgbClr val="FFFFFF"/>
          </a:solidFill>
          <a:ln w="12700">
            <a:solidFill>
              <a:srgbClr val="DCE3EB"/>
            </a:solidFill>
            <a:prstDash val="solid"/>
          </a:ln>
        </p:spPr>
      </p:sp>
      <p:sp>
        <p:nvSpPr>
          <p:cNvPr id="19" name="Text 17"/>
          <p:cNvSpPr txBox="1"/>
          <p:nvPr/>
        </p:nvSpPr>
        <p:spPr>
          <a:xfrm>
            <a:off x="786384" y="5001768"/>
            <a:ext cx="3209544" cy="310896"/>
          </a:xfrm>
          <a:prstGeom prst="rect">
            <a:avLst/>
          </a:prstGeom>
          <a:noFill/>
          <a:ln/>
        </p:spPr>
        <p:txBody>
          <a:bodyPr wrap="square" lIns="0" tIns="0" rIns="0" bIns="0" rtlCol="0" anchor="ctr"/>
          <a:lstStyle/>
          <a:p>
            <a:pPr indent="0" marL="0">
              <a:buNone/>
            </a:pPr>
            <a:r>
              <a:rPr lang="en-US" sz="1200" b="1" dirty="0">
                <a:solidFill>
                  <a:srgbClr val="16243A"/>
                </a:solidFill>
                <a:latin typeface="Cambria" pitchFamily="34" charset="0"/>
                <a:ea typeface="Cambria" pitchFamily="34" charset="-122"/>
                <a:cs typeface="Cambria" pitchFamily="34" charset="-120"/>
              </a:rPr>
              <a:t>Alert broadcaster</a:t>
            </a:r>
            <a:endParaRPr lang="en-US" sz="1200" dirty="0"/>
          </a:p>
        </p:txBody>
      </p:sp>
      <p:sp>
        <p:nvSpPr>
          <p:cNvPr id="20" name="Text 18"/>
          <p:cNvSpPr txBox="1"/>
          <p:nvPr/>
        </p:nvSpPr>
        <p:spPr>
          <a:xfrm>
            <a:off x="786384" y="5330952"/>
            <a:ext cx="3209544" cy="51206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Pushes matches to every open console within seconds</a:t>
            </a:r>
            <a:endParaRPr lang="en-US" sz="950" dirty="0"/>
          </a:p>
        </p:txBody>
      </p:sp>
      <p:sp>
        <p:nvSpPr>
          <p:cNvPr id="21" name="Shape 19"/>
          <p:cNvSpPr/>
          <p:nvPr/>
        </p:nvSpPr>
        <p:spPr>
          <a:xfrm>
            <a:off x="4325112" y="4873752"/>
            <a:ext cx="3502152" cy="1097280"/>
          </a:xfrm>
          <a:prstGeom prst="roundRect">
            <a:avLst>
              <a:gd name="adj" fmla="val 3333"/>
            </a:avLst>
          </a:prstGeom>
          <a:solidFill>
            <a:srgbClr val="FFFFFF"/>
          </a:solidFill>
          <a:ln w="12700">
            <a:solidFill>
              <a:srgbClr val="DCE3EB"/>
            </a:solidFill>
            <a:prstDash val="solid"/>
          </a:ln>
        </p:spPr>
      </p:sp>
      <p:sp>
        <p:nvSpPr>
          <p:cNvPr id="22" name="Text 20"/>
          <p:cNvSpPr txBox="1"/>
          <p:nvPr/>
        </p:nvSpPr>
        <p:spPr>
          <a:xfrm>
            <a:off x="4471416" y="5001768"/>
            <a:ext cx="3209544" cy="310896"/>
          </a:xfrm>
          <a:prstGeom prst="rect">
            <a:avLst/>
          </a:prstGeom>
          <a:noFill/>
          <a:ln/>
        </p:spPr>
        <p:txBody>
          <a:bodyPr wrap="square" lIns="0" tIns="0" rIns="0" bIns="0" rtlCol="0" anchor="ctr"/>
          <a:lstStyle/>
          <a:p>
            <a:pPr indent="0" marL="0">
              <a:buNone/>
            </a:pPr>
            <a:r>
              <a:rPr lang="en-US" sz="1200" b="1" dirty="0">
                <a:solidFill>
                  <a:srgbClr val="16243A"/>
                </a:solidFill>
                <a:latin typeface="Cambria" pitchFamily="34" charset="0"/>
                <a:ea typeface="Cambria" pitchFamily="34" charset="-122"/>
                <a:cs typeface="Cambria" pitchFamily="34" charset="-120"/>
              </a:rPr>
              <a:t>Evidence export</a:t>
            </a:r>
            <a:endParaRPr lang="en-US" sz="1200" dirty="0"/>
          </a:p>
        </p:txBody>
      </p:sp>
      <p:sp>
        <p:nvSpPr>
          <p:cNvPr id="23" name="Text 21"/>
          <p:cNvSpPr txBox="1"/>
          <p:nvPr/>
        </p:nvSpPr>
        <p:spPr>
          <a:xfrm>
            <a:off x="4471416" y="5330952"/>
            <a:ext cx="3209544" cy="51206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Court-format report with hashed images and a chain-of-custody statement</a:t>
            </a:r>
            <a:endParaRPr lang="en-US" sz="950" dirty="0"/>
          </a:p>
        </p:txBody>
      </p:sp>
      <p:sp>
        <p:nvSpPr>
          <p:cNvPr id="24" name="Shape 22"/>
          <p:cNvSpPr/>
          <p:nvPr/>
        </p:nvSpPr>
        <p:spPr>
          <a:xfrm>
            <a:off x="8010144" y="4873752"/>
            <a:ext cx="3502152" cy="1097280"/>
          </a:xfrm>
          <a:prstGeom prst="roundRect">
            <a:avLst>
              <a:gd name="adj" fmla="val 3333"/>
            </a:avLst>
          </a:prstGeom>
          <a:solidFill>
            <a:srgbClr val="FFFFFF"/>
          </a:solidFill>
          <a:ln w="12700">
            <a:solidFill>
              <a:srgbClr val="DCE3EB"/>
            </a:solidFill>
            <a:prstDash val="solid"/>
          </a:ln>
        </p:spPr>
      </p:sp>
      <p:sp>
        <p:nvSpPr>
          <p:cNvPr id="25" name="Text 23"/>
          <p:cNvSpPr txBox="1"/>
          <p:nvPr/>
        </p:nvSpPr>
        <p:spPr>
          <a:xfrm>
            <a:off x="8156448" y="5001768"/>
            <a:ext cx="3209544" cy="310896"/>
          </a:xfrm>
          <a:prstGeom prst="rect">
            <a:avLst/>
          </a:prstGeom>
          <a:noFill/>
          <a:ln/>
        </p:spPr>
        <p:txBody>
          <a:bodyPr wrap="square" lIns="0" tIns="0" rIns="0" bIns="0" rtlCol="0" anchor="ctr"/>
          <a:lstStyle/>
          <a:p>
            <a:pPr indent="0" marL="0">
              <a:buNone/>
            </a:pPr>
            <a:r>
              <a:rPr lang="en-US" sz="1200" b="1" dirty="0">
                <a:solidFill>
                  <a:srgbClr val="16243A"/>
                </a:solidFill>
                <a:latin typeface="Cambria" pitchFamily="34" charset="0"/>
                <a:ea typeface="Cambria" pitchFamily="34" charset="-122"/>
                <a:cs typeface="Cambria" pitchFamily="34" charset="-120"/>
              </a:rPr>
              <a:t>Retention service</a:t>
            </a:r>
            <a:endParaRPr lang="en-US" sz="1200" dirty="0"/>
          </a:p>
        </p:txBody>
      </p:sp>
      <p:sp>
        <p:nvSpPr>
          <p:cNvPr id="26" name="Text 24"/>
          <p:cNvSpPr txBox="1"/>
          <p:nvPr/>
        </p:nvSpPr>
        <p:spPr>
          <a:xfrm>
            <a:off x="8156448" y="5330952"/>
            <a:ext cx="3209544" cy="512064"/>
          </a:xfrm>
          <a:prstGeom prst="rect">
            <a:avLst/>
          </a:prstGeom>
          <a:noFill/>
          <a:ln/>
        </p:spPr>
        <p:txBody>
          <a:bodyPr wrap="square" lIns="0" tIns="0" rIns="0" bIns="0" rtlCol="0" anchor="ctr"/>
          <a:lstStyle/>
          <a:p>
            <a:pPr indent="0" marL="0">
              <a:lnSpc>
                <a:spcPts val="1300"/>
              </a:lnSpc>
              <a:buNone/>
            </a:pPr>
            <a:r>
              <a:rPr lang="en-US" sz="950" dirty="0">
                <a:solidFill>
                  <a:srgbClr val="3C4A5C"/>
                </a:solidFill>
                <a:latin typeface="Calibri" pitchFamily="34" charset="0"/>
                <a:ea typeface="Calibri" pitchFamily="34" charset="-122"/>
                <a:cs typeface="Calibri" pitchFamily="34" charset="-120"/>
              </a:rPr>
              <a:t>Removes records past the window, preserving anything under an open alert</a:t>
            </a:r>
            <a:endParaRPr lang="en-US" sz="950" dirty="0"/>
          </a:p>
        </p:txBody>
      </p:sp>
      <p:sp>
        <p:nvSpPr>
          <p:cNvPr id="27" name="Text 25"/>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BEYOND THE PLATFORM</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External authorities and the operator console</a:t>
            </a:r>
            <a:endParaRPr lang="en-US" sz="3400" dirty="0"/>
          </a:p>
        </p:txBody>
      </p:sp>
      <p:sp>
        <p:nvSpPr>
          <p:cNvPr id="4" name="Text 2"/>
          <p:cNvSpPr txBox="1"/>
          <p:nvPr/>
        </p:nvSpPr>
        <p:spPr>
          <a:xfrm>
            <a:off x="640080" y="2377440"/>
            <a:ext cx="5486400" cy="310896"/>
          </a:xfrm>
          <a:prstGeom prst="rect">
            <a:avLst/>
          </a:prstGeom>
          <a:noFill/>
          <a:ln/>
        </p:spPr>
        <p:txBody>
          <a:bodyPr wrap="square" lIns="0" tIns="0" rIns="0" bIns="0" rtlCol="0" anchor="ctr"/>
          <a:lstStyle/>
          <a:p>
            <a:pPr indent="0" marL="0">
              <a:buNone/>
            </a:pPr>
            <a:r>
              <a:rPr lang="en-US" sz="1100" b="1" spc="130" kern="0" dirty="0">
                <a:solidFill>
                  <a:srgbClr val="C2551F"/>
                </a:solidFill>
                <a:latin typeface="Calibri" pitchFamily="34" charset="0"/>
                <a:ea typeface="Calibri" pitchFamily="34" charset="-122"/>
                <a:cs typeface="Calibri" pitchFamily="34" charset="-120"/>
              </a:rPr>
              <a:t>Queried in parallel</a:t>
            </a:r>
            <a:endParaRPr lang="en-US" sz="1100" dirty="0"/>
          </a:p>
        </p:txBody>
      </p:sp>
      <p:sp>
        <p:nvSpPr>
          <p:cNvPr id="5" name="Shape 3"/>
          <p:cNvSpPr/>
          <p:nvPr/>
        </p:nvSpPr>
        <p:spPr>
          <a:xfrm>
            <a:off x="640080" y="2788920"/>
            <a:ext cx="5120640" cy="457200"/>
          </a:xfrm>
          <a:prstGeom prst="roundRect">
            <a:avLst>
              <a:gd name="adj" fmla="val 7000"/>
            </a:avLst>
          </a:prstGeom>
          <a:solidFill>
            <a:srgbClr val="FFFFFF"/>
          </a:solidFill>
          <a:ln w="12700">
            <a:solidFill>
              <a:srgbClr val="E8CBB4"/>
            </a:solidFill>
            <a:prstDash val="solid"/>
          </a:ln>
        </p:spPr>
      </p:sp>
      <p:sp>
        <p:nvSpPr>
          <p:cNvPr id="6" name="Text 4"/>
          <p:cNvSpPr txBox="1"/>
          <p:nvPr/>
        </p:nvSpPr>
        <p:spPr>
          <a:xfrm>
            <a:off x="704088" y="2788920"/>
            <a:ext cx="4992624" cy="457200"/>
          </a:xfrm>
          <a:prstGeom prst="rect">
            <a:avLst/>
          </a:prstGeom>
          <a:noFill/>
          <a:ln/>
        </p:spPr>
        <p:txBody>
          <a:bodyPr wrap="square" lIns="0" tIns="0" rIns="0" bIns="0" rtlCol="0" anchor="ctr"/>
          <a:lstStyle/>
          <a:p>
            <a:pPr algn="ctr" indent="0" marL="0">
              <a:lnSpc>
                <a:spcPts val="1400"/>
              </a:lnSpc>
              <a:buNone/>
            </a:pPr>
            <a:r>
              <a:rPr lang="en-US" sz="1100" b="1" dirty="0">
                <a:solidFill>
                  <a:srgbClr val="16243A"/>
                </a:solidFill>
                <a:latin typeface="Calibri" pitchFamily="34" charset="0"/>
                <a:ea typeface="Calibri" pitchFamily="34" charset="-122"/>
                <a:cs typeface="Calibri" pitchFamily="34" charset="-120"/>
              </a:rPr>
              <a:t>Vehicle registration authority</a:t>
            </a:r>
            <a:endParaRPr lang="en-US" sz="1100" dirty="0"/>
          </a:p>
        </p:txBody>
      </p:sp>
      <p:sp>
        <p:nvSpPr>
          <p:cNvPr id="7" name="Shape 5"/>
          <p:cNvSpPr/>
          <p:nvPr/>
        </p:nvSpPr>
        <p:spPr>
          <a:xfrm>
            <a:off x="640080" y="3355848"/>
            <a:ext cx="5120640" cy="457200"/>
          </a:xfrm>
          <a:prstGeom prst="roundRect">
            <a:avLst>
              <a:gd name="adj" fmla="val 7000"/>
            </a:avLst>
          </a:prstGeom>
          <a:solidFill>
            <a:srgbClr val="FFFFFF"/>
          </a:solidFill>
          <a:ln w="12700">
            <a:solidFill>
              <a:srgbClr val="E8CBB4"/>
            </a:solidFill>
            <a:prstDash val="solid"/>
          </a:ln>
        </p:spPr>
      </p:sp>
      <p:sp>
        <p:nvSpPr>
          <p:cNvPr id="8" name="Text 6"/>
          <p:cNvSpPr txBox="1"/>
          <p:nvPr/>
        </p:nvSpPr>
        <p:spPr>
          <a:xfrm>
            <a:off x="704088" y="3355848"/>
            <a:ext cx="4992624" cy="457200"/>
          </a:xfrm>
          <a:prstGeom prst="rect">
            <a:avLst/>
          </a:prstGeom>
          <a:noFill/>
          <a:ln/>
        </p:spPr>
        <p:txBody>
          <a:bodyPr wrap="square" lIns="0" tIns="0" rIns="0" bIns="0" rtlCol="0" anchor="ctr"/>
          <a:lstStyle/>
          <a:p>
            <a:pPr algn="ctr" indent="0" marL="0">
              <a:lnSpc>
                <a:spcPts val="1400"/>
              </a:lnSpc>
              <a:buNone/>
            </a:pPr>
            <a:r>
              <a:rPr lang="en-US" sz="1100" b="1" dirty="0">
                <a:solidFill>
                  <a:srgbClr val="16243A"/>
                </a:solidFill>
                <a:latin typeface="Calibri" pitchFamily="34" charset="0"/>
                <a:ea typeface="Calibri" pitchFamily="34" charset="-122"/>
                <a:cs typeface="Calibri" pitchFamily="34" charset="-120"/>
              </a:rPr>
              <a:t>State police records</a:t>
            </a:r>
            <a:endParaRPr lang="en-US" sz="1100" dirty="0"/>
          </a:p>
        </p:txBody>
      </p:sp>
      <p:sp>
        <p:nvSpPr>
          <p:cNvPr id="9" name="Shape 7"/>
          <p:cNvSpPr/>
          <p:nvPr/>
        </p:nvSpPr>
        <p:spPr>
          <a:xfrm>
            <a:off x="640080" y="3922776"/>
            <a:ext cx="5120640" cy="457200"/>
          </a:xfrm>
          <a:prstGeom prst="roundRect">
            <a:avLst>
              <a:gd name="adj" fmla="val 7000"/>
            </a:avLst>
          </a:prstGeom>
          <a:solidFill>
            <a:srgbClr val="FFFFFF"/>
          </a:solidFill>
          <a:ln w="12700">
            <a:solidFill>
              <a:srgbClr val="E8CBB4"/>
            </a:solidFill>
            <a:prstDash val="solid"/>
          </a:ln>
        </p:spPr>
      </p:sp>
      <p:sp>
        <p:nvSpPr>
          <p:cNvPr id="10" name="Text 8"/>
          <p:cNvSpPr txBox="1"/>
          <p:nvPr/>
        </p:nvSpPr>
        <p:spPr>
          <a:xfrm>
            <a:off x="704088" y="3922776"/>
            <a:ext cx="4992624" cy="457200"/>
          </a:xfrm>
          <a:prstGeom prst="rect">
            <a:avLst/>
          </a:prstGeom>
          <a:noFill/>
          <a:ln/>
        </p:spPr>
        <p:txBody>
          <a:bodyPr wrap="square" lIns="0" tIns="0" rIns="0" bIns="0" rtlCol="0" anchor="ctr"/>
          <a:lstStyle/>
          <a:p>
            <a:pPr algn="ctr" indent="0" marL="0">
              <a:lnSpc>
                <a:spcPts val="1400"/>
              </a:lnSpc>
              <a:buNone/>
            </a:pPr>
            <a:r>
              <a:rPr lang="en-US" sz="1100" b="1" dirty="0">
                <a:solidFill>
                  <a:srgbClr val="16243A"/>
                </a:solidFill>
                <a:latin typeface="Calibri" pitchFamily="34" charset="0"/>
                <a:ea typeface="Calibri" pitchFamily="34" charset="-122"/>
                <a:cs typeface="Calibri" pitchFamily="34" charset="-120"/>
              </a:rPr>
              <a:t>National crime records network</a:t>
            </a:r>
            <a:endParaRPr lang="en-US" sz="1100" dirty="0"/>
          </a:p>
        </p:txBody>
      </p:sp>
      <p:sp>
        <p:nvSpPr>
          <p:cNvPr id="11" name="Shape 9"/>
          <p:cNvSpPr/>
          <p:nvPr/>
        </p:nvSpPr>
        <p:spPr>
          <a:xfrm>
            <a:off x="640080" y="4489704"/>
            <a:ext cx="5120640" cy="457200"/>
          </a:xfrm>
          <a:prstGeom prst="roundRect">
            <a:avLst>
              <a:gd name="adj" fmla="val 7000"/>
            </a:avLst>
          </a:prstGeom>
          <a:solidFill>
            <a:srgbClr val="FFFFFF"/>
          </a:solidFill>
          <a:ln w="12700">
            <a:solidFill>
              <a:srgbClr val="E8CBB4"/>
            </a:solidFill>
            <a:prstDash val="solid"/>
          </a:ln>
        </p:spPr>
      </p:sp>
      <p:sp>
        <p:nvSpPr>
          <p:cNvPr id="12" name="Text 10"/>
          <p:cNvSpPr txBox="1"/>
          <p:nvPr/>
        </p:nvSpPr>
        <p:spPr>
          <a:xfrm>
            <a:off x="704088" y="4489704"/>
            <a:ext cx="4992624" cy="457200"/>
          </a:xfrm>
          <a:prstGeom prst="rect">
            <a:avLst/>
          </a:prstGeom>
          <a:noFill/>
          <a:ln/>
        </p:spPr>
        <p:txBody>
          <a:bodyPr wrap="square" lIns="0" tIns="0" rIns="0" bIns="0" rtlCol="0" anchor="ctr"/>
          <a:lstStyle/>
          <a:p>
            <a:pPr algn="ctr" indent="0" marL="0">
              <a:lnSpc>
                <a:spcPts val="1400"/>
              </a:lnSpc>
              <a:buNone/>
            </a:pPr>
            <a:r>
              <a:rPr lang="en-US" sz="1100" b="1" dirty="0">
                <a:solidFill>
                  <a:srgbClr val="16243A"/>
                </a:solidFill>
                <a:latin typeface="Calibri" pitchFamily="34" charset="0"/>
                <a:ea typeface="Calibri" pitchFamily="34" charset="-122"/>
                <a:cs typeface="Calibri" pitchFamily="34" charset="-120"/>
              </a:rPr>
              <a:t>Biometric identification system</a:t>
            </a:r>
            <a:endParaRPr lang="en-US" sz="1100" dirty="0"/>
          </a:p>
        </p:txBody>
      </p:sp>
      <p:sp>
        <p:nvSpPr>
          <p:cNvPr id="13" name="Text 11"/>
          <p:cNvSpPr txBox="1"/>
          <p:nvPr/>
        </p:nvSpPr>
        <p:spPr>
          <a:xfrm>
            <a:off x="640080" y="5138928"/>
            <a:ext cx="5120640" cy="822960"/>
          </a:xfrm>
          <a:prstGeom prst="rect">
            <a:avLst/>
          </a:prstGeom>
          <a:noFill/>
          <a:ln/>
        </p:spPr>
        <p:txBody>
          <a:bodyPr wrap="square" lIns="0" tIns="0" rIns="0" bIns="0" rtlCol="0" anchor="ctr"/>
          <a:lstStyle/>
          <a:p>
            <a:pPr indent="0" marL="0">
              <a:lnSpc>
                <a:spcPts val="1600"/>
              </a:lnSpc>
              <a:buNone/>
            </a:pPr>
            <a:r>
              <a:rPr lang="en-US" sz="1100" dirty="0">
                <a:solidFill>
                  <a:srgbClr val="3C4A5C"/>
                </a:solidFill>
                <a:latin typeface="Calibri" pitchFamily="34" charset="0"/>
                <a:ea typeface="Calibri" pitchFamily="34" charset="-122"/>
                <a:cs typeface="Calibri" pitchFamily="34" charset="-120"/>
              </a:rPr>
              <a:t>One authority being unavailable must not lose the answers from the others. Each connector either answers or reports itself unreachable, and the investigator can see which did which.</a:t>
            </a:r>
            <a:endParaRPr lang="en-US" sz="1100" dirty="0"/>
          </a:p>
        </p:txBody>
      </p:sp>
      <p:sp>
        <p:nvSpPr>
          <p:cNvPr id="14" name="Text 12"/>
          <p:cNvSpPr txBox="1"/>
          <p:nvPr/>
        </p:nvSpPr>
        <p:spPr>
          <a:xfrm>
            <a:off x="6263640" y="2377440"/>
            <a:ext cx="5257800" cy="310896"/>
          </a:xfrm>
          <a:prstGeom prst="rect">
            <a:avLst/>
          </a:prstGeom>
          <a:noFill/>
          <a:ln/>
        </p:spPr>
        <p:txBody>
          <a:bodyPr wrap="square" lIns="0" tIns="0" rIns="0" bIns="0" rtlCol="0" anchor="ctr"/>
          <a:lstStyle/>
          <a:p>
            <a:pPr indent="0" marL="0">
              <a:buNone/>
            </a:pPr>
            <a:r>
              <a:rPr lang="en-US" sz="1100" b="1" spc="130" kern="0" dirty="0">
                <a:solidFill>
                  <a:srgbClr val="C2551F"/>
                </a:solidFill>
                <a:latin typeface="Calibri" pitchFamily="34" charset="0"/>
                <a:ea typeface="Calibri" pitchFamily="34" charset="-122"/>
                <a:cs typeface="Calibri" pitchFamily="34" charset="-120"/>
              </a:rPr>
              <a:t>Shown according to role</a:t>
            </a:r>
            <a:endParaRPr lang="en-US" sz="1100" dirty="0"/>
          </a:p>
        </p:txBody>
      </p:sp>
      <p:sp>
        <p:nvSpPr>
          <p:cNvPr id="15" name="Shape 13"/>
          <p:cNvSpPr/>
          <p:nvPr/>
        </p:nvSpPr>
        <p:spPr>
          <a:xfrm>
            <a:off x="6263640" y="2788920"/>
            <a:ext cx="1664208" cy="457200"/>
          </a:xfrm>
          <a:prstGeom prst="roundRect">
            <a:avLst>
              <a:gd name="adj" fmla="val 7000"/>
            </a:avLst>
          </a:prstGeom>
          <a:solidFill>
            <a:srgbClr val="FFFFFF"/>
          </a:solidFill>
          <a:ln w="12700">
            <a:solidFill>
              <a:srgbClr val="DCE3EB"/>
            </a:solidFill>
            <a:prstDash val="solid"/>
          </a:ln>
        </p:spPr>
      </p:sp>
      <p:sp>
        <p:nvSpPr>
          <p:cNvPr id="16" name="Text 14"/>
          <p:cNvSpPr txBox="1"/>
          <p:nvPr/>
        </p:nvSpPr>
        <p:spPr>
          <a:xfrm>
            <a:off x="6327648" y="2788920"/>
            <a:ext cx="1536192" cy="457200"/>
          </a:xfrm>
          <a:prstGeom prst="rect">
            <a:avLst/>
          </a:prstGeom>
          <a:noFill/>
          <a:ln/>
        </p:spPr>
        <p:txBody>
          <a:bodyPr wrap="square" lIns="0" tIns="0" rIns="0" bIns="0" rtlCol="0" anchor="ctr"/>
          <a:lstStyle/>
          <a:p>
            <a:pPr algn="ctr" indent="0" marL="0">
              <a:lnSpc>
                <a:spcPts val="1250"/>
              </a:lnSpc>
              <a:buNone/>
            </a:pPr>
            <a:r>
              <a:rPr lang="en-US" sz="950" b="1" dirty="0">
                <a:solidFill>
                  <a:srgbClr val="16243A"/>
                </a:solidFill>
                <a:latin typeface="Calibri" pitchFamily="34" charset="0"/>
                <a:ea typeface="Calibri" pitchFamily="34" charset="-122"/>
                <a:cs typeface="Calibri" pitchFamily="34" charset="-120"/>
              </a:rPr>
              <a:t>Dashboard</a:t>
            </a:r>
            <a:endParaRPr lang="en-US" sz="950" dirty="0"/>
          </a:p>
        </p:txBody>
      </p:sp>
      <p:sp>
        <p:nvSpPr>
          <p:cNvPr id="17" name="Shape 15"/>
          <p:cNvSpPr/>
          <p:nvPr/>
        </p:nvSpPr>
        <p:spPr>
          <a:xfrm>
            <a:off x="8055864" y="2788920"/>
            <a:ext cx="1664208" cy="457200"/>
          </a:xfrm>
          <a:prstGeom prst="roundRect">
            <a:avLst>
              <a:gd name="adj" fmla="val 7000"/>
            </a:avLst>
          </a:prstGeom>
          <a:solidFill>
            <a:srgbClr val="FFFFFF"/>
          </a:solidFill>
          <a:ln w="12700">
            <a:solidFill>
              <a:srgbClr val="DCE3EB"/>
            </a:solidFill>
            <a:prstDash val="solid"/>
          </a:ln>
        </p:spPr>
      </p:sp>
      <p:sp>
        <p:nvSpPr>
          <p:cNvPr id="18" name="Text 16"/>
          <p:cNvSpPr txBox="1"/>
          <p:nvPr/>
        </p:nvSpPr>
        <p:spPr>
          <a:xfrm>
            <a:off x="8119872" y="2788920"/>
            <a:ext cx="1536192" cy="457200"/>
          </a:xfrm>
          <a:prstGeom prst="rect">
            <a:avLst/>
          </a:prstGeom>
          <a:noFill/>
          <a:ln/>
        </p:spPr>
        <p:txBody>
          <a:bodyPr wrap="square" lIns="0" tIns="0" rIns="0" bIns="0" rtlCol="0" anchor="ctr"/>
          <a:lstStyle/>
          <a:p>
            <a:pPr algn="ctr" indent="0" marL="0">
              <a:lnSpc>
                <a:spcPts val="1250"/>
              </a:lnSpc>
              <a:buNone/>
            </a:pPr>
            <a:r>
              <a:rPr lang="en-US" sz="950" b="1" dirty="0">
                <a:solidFill>
                  <a:srgbClr val="16243A"/>
                </a:solidFill>
                <a:latin typeface="Calibri" pitchFamily="34" charset="0"/>
                <a:ea typeface="Calibri" pitchFamily="34" charset="-122"/>
                <a:cs typeface="Calibri" pitchFamily="34" charset="-120"/>
              </a:rPr>
              <a:t>Live wall</a:t>
            </a:r>
            <a:endParaRPr lang="en-US" sz="950" dirty="0"/>
          </a:p>
        </p:txBody>
      </p:sp>
      <p:sp>
        <p:nvSpPr>
          <p:cNvPr id="19" name="Shape 17"/>
          <p:cNvSpPr/>
          <p:nvPr/>
        </p:nvSpPr>
        <p:spPr>
          <a:xfrm>
            <a:off x="9848088" y="2788920"/>
            <a:ext cx="1664208" cy="457200"/>
          </a:xfrm>
          <a:prstGeom prst="roundRect">
            <a:avLst>
              <a:gd name="adj" fmla="val 7000"/>
            </a:avLst>
          </a:prstGeom>
          <a:solidFill>
            <a:srgbClr val="FFFFFF"/>
          </a:solidFill>
          <a:ln w="12700">
            <a:solidFill>
              <a:srgbClr val="DCE3EB"/>
            </a:solidFill>
            <a:prstDash val="solid"/>
          </a:ln>
        </p:spPr>
      </p:sp>
      <p:sp>
        <p:nvSpPr>
          <p:cNvPr id="20" name="Text 18"/>
          <p:cNvSpPr txBox="1"/>
          <p:nvPr/>
        </p:nvSpPr>
        <p:spPr>
          <a:xfrm>
            <a:off x="9912096" y="2788920"/>
            <a:ext cx="1536192" cy="457200"/>
          </a:xfrm>
          <a:prstGeom prst="rect">
            <a:avLst/>
          </a:prstGeom>
          <a:noFill/>
          <a:ln/>
        </p:spPr>
        <p:txBody>
          <a:bodyPr wrap="square" lIns="0" tIns="0" rIns="0" bIns="0" rtlCol="0" anchor="ctr"/>
          <a:lstStyle/>
          <a:p>
            <a:pPr algn="ctr" indent="0" marL="0">
              <a:lnSpc>
                <a:spcPts val="1250"/>
              </a:lnSpc>
              <a:buNone/>
            </a:pPr>
            <a:r>
              <a:rPr lang="en-US" sz="950" b="1" dirty="0">
                <a:solidFill>
                  <a:srgbClr val="16243A"/>
                </a:solidFill>
                <a:latin typeface="Calibri" pitchFamily="34" charset="0"/>
                <a:ea typeface="Calibri" pitchFamily="34" charset="-122"/>
                <a:cs typeface="Calibri" pitchFamily="34" charset="-120"/>
              </a:rPr>
              <a:t>Vehicle trace</a:t>
            </a:r>
            <a:endParaRPr lang="en-US" sz="950" dirty="0"/>
          </a:p>
        </p:txBody>
      </p:sp>
      <p:sp>
        <p:nvSpPr>
          <p:cNvPr id="21" name="Shape 19"/>
          <p:cNvSpPr/>
          <p:nvPr/>
        </p:nvSpPr>
        <p:spPr>
          <a:xfrm>
            <a:off x="6263640" y="3355848"/>
            <a:ext cx="1664208" cy="457200"/>
          </a:xfrm>
          <a:prstGeom prst="roundRect">
            <a:avLst>
              <a:gd name="adj" fmla="val 7000"/>
            </a:avLst>
          </a:prstGeom>
          <a:solidFill>
            <a:srgbClr val="FFFFFF"/>
          </a:solidFill>
          <a:ln w="12700">
            <a:solidFill>
              <a:srgbClr val="DCE3EB"/>
            </a:solidFill>
            <a:prstDash val="solid"/>
          </a:ln>
        </p:spPr>
      </p:sp>
      <p:sp>
        <p:nvSpPr>
          <p:cNvPr id="22" name="Text 20"/>
          <p:cNvSpPr txBox="1"/>
          <p:nvPr/>
        </p:nvSpPr>
        <p:spPr>
          <a:xfrm>
            <a:off x="6327648" y="3355848"/>
            <a:ext cx="1536192" cy="457200"/>
          </a:xfrm>
          <a:prstGeom prst="rect">
            <a:avLst/>
          </a:prstGeom>
          <a:noFill/>
          <a:ln/>
        </p:spPr>
        <p:txBody>
          <a:bodyPr wrap="square" lIns="0" tIns="0" rIns="0" bIns="0" rtlCol="0" anchor="ctr"/>
          <a:lstStyle/>
          <a:p>
            <a:pPr algn="ctr" indent="0" marL="0">
              <a:lnSpc>
                <a:spcPts val="1250"/>
              </a:lnSpc>
              <a:buNone/>
            </a:pPr>
            <a:r>
              <a:rPr lang="en-US" sz="950" b="1" dirty="0">
                <a:solidFill>
                  <a:srgbClr val="16243A"/>
                </a:solidFill>
                <a:latin typeface="Calibri" pitchFamily="34" charset="0"/>
                <a:ea typeface="Calibri" pitchFamily="34" charset="-122"/>
                <a:cs typeface="Calibri" pitchFamily="34" charset="-120"/>
              </a:rPr>
              <a:t>Detection log</a:t>
            </a:r>
            <a:endParaRPr lang="en-US" sz="950" dirty="0"/>
          </a:p>
        </p:txBody>
      </p:sp>
      <p:sp>
        <p:nvSpPr>
          <p:cNvPr id="23" name="Shape 21"/>
          <p:cNvSpPr/>
          <p:nvPr/>
        </p:nvSpPr>
        <p:spPr>
          <a:xfrm>
            <a:off x="8055864" y="3355848"/>
            <a:ext cx="1664208" cy="457200"/>
          </a:xfrm>
          <a:prstGeom prst="roundRect">
            <a:avLst>
              <a:gd name="adj" fmla="val 7000"/>
            </a:avLst>
          </a:prstGeom>
          <a:solidFill>
            <a:srgbClr val="FFFFFF"/>
          </a:solidFill>
          <a:ln w="12700">
            <a:solidFill>
              <a:srgbClr val="DCE3EB"/>
            </a:solidFill>
            <a:prstDash val="solid"/>
          </a:ln>
        </p:spPr>
      </p:sp>
      <p:sp>
        <p:nvSpPr>
          <p:cNvPr id="24" name="Text 22"/>
          <p:cNvSpPr txBox="1"/>
          <p:nvPr/>
        </p:nvSpPr>
        <p:spPr>
          <a:xfrm>
            <a:off x="8119872" y="3355848"/>
            <a:ext cx="1536192" cy="457200"/>
          </a:xfrm>
          <a:prstGeom prst="rect">
            <a:avLst/>
          </a:prstGeom>
          <a:noFill/>
          <a:ln/>
        </p:spPr>
        <p:txBody>
          <a:bodyPr wrap="square" lIns="0" tIns="0" rIns="0" bIns="0" rtlCol="0" anchor="ctr"/>
          <a:lstStyle/>
          <a:p>
            <a:pPr algn="ctr" indent="0" marL="0">
              <a:lnSpc>
                <a:spcPts val="1250"/>
              </a:lnSpc>
              <a:buNone/>
            </a:pPr>
            <a:r>
              <a:rPr lang="en-US" sz="950" b="1" dirty="0">
                <a:solidFill>
                  <a:srgbClr val="16243A"/>
                </a:solidFill>
                <a:latin typeface="Calibri" pitchFamily="34" charset="0"/>
                <a:ea typeface="Calibri" pitchFamily="34" charset="-122"/>
                <a:cs typeface="Calibri" pitchFamily="34" charset="-120"/>
              </a:rPr>
              <a:t>Analytics</a:t>
            </a:r>
            <a:endParaRPr lang="en-US" sz="950" dirty="0"/>
          </a:p>
        </p:txBody>
      </p:sp>
      <p:sp>
        <p:nvSpPr>
          <p:cNvPr id="25" name="Shape 23"/>
          <p:cNvSpPr/>
          <p:nvPr/>
        </p:nvSpPr>
        <p:spPr>
          <a:xfrm>
            <a:off x="9848088" y="3355848"/>
            <a:ext cx="1664208" cy="457200"/>
          </a:xfrm>
          <a:prstGeom prst="roundRect">
            <a:avLst>
              <a:gd name="adj" fmla="val 7000"/>
            </a:avLst>
          </a:prstGeom>
          <a:solidFill>
            <a:srgbClr val="FFFFFF"/>
          </a:solidFill>
          <a:ln w="12700">
            <a:solidFill>
              <a:srgbClr val="DCE3EB"/>
            </a:solidFill>
            <a:prstDash val="solid"/>
          </a:ln>
        </p:spPr>
      </p:sp>
      <p:sp>
        <p:nvSpPr>
          <p:cNvPr id="26" name="Text 24"/>
          <p:cNvSpPr txBox="1"/>
          <p:nvPr/>
        </p:nvSpPr>
        <p:spPr>
          <a:xfrm>
            <a:off x="9912096" y="3355848"/>
            <a:ext cx="1536192" cy="457200"/>
          </a:xfrm>
          <a:prstGeom prst="rect">
            <a:avLst/>
          </a:prstGeom>
          <a:noFill/>
          <a:ln/>
        </p:spPr>
        <p:txBody>
          <a:bodyPr wrap="square" lIns="0" tIns="0" rIns="0" bIns="0" rtlCol="0" anchor="ctr"/>
          <a:lstStyle/>
          <a:p>
            <a:pPr algn="ctr" indent="0" marL="0">
              <a:lnSpc>
                <a:spcPts val="1250"/>
              </a:lnSpc>
              <a:buNone/>
            </a:pPr>
            <a:r>
              <a:rPr lang="en-US" sz="950" b="1" dirty="0">
                <a:solidFill>
                  <a:srgbClr val="16243A"/>
                </a:solidFill>
                <a:latin typeface="Calibri" pitchFamily="34" charset="0"/>
                <a:ea typeface="Calibri" pitchFamily="34" charset="-122"/>
                <a:cs typeface="Calibri" pitchFamily="34" charset="-120"/>
              </a:rPr>
              <a:t>Watchlist</a:t>
            </a:r>
            <a:endParaRPr lang="en-US" sz="950" dirty="0"/>
          </a:p>
        </p:txBody>
      </p:sp>
      <p:sp>
        <p:nvSpPr>
          <p:cNvPr id="27" name="Shape 25"/>
          <p:cNvSpPr/>
          <p:nvPr/>
        </p:nvSpPr>
        <p:spPr>
          <a:xfrm>
            <a:off x="6263640" y="3922776"/>
            <a:ext cx="1664208" cy="457200"/>
          </a:xfrm>
          <a:prstGeom prst="roundRect">
            <a:avLst>
              <a:gd name="adj" fmla="val 7000"/>
            </a:avLst>
          </a:prstGeom>
          <a:solidFill>
            <a:srgbClr val="FFFFFF"/>
          </a:solidFill>
          <a:ln w="12700">
            <a:solidFill>
              <a:srgbClr val="DCE3EB"/>
            </a:solidFill>
            <a:prstDash val="solid"/>
          </a:ln>
        </p:spPr>
      </p:sp>
      <p:sp>
        <p:nvSpPr>
          <p:cNvPr id="28" name="Text 26"/>
          <p:cNvSpPr txBox="1"/>
          <p:nvPr/>
        </p:nvSpPr>
        <p:spPr>
          <a:xfrm>
            <a:off x="6327648" y="3922776"/>
            <a:ext cx="1536192" cy="457200"/>
          </a:xfrm>
          <a:prstGeom prst="rect">
            <a:avLst/>
          </a:prstGeom>
          <a:noFill/>
          <a:ln/>
        </p:spPr>
        <p:txBody>
          <a:bodyPr wrap="square" lIns="0" tIns="0" rIns="0" bIns="0" rtlCol="0" anchor="ctr"/>
          <a:lstStyle/>
          <a:p>
            <a:pPr algn="ctr" indent="0" marL="0">
              <a:lnSpc>
                <a:spcPts val="1250"/>
              </a:lnSpc>
              <a:buNone/>
            </a:pPr>
            <a:r>
              <a:rPr lang="en-US" sz="950" b="1" dirty="0">
                <a:solidFill>
                  <a:srgbClr val="16243A"/>
                </a:solidFill>
                <a:latin typeface="Calibri" pitchFamily="34" charset="0"/>
                <a:ea typeface="Calibri" pitchFamily="34" charset="-122"/>
                <a:cs typeface="Calibri" pitchFamily="34" charset="-120"/>
              </a:rPr>
              <a:t>Camera registry</a:t>
            </a:r>
            <a:endParaRPr lang="en-US" sz="950" dirty="0"/>
          </a:p>
        </p:txBody>
      </p:sp>
      <p:sp>
        <p:nvSpPr>
          <p:cNvPr id="29" name="Shape 27"/>
          <p:cNvSpPr/>
          <p:nvPr/>
        </p:nvSpPr>
        <p:spPr>
          <a:xfrm>
            <a:off x="8055864" y="3922776"/>
            <a:ext cx="1664208" cy="457200"/>
          </a:xfrm>
          <a:prstGeom prst="roundRect">
            <a:avLst>
              <a:gd name="adj" fmla="val 7000"/>
            </a:avLst>
          </a:prstGeom>
          <a:solidFill>
            <a:srgbClr val="FFFFFF"/>
          </a:solidFill>
          <a:ln w="12700">
            <a:solidFill>
              <a:srgbClr val="DCE3EB"/>
            </a:solidFill>
            <a:prstDash val="solid"/>
          </a:ln>
        </p:spPr>
      </p:sp>
      <p:sp>
        <p:nvSpPr>
          <p:cNvPr id="30" name="Text 28"/>
          <p:cNvSpPr txBox="1"/>
          <p:nvPr/>
        </p:nvSpPr>
        <p:spPr>
          <a:xfrm>
            <a:off x="8119872" y="3922776"/>
            <a:ext cx="1536192" cy="457200"/>
          </a:xfrm>
          <a:prstGeom prst="rect">
            <a:avLst/>
          </a:prstGeom>
          <a:noFill/>
          <a:ln/>
        </p:spPr>
        <p:txBody>
          <a:bodyPr wrap="square" lIns="0" tIns="0" rIns="0" bIns="0" rtlCol="0" anchor="ctr"/>
          <a:lstStyle/>
          <a:p>
            <a:pPr algn="ctr" indent="0" marL="0">
              <a:lnSpc>
                <a:spcPts val="1250"/>
              </a:lnSpc>
              <a:buNone/>
            </a:pPr>
            <a:r>
              <a:rPr lang="en-US" sz="950" b="1" dirty="0">
                <a:solidFill>
                  <a:srgbClr val="16243A"/>
                </a:solidFill>
                <a:latin typeface="Calibri" pitchFamily="34" charset="0"/>
                <a:ea typeface="Calibri" pitchFamily="34" charset="-122"/>
                <a:cs typeface="Calibri" pitchFamily="34" charset="-120"/>
              </a:rPr>
              <a:t>Federation</a:t>
            </a:r>
            <a:endParaRPr lang="en-US" sz="950" dirty="0"/>
          </a:p>
        </p:txBody>
      </p:sp>
      <p:sp>
        <p:nvSpPr>
          <p:cNvPr id="31" name="Shape 29"/>
          <p:cNvSpPr/>
          <p:nvPr/>
        </p:nvSpPr>
        <p:spPr>
          <a:xfrm>
            <a:off x="9848088" y="3922776"/>
            <a:ext cx="1664208" cy="457200"/>
          </a:xfrm>
          <a:prstGeom prst="roundRect">
            <a:avLst>
              <a:gd name="adj" fmla="val 7000"/>
            </a:avLst>
          </a:prstGeom>
          <a:solidFill>
            <a:srgbClr val="FFFFFF"/>
          </a:solidFill>
          <a:ln w="12700">
            <a:solidFill>
              <a:srgbClr val="DCE3EB"/>
            </a:solidFill>
            <a:prstDash val="solid"/>
          </a:ln>
        </p:spPr>
      </p:sp>
      <p:sp>
        <p:nvSpPr>
          <p:cNvPr id="32" name="Text 30"/>
          <p:cNvSpPr txBox="1"/>
          <p:nvPr/>
        </p:nvSpPr>
        <p:spPr>
          <a:xfrm>
            <a:off x="9912096" y="3922776"/>
            <a:ext cx="1536192" cy="457200"/>
          </a:xfrm>
          <a:prstGeom prst="rect">
            <a:avLst/>
          </a:prstGeom>
          <a:noFill/>
          <a:ln/>
        </p:spPr>
        <p:txBody>
          <a:bodyPr wrap="square" lIns="0" tIns="0" rIns="0" bIns="0" rtlCol="0" anchor="ctr"/>
          <a:lstStyle/>
          <a:p>
            <a:pPr algn="ctr" indent="0" marL="0">
              <a:lnSpc>
                <a:spcPts val="1250"/>
              </a:lnSpc>
              <a:buNone/>
            </a:pPr>
            <a:r>
              <a:rPr lang="en-US" sz="950" b="1" dirty="0">
                <a:solidFill>
                  <a:srgbClr val="16243A"/>
                </a:solidFill>
                <a:latin typeface="Calibri" pitchFamily="34" charset="0"/>
                <a:ea typeface="Calibri" pitchFamily="34" charset="-122"/>
                <a:cs typeface="Calibri" pitchFamily="34" charset="-120"/>
              </a:rPr>
              <a:t>Coverage gaps</a:t>
            </a:r>
            <a:endParaRPr lang="en-US" sz="950" dirty="0"/>
          </a:p>
        </p:txBody>
      </p:sp>
      <p:sp>
        <p:nvSpPr>
          <p:cNvPr id="33" name="Shape 31"/>
          <p:cNvSpPr/>
          <p:nvPr/>
        </p:nvSpPr>
        <p:spPr>
          <a:xfrm>
            <a:off x="6263640" y="4489704"/>
            <a:ext cx="1664208" cy="457200"/>
          </a:xfrm>
          <a:prstGeom prst="roundRect">
            <a:avLst>
              <a:gd name="adj" fmla="val 7000"/>
            </a:avLst>
          </a:prstGeom>
          <a:solidFill>
            <a:srgbClr val="FFFFFF"/>
          </a:solidFill>
          <a:ln w="12700">
            <a:solidFill>
              <a:srgbClr val="DCE3EB"/>
            </a:solidFill>
            <a:prstDash val="solid"/>
          </a:ln>
        </p:spPr>
      </p:sp>
      <p:sp>
        <p:nvSpPr>
          <p:cNvPr id="34" name="Text 32"/>
          <p:cNvSpPr txBox="1"/>
          <p:nvPr/>
        </p:nvSpPr>
        <p:spPr>
          <a:xfrm>
            <a:off x="6327648" y="4489704"/>
            <a:ext cx="1536192" cy="457200"/>
          </a:xfrm>
          <a:prstGeom prst="rect">
            <a:avLst/>
          </a:prstGeom>
          <a:noFill/>
          <a:ln/>
        </p:spPr>
        <p:txBody>
          <a:bodyPr wrap="square" lIns="0" tIns="0" rIns="0" bIns="0" rtlCol="0" anchor="ctr"/>
          <a:lstStyle/>
          <a:p>
            <a:pPr algn="ctr" indent="0" marL="0">
              <a:lnSpc>
                <a:spcPts val="1250"/>
              </a:lnSpc>
              <a:buNone/>
            </a:pPr>
            <a:r>
              <a:rPr lang="en-US" sz="950" b="1" dirty="0">
                <a:solidFill>
                  <a:srgbClr val="16243A"/>
                </a:solidFill>
                <a:latin typeface="Calibri" pitchFamily="34" charset="0"/>
                <a:ea typeface="Calibri" pitchFamily="34" charset="-122"/>
                <a:cs typeface="Calibri" pitchFamily="34" charset="-120"/>
              </a:rPr>
              <a:t>Fleet health</a:t>
            </a:r>
            <a:endParaRPr lang="en-US" sz="950" dirty="0"/>
          </a:p>
        </p:txBody>
      </p:sp>
      <p:sp>
        <p:nvSpPr>
          <p:cNvPr id="35" name="Shape 33"/>
          <p:cNvSpPr/>
          <p:nvPr/>
        </p:nvSpPr>
        <p:spPr>
          <a:xfrm>
            <a:off x="8055864" y="4489704"/>
            <a:ext cx="1664208" cy="457200"/>
          </a:xfrm>
          <a:prstGeom prst="roundRect">
            <a:avLst>
              <a:gd name="adj" fmla="val 7000"/>
            </a:avLst>
          </a:prstGeom>
          <a:solidFill>
            <a:srgbClr val="FFFFFF"/>
          </a:solidFill>
          <a:ln w="12700">
            <a:solidFill>
              <a:srgbClr val="DCE3EB"/>
            </a:solidFill>
            <a:prstDash val="solid"/>
          </a:ln>
        </p:spPr>
      </p:sp>
      <p:sp>
        <p:nvSpPr>
          <p:cNvPr id="36" name="Text 34"/>
          <p:cNvSpPr txBox="1"/>
          <p:nvPr/>
        </p:nvSpPr>
        <p:spPr>
          <a:xfrm>
            <a:off x="8119872" y="4489704"/>
            <a:ext cx="1536192" cy="457200"/>
          </a:xfrm>
          <a:prstGeom prst="rect">
            <a:avLst/>
          </a:prstGeom>
          <a:noFill/>
          <a:ln/>
        </p:spPr>
        <p:txBody>
          <a:bodyPr wrap="square" lIns="0" tIns="0" rIns="0" bIns="0" rtlCol="0" anchor="ctr"/>
          <a:lstStyle/>
          <a:p>
            <a:pPr algn="ctr" indent="0" marL="0">
              <a:lnSpc>
                <a:spcPts val="1250"/>
              </a:lnSpc>
              <a:buNone/>
            </a:pPr>
            <a:r>
              <a:rPr lang="en-US" sz="950" b="1" dirty="0">
                <a:solidFill>
                  <a:srgbClr val="16243A"/>
                </a:solidFill>
                <a:latin typeface="Calibri" pitchFamily="34" charset="0"/>
                <a:ea typeface="Calibri" pitchFamily="34" charset="-122"/>
                <a:cs typeface="Calibri" pitchFamily="34" charset="-120"/>
              </a:rPr>
              <a:t>Audit trail</a:t>
            </a:r>
            <a:endParaRPr lang="en-US" sz="950" dirty="0"/>
          </a:p>
        </p:txBody>
      </p:sp>
      <p:sp>
        <p:nvSpPr>
          <p:cNvPr id="37" name="Shape 35"/>
          <p:cNvSpPr/>
          <p:nvPr/>
        </p:nvSpPr>
        <p:spPr>
          <a:xfrm>
            <a:off x="9848088" y="4489704"/>
            <a:ext cx="1664208" cy="457200"/>
          </a:xfrm>
          <a:prstGeom prst="roundRect">
            <a:avLst>
              <a:gd name="adj" fmla="val 7000"/>
            </a:avLst>
          </a:prstGeom>
          <a:solidFill>
            <a:srgbClr val="FFFFFF"/>
          </a:solidFill>
          <a:ln w="12700">
            <a:solidFill>
              <a:srgbClr val="DCE3EB"/>
            </a:solidFill>
            <a:prstDash val="solid"/>
          </a:ln>
        </p:spPr>
      </p:sp>
      <p:sp>
        <p:nvSpPr>
          <p:cNvPr id="38" name="Text 36"/>
          <p:cNvSpPr txBox="1"/>
          <p:nvPr/>
        </p:nvSpPr>
        <p:spPr>
          <a:xfrm>
            <a:off x="9912096" y="4489704"/>
            <a:ext cx="1536192" cy="457200"/>
          </a:xfrm>
          <a:prstGeom prst="rect">
            <a:avLst/>
          </a:prstGeom>
          <a:noFill/>
          <a:ln/>
        </p:spPr>
        <p:txBody>
          <a:bodyPr wrap="square" lIns="0" tIns="0" rIns="0" bIns="0" rtlCol="0" anchor="ctr"/>
          <a:lstStyle/>
          <a:p>
            <a:pPr algn="ctr" indent="0" marL="0">
              <a:lnSpc>
                <a:spcPts val="1250"/>
              </a:lnSpc>
              <a:buNone/>
            </a:pPr>
            <a:r>
              <a:rPr lang="en-US" sz="950" b="1" dirty="0">
                <a:solidFill>
                  <a:srgbClr val="16243A"/>
                </a:solidFill>
                <a:latin typeface="Calibri" pitchFamily="34" charset="0"/>
                <a:ea typeface="Calibri" pitchFamily="34" charset="-122"/>
                <a:cs typeface="Calibri" pitchFamily="34" charset="-120"/>
              </a:rPr>
              <a:t>Accounts</a:t>
            </a:r>
            <a:endParaRPr lang="en-US" sz="950" dirty="0"/>
          </a:p>
        </p:txBody>
      </p:sp>
      <p:sp>
        <p:nvSpPr>
          <p:cNvPr id="39" name="Text 37"/>
          <p:cNvSpPr txBox="1"/>
          <p:nvPr/>
        </p:nvSpPr>
        <p:spPr>
          <a:xfrm>
            <a:off x="6263640" y="5138928"/>
            <a:ext cx="5257800" cy="822960"/>
          </a:xfrm>
          <a:prstGeom prst="rect">
            <a:avLst/>
          </a:prstGeom>
          <a:noFill/>
          <a:ln/>
        </p:spPr>
        <p:txBody>
          <a:bodyPr wrap="square" lIns="0" tIns="0" rIns="0" bIns="0" rtlCol="0" anchor="ctr"/>
          <a:lstStyle/>
          <a:p>
            <a:pPr indent="0" marL="0">
              <a:lnSpc>
                <a:spcPts val="1600"/>
              </a:lnSpc>
              <a:buNone/>
            </a:pPr>
            <a:r>
              <a:rPr lang="en-US" sz="1100" dirty="0">
                <a:solidFill>
                  <a:srgbClr val="3C4A5C"/>
                </a:solidFill>
                <a:latin typeface="Calibri" pitchFamily="34" charset="0"/>
                <a:ea typeface="Calibri" pitchFamily="34" charset="-122"/>
                <a:cs typeface="Calibri" pitchFamily="34" charset="-120"/>
              </a:rPr>
              <a:t>A viewer never sees the account administration screen, and the server refuses the call regardless of what the interface chooses to show.</a:t>
            </a:r>
            <a:endParaRPr lang="en-US" sz="1100" dirty="0"/>
          </a:p>
        </p:txBody>
      </p:sp>
      <p:sp>
        <p:nvSpPr>
          <p:cNvPr id="40" name="Text 38"/>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WHAT MOVES, AND WHEN</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Eleven flows across the four bands</a:t>
            </a:r>
            <a:endParaRPr lang="en-US" sz="3400" dirty="0"/>
          </a:p>
        </p:txBody>
      </p:sp>
      <p:sp>
        <p:nvSpPr>
          <p:cNvPr id="4" name="Text 2"/>
          <p:cNvSpPr txBox="1"/>
          <p:nvPr/>
        </p:nvSpPr>
        <p:spPr>
          <a:xfrm>
            <a:off x="640080" y="2286000"/>
            <a:ext cx="384048" cy="365760"/>
          </a:xfrm>
          <a:prstGeom prst="rect">
            <a:avLst/>
          </a:prstGeom>
          <a:noFill/>
          <a:ln/>
        </p:spPr>
        <p:txBody>
          <a:bodyPr wrap="square" lIns="0" tIns="0" rIns="0" bIns="0" rtlCol="0" anchor="ctr"/>
          <a:lstStyle/>
          <a:p>
            <a:pPr indent="0" marL="0">
              <a:buNone/>
            </a:pPr>
            <a:r>
              <a:rPr lang="en-US" sz="1200" b="1" dirty="0">
                <a:solidFill>
                  <a:srgbClr val="C2551F"/>
                </a:solidFill>
                <a:latin typeface="Cambria" pitchFamily="34" charset="0"/>
                <a:ea typeface="Cambria" pitchFamily="34" charset="-122"/>
                <a:cs typeface="Cambria" pitchFamily="34" charset="-120"/>
              </a:rPr>
              <a:t>01</a:t>
            </a:r>
            <a:endParaRPr lang="en-US" sz="1200" dirty="0"/>
          </a:p>
        </p:txBody>
      </p:sp>
      <p:sp>
        <p:nvSpPr>
          <p:cNvPr id="5" name="Text 3"/>
          <p:cNvSpPr txBox="1"/>
          <p:nvPr/>
        </p:nvSpPr>
        <p:spPr>
          <a:xfrm>
            <a:off x="1097280" y="2286000"/>
            <a:ext cx="1691640" cy="36576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Onboarding</a:t>
            </a:r>
            <a:endParaRPr lang="en-US" sz="1150" dirty="0"/>
          </a:p>
        </p:txBody>
      </p:sp>
      <p:sp>
        <p:nvSpPr>
          <p:cNvPr id="6" name="Text 4"/>
          <p:cNvSpPr txBox="1"/>
          <p:nvPr/>
        </p:nvSpPr>
        <p:spPr>
          <a:xfrm>
            <a:off x="2834640" y="2304288"/>
            <a:ext cx="3291840" cy="384048"/>
          </a:xfrm>
          <a:prstGeom prst="rect">
            <a:avLst/>
          </a:prstGeom>
          <a:noFill/>
          <a:ln/>
        </p:spPr>
        <p:txBody>
          <a:bodyPr wrap="square" lIns="0" tIns="0" rIns="0" bIns="0" rtlCol="0" anchor="ctr"/>
          <a:lstStyle/>
          <a:p>
            <a:pPr indent="0" marL="0">
              <a:lnSpc>
                <a:spcPts val="1200"/>
              </a:lnSpc>
              <a:buNone/>
            </a:pPr>
            <a:r>
              <a:rPr lang="en-US" sz="950" dirty="0">
                <a:solidFill>
                  <a:srgbClr val="3C4A5C"/>
                </a:solidFill>
                <a:latin typeface="Calibri" pitchFamily="34" charset="0"/>
                <a:ea typeface="Calibri" pitchFamily="34" charset="-122"/>
                <a:cs typeface="Calibri" pitchFamily="34" charset="-120"/>
              </a:rPr>
              <a:t>Adapter discovers a camera, probes it, registers it with its coordinates.</a:t>
            </a:r>
            <a:endParaRPr lang="en-US" sz="950" dirty="0"/>
          </a:p>
        </p:txBody>
      </p:sp>
      <p:sp>
        <p:nvSpPr>
          <p:cNvPr id="7" name="Text 5"/>
          <p:cNvSpPr txBox="1"/>
          <p:nvPr/>
        </p:nvSpPr>
        <p:spPr>
          <a:xfrm>
            <a:off x="6263640" y="2286000"/>
            <a:ext cx="384048" cy="365760"/>
          </a:xfrm>
          <a:prstGeom prst="rect">
            <a:avLst/>
          </a:prstGeom>
          <a:noFill/>
          <a:ln/>
        </p:spPr>
        <p:txBody>
          <a:bodyPr wrap="square" lIns="0" tIns="0" rIns="0" bIns="0" rtlCol="0" anchor="ctr"/>
          <a:lstStyle/>
          <a:p>
            <a:pPr indent="0" marL="0">
              <a:buNone/>
            </a:pPr>
            <a:r>
              <a:rPr lang="en-US" sz="1200" b="1" dirty="0">
                <a:solidFill>
                  <a:srgbClr val="C2551F"/>
                </a:solidFill>
                <a:latin typeface="Cambria" pitchFamily="34" charset="0"/>
                <a:ea typeface="Cambria" pitchFamily="34" charset="-122"/>
                <a:cs typeface="Cambria" pitchFamily="34" charset="-120"/>
              </a:rPr>
              <a:t>02</a:t>
            </a:r>
            <a:endParaRPr lang="en-US" sz="1200" dirty="0"/>
          </a:p>
        </p:txBody>
      </p:sp>
      <p:sp>
        <p:nvSpPr>
          <p:cNvPr id="8" name="Text 6"/>
          <p:cNvSpPr txBox="1"/>
          <p:nvPr/>
        </p:nvSpPr>
        <p:spPr>
          <a:xfrm>
            <a:off x="6720840" y="2286000"/>
            <a:ext cx="1691640" cy="36576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Live ingest</a:t>
            </a:r>
            <a:endParaRPr lang="en-US" sz="1150" dirty="0"/>
          </a:p>
        </p:txBody>
      </p:sp>
      <p:sp>
        <p:nvSpPr>
          <p:cNvPr id="9" name="Text 7"/>
          <p:cNvSpPr txBox="1"/>
          <p:nvPr/>
        </p:nvSpPr>
        <p:spPr>
          <a:xfrm>
            <a:off x="8458200" y="2304288"/>
            <a:ext cx="3291840" cy="384048"/>
          </a:xfrm>
          <a:prstGeom prst="rect">
            <a:avLst/>
          </a:prstGeom>
          <a:noFill/>
          <a:ln/>
        </p:spPr>
        <p:txBody>
          <a:bodyPr wrap="square" lIns="0" tIns="0" rIns="0" bIns="0" rtlCol="0" anchor="ctr"/>
          <a:lstStyle/>
          <a:p>
            <a:pPr indent="0" marL="0">
              <a:lnSpc>
                <a:spcPts val="1200"/>
              </a:lnSpc>
              <a:buNone/>
            </a:pPr>
            <a:r>
              <a:rPr lang="en-US" sz="950" dirty="0">
                <a:solidFill>
                  <a:srgbClr val="3C4A5C"/>
                </a:solidFill>
                <a:latin typeface="Calibri" pitchFamily="34" charset="0"/>
                <a:ea typeface="Calibri" pitchFamily="34" charset="-122"/>
                <a:cs typeface="Calibri" pitchFamily="34" charset="-120"/>
              </a:rPr>
              <a:t>Camera to worker to cascade to a structured sighting. Metadata only.</a:t>
            </a:r>
            <a:endParaRPr lang="en-US" sz="950" dirty="0"/>
          </a:p>
        </p:txBody>
      </p:sp>
      <p:sp>
        <p:nvSpPr>
          <p:cNvPr id="10" name="Text 8"/>
          <p:cNvSpPr txBox="1"/>
          <p:nvPr/>
        </p:nvSpPr>
        <p:spPr>
          <a:xfrm>
            <a:off x="640080" y="2944368"/>
            <a:ext cx="384048" cy="365760"/>
          </a:xfrm>
          <a:prstGeom prst="rect">
            <a:avLst/>
          </a:prstGeom>
          <a:noFill/>
          <a:ln/>
        </p:spPr>
        <p:txBody>
          <a:bodyPr wrap="square" lIns="0" tIns="0" rIns="0" bIns="0" rtlCol="0" anchor="ctr"/>
          <a:lstStyle/>
          <a:p>
            <a:pPr indent="0" marL="0">
              <a:buNone/>
            </a:pPr>
            <a:r>
              <a:rPr lang="en-US" sz="1200" b="1" dirty="0">
                <a:solidFill>
                  <a:srgbClr val="C2551F"/>
                </a:solidFill>
                <a:latin typeface="Cambria" pitchFamily="34" charset="0"/>
                <a:ea typeface="Cambria" pitchFamily="34" charset="-122"/>
                <a:cs typeface="Cambria" pitchFamily="34" charset="-120"/>
              </a:rPr>
              <a:t>03</a:t>
            </a:r>
            <a:endParaRPr lang="en-US" sz="1200" dirty="0"/>
          </a:p>
        </p:txBody>
      </p:sp>
      <p:sp>
        <p:nvSpPr>
          <p:cNvPr id="11" name="Text 9"/>
          <p:cNvSpPr txBox="1"/>
          <p:nvPr/>
        </p:nvSpPr>
        <p:spPr>
          <a:xfrm>
            <a:off x="1097280" y="2944368"/>
            <a:ext cx="1691640" cy="36576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Watchlist alert</a:t>
            </a:r>
            <a:endParaRPr lang="en-US" sz="1150" dirty="0"/>
          </a:p>
        </p:txBody>
      </p:sp>
      <p:sp>
        <p:nvSpPr>
          <p:cNvPr id="12" name="Text 10"/>
          <p:cNvSpPr txBox="1"/>
          <p:nvPr/>
        </p:nvSpPr>
        <p:spPr>
          <a:xfrm>
            <a:off x="2834640" y="2962656"/>
            <a:ext cx="3291840" cy="384048"/>
          </a:xfrm>
          <a:prstGeom prst="rect">
            <a:avLst/>
          </a:prstGeom>
          <a:noFill/>
          <a:ln/>
        </p:spPr>
        <p:txBody>
          <a:bodyPr wrap="square" lIns="0" tIns="0" rIns="0" bIns="0" rtlCol="0" anchor="ctr"/>
          <a:lstStyle/>
          <a:p>
            <a:pPr indent="0" marL="0">
              <a:lnSpc>
                <a:spcPts val="1200"/>
              </a:lnSpc>
              <a:buNone/>
            </a:pPr>
            <a:r>
              <a:rPr lang="en-US" sz="950" dirty="0">
                <a:solidFill>
                  <a:srgbClr val="3C4A5C"/>
                </a:solidFill>
                <a:latin typeface="Calibri" pitchFamily="34" charset="0"/>
                <a:ea typeface="Calibri" pitchFamily="34" charset="-122"/>
                <a:cs typeface="Calibri" pitchFamily="34" charset="-120"/>
              </a:rPr>
              <a:t>Sighting matched, alert raised, on every console within seconds.</a:t>
            </a:r>
            <a:endParaRPr lang="en-US" sz="950" dirty="0"/>
          </a:p>
        </p:txBody>
      </p:sp>
      <p:sp>
        <p:nvSpPr>
          <p:cNvPr id="13" name="Text 11"/>
          <p:cNvSpPr txBox="1"/>
          <p:nvPr/>
        </p:nvSpPr>
        <p:spPr>
          <a:xfrm>
            <a:off x="6263640" y="2944368"/>
            <a:ext cx="384048" cy="365760"/>
          </a:xfrm>
          <a:prstGeom prst="rect">
            <a:avLst/>
          </a:prstGeom>
          <a:noFill/>
          <a:ln/>
        </p:spPr>
        <p:txBody>
          <a:bodyPr wrap="square" lIns="0" tIns="0" rIns="0" bIns="0" rtlCol="0" anchor="ctr"/>
          <a:lstStyle/>
          <a:p>
            <a:pPr indent="0" marL="0">
              <a:buNone/>
            </a:pPr>
            <a:r>
              <a:rPr lang="en-US" sz="1200" b="1" dirty="0">
                <a:solidFill>
                  <a:srgbClr val="C2551F"/>
                </a:solidFill>
                <a:latin typeface="Cambria" pitchFamily="34" charset="0"/>
                <a:ea typeface="Cambria" pitchFamily="34" charset="-122"/>
                <a:cs typeface="Cambria" pitchFamily="34" charset="-120"/>
              </a:rPr>
              <a:t>04</a:t>
            </a:r>
            <a:endParaRPr lang="en-US" sz="1200" dirty="0"/>
          </a:p>
        </p:txBody>
      </p:sp>
      <p:sp>
        <p:nvSpPr>
          <p:cNvPr id="14" name="Text 12"/>
          <p:cNvSpPr txBox="1"/>
          <p:nvPr/>
        </p:nvSpPr>
        <p:spPr>
          <a:xfrm>
            <a:off x="6720840" y="2944368"/>
            <a:ext cx="1691640" cy="36576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Person alert</a:t>
            </a:r>
            <a:endParaRPr lang="en-US" sz="1150" dirty="0"/>
          </a:p>
        </p:txBody>
      </p:sp>
      <p:sp>
        <p:nvSpPr>
          <p:cNvPr id="15" name="Text 13"/>
          <p:cNvSpPr txBox="1"/>
          <p:nvPr/>
        </p:nvSpPr>
        <p:spPr>
          <a:xfrm>
            <a:off x="8458200" y="2962656"/>
            <a:ext cx="3291840" cy="384048"/>
          </a:xfrm>
          <a:prstGeom prst="rect">
            <a:avLst/>
          </a:prstGeom>
          <a:noFill/>
          <a:ln/>
        </p:spPr>
        <p:txBody>
          <a:bodyPr wrap="square" lIns="0" tIns="0" rIns="0" bIns="0" rtlCol="0" anchor="ctr"/>
          <a:lstStyle/>
          <a:p>
            <a:pPr indent="0" marL="0">
              <a:lnSpc>
                <a:spcPts val="1200"/>
              </a:lnSpc>
              <a:buNone/>
            </a:pPr>
            <a:r>
              <a:rPr lang="en-US" sz="950" dirty="0">
                <a:solidFill>
                  <a:srgbClr val="3C4A5C"/>
                </a:solidFill>
                <a:latin typeface="Calibri" pitchFamily="34" charset="0"/>
                <a:ea typeface="Calibri" pitchFamily="34" charset="-122"/>
                <a:cs typeface="Calibri" pitchFamily="34" charset="-120"/>
              </a:rPr>
              <a:t>Frame to face engine to enrolled match, on the same alert path.</a:t>
            </a:r>
            <a:endParaRPr lang="en-US" sz="950" dirty="0"/>
          </a:p>
        </p:txBody>
      </p:sp>
      <p:sp>
        <p:nvSpPr>
          <p:cNvPr id="16" name="Text 14"/>
          <p:cNvSpPr txBox="1"/>
          <p:nvPr/>
        </p:nvSpPr>
        <p:spPr>
          <a:xfrm>
            <a:off x="640080" y="3602736"/>
            <a:ext cx="384048" cy="365760"/>
          </a:xfrm>
          <a:prstGeom prst="rect">
            <a:avLst/>
          </a:prstGeom>
          <a:noFill/>
          <a:ln/>
        </p:spPr>
        <p:txBody>
          <a:bodyPr wrap="square" lIns="0" tIns="0" rIns="0" bIns="0" rtlCol="0" anchor="ctr"/>
          <a:lstStyle/>
          <a:p>
            <a:pPr indent="0" marL="0">
              <a:buNone/>
            </a:pPr>
            <a:r>
              <a:rPr lang="en-US" sz="1200" b="1" dirty="0">
                <a:solidFill>
                  <a:srgbClr val="C2551F"/>
                </a:solidFill>
                <a:latin typeface="Cambria" pitchFamily="34" charset="0"/>
                <a:ea typeface="Cambria" pitchFamily="34" charset="-122"/>
                <a:cs typeface="Cambria" pitchFamily="34" charset="-120"/>
              </a:rPr>
              <a:t>05</a:t>
            </a:r>
            <a:endParaRPr lang="en-US" sz="1200" dirty="0"/>
          </a:p>
        </p:txBody>
      </p:sp>
      <p:sp>
        <p:nvSpPr>
          <p:cNvPr id="17" name="Text 15"/>
          <p:cNvSpPr txBox="1"/>
          <p:nvPr/>
        </p:nvSpPr>
        <p:spPr>
          <a:xfrm>
            <a:off x="1097280" y="3602736"/>
            <a:ext cx="1691640" cy="36576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Offline operation</a:t>
            </a:r>
            <a:endParaRPr lang="en-US" sz="1150" dirty="0"/>
          </a:p>
        </p:txBody>
      </p:sp>
      <p:sp>
        <p:nvSpPr>
          <p:cNvPr id="18" name="Text 16"/>
          <p:cNvSpPr txBox="1"/>
          <p:nvPr/>
        </p:nvSpPr>
        <p:spPr>
          <a:xfrm>
            <a:off x="2834640" y="3621024"/>
            <a:ext cx="3291840" cy="384048"/>
          </a:xfrm>
          <a:prstGeom prst="rect">
            <a:avLst/>
          </a:prstGeom>
          <a:noFill/>
          <a:ln/>
        </p:spPr>
        <p:txBody>
          <a:bodyPr wrap="square" lIns="0" tIns="0" rIns="0" bIns="0" rtlCol="0" anchor="ctr"/>
          <a:lstStyle/>
          <a:p>
            <a:pPr indent="0" marL="0">
              <a:lnSpc>
                <a:spcPts val="1200"/>
              </a:lnSpc>
              <a:buNone/>
            </a:pPr>
            <a:r>
              <a:rPr lang="en-US" sz="950" dirty="0">
                <a:solidFill>
                  <a:srgbClr val="3C4A5C"/>
                </a:solidFill>
                <a:latin typeface="Calibri" pitchFamily="34" charset="0"/>
                <a:ea typeface="Calibri" pitchFamily="34" charset="-122"/>
                <a:cs typeface="Calibri" pitchFamily="34" charset="-120"/>
              </a:rPr>
              <a:t>Link fails, records queue locally, replay in order on reconnect.</a:t>
            </a:r>
            <a:endParaRPr lang="en-US" sz="950" dirty="0"/>
          </a:p>
        </p:txBody>
      </p:sp>
      <p:sp>
        <p:nvSpPr>
          <p:cNvPr id="19" name="Text 17"/>
          <p:cNvSpPr txBox="1"/>
          <p:nvPr/>
        </p:nvSpPr>
        <p:spPr>
          <a:xfrm>
            <a:off x="6263640" y="3602736"/>
            <a:ext cx="384048" cy="365760"/>
          </a:xfrm>
          <a:prstGeom prst="rect">
            <a:avLst/>
          </a:prstGeom>
          <a:noFill/>
          <a:ln/>
        </p:spPr>
        <p:txBody>
          <a:bodyPr wrap="square" lIns="0" tIns="0" rIns="0" bIns="0" rtlCol="0" anchor="ctr"/>
          <a:lstStyle/>
          <a:p>
            <a:pPr indent="0" marL="0">
              <a:buNone/>
            </a:pPr>
            <a:r>
              <a:rPr lang="en-US" sz="1200" b="1" dirty="0">
                <a:solidFill>
                  <a:srgbClr val="C2551F"/>
                </a:solidFill>
                <a:latin typeface="Cambria" pitchFamily="34" charset="0"/>
                <a:ea typeface="Cambria" pitchFamily="34" charset="-122"/>
                <a:cs typeface="Cambria" pitchFamily="34" charset="-120"/>
              </a:rPr>
              <a:t>06</a:t>
            </a:r>
            <a:endParaRPr lang="en-US" sz="1200" dirty="0"/>
          </a:p>
        </p:txBody>
      </p:sp>
      <p:sp>
        <p:nvSpPr>
          <p:cNvPr id="20" name="Text 18"/>
          <p:cNvSpPr txBox="1"/>
          <p:nvPr/>
        </p:nvSpPr>
        <p:spPr>
          <a:xfrm>
            <a:off x="6720840" y="3602736"/>
            <a:ext cx="1691640" cy="36576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Investigation</a:t>
            </a:r>
            <a:endParaRPr lang="en-US" sz="1150" dirty="0"/>
          </a:p>
        </p:txBody>
      </p:sp>
      <p:sp>
        <p:nvSpPr>
          <p:cNvPr id="21" name="Text 19"/>
          <p:cNvSpPr txBox="1"/>
          <p:nvPr/>
        </p:nvSpPr>
        <p:spPr>
          <a:xfrm>
            <a:off x="8458200" y="3621024"/>
            <a:ext cx="3291840" cy="384048"/>
          </a:xfrm>
          <a:prstGeom prst="rect">
            <a:avLst/>
          </a:prstGeom>
          <a:noFill/>
          <a:ln/>
        </p:spPr>
        <p:txBody>
          <a:bodyPr wrap="square" lIns="0" tIns="0" rIns="0" bIns="0" rtlCol="0" anchor="ctr"/>
          <a:lstStyle/>
          <a:p>
            <a:pPr indent="0" marL="0">
              <a:lnSpc>
                <a:spcPts val="1200"/>
              </a:lnSpc>
              <a:buNone/>
            </a:pPr>
            <a:r>
              <a:rPr lang="en-US" sz="950" dirty="0">
                <a:solidFill>
                  <a:srgbClr val="3C4A5C"/>
                </a:solidFill>
                <a:latin typeface="Calibri" pitchFamily="34" charset="0"/>
                <a:ea typeface="Calibri" pitchFamily="34" charset="-122"/>
                <a:cs typeface="Calibri" pitchFamily="34" charset="-120"/>
              </a:rPr>
              <a:t>Plate in, route assembled, validated, enriched from every authority.</a:t>
            </a:r>
            <a:endParaRPr lang="en-US" sz="950" dirty="0"/>
          </a:p>
        </p:txBody>
      </p:sp>
      <p:sp>
        <p:nvSpPr>
          <p:cNvPr id="22" name="Text 20"/>
          <p:cNvSpPr txBox="1"/>
          <p:nvPr/>
        </p:nvSpPr>
        <p:spPr>
          <a:xfrm>
            <a:off x="640080" y="4261104"/>
            <a:ext cx="384048" cy="365760"/>
          </a:xfrm>
          <a:prstGeom prst="rect">
            <a:avLst/>
          </a:prstGeom>
          <a:noFill/>
          <a:ln/>
        </p:spPr>
        <p:txBody>
          <a:bodyPr wrap="square" lIns="0" tIns="0" rIns="0" bIns="0" rtlCol="0" anchor="ctr"/>
          <a:lstStyle/>
          <a:p>
            <a:pPr indent="0" marL="0">
              <a:buNone/>
            </a:pPr>
            <a:r>
              <a:rPr lang="en-US" sz="1200" b="1" dirty="0">
                <a:solidFill>
                  <a:srgbClr val="C2551F"/>
                </a:solidFill>
                <a:latin typeface="Cambria" pitchFamily="34" charset="0"/>
                <a:ea typeface="Cambria" pitchFamily="34" charset="-122"/>
                <a:cs typeface="Cambria" pitchFamily="34" charset="-120"/>
              </a:rPr>
              <a:t>07</a:t>
            </a:r>
            <a:endParaRPr lang="en-US" sz="1200" dirty="0"/>
          </a:p>
        </p:txBody>
      </p:sp>
      <p:sp>
        <p:nvSpPr>
          <p:cNvPr id="23" name="Text 21"/>
          <p:cNvSpPr txBox="1"/>
          <p:nvPr/>
        </p:nvSpPr>
        <p:spPr>
          <a:xfrm>
            <a:off x="1097280" y="4261104"/>
            <a:ext cx="1691640" cy="36576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Evidence export</a:t>
            </a:r>
            <a:endParaRPr lang="en-US" sz="1150" dirty="0"/>
          </a:p>
        </p:txBody>
      </p:sp>
      <p:sp>
        <p:nvSpPr>
          <p:cNvPr id="24" name="Text 22"/>
          <p:cNvSpPr txBox="1"/>
          <p:nvPr/>
        </p:nvSpPr>
        <p:spPr>
          <a:xfrm>
            <a:off x="2834640" y="4279392"/>
            <a:ext cx="3291840" cy="384048"/>
          </a:xfrm>
          <a:prstGeom prst="rect">
            <a:avLst/>
          </a:prstGeom>
          <a:noFill/>
          <a:ln/>
        </p:spPr>
        <p:txBody>
          <a:bodyPr wrap="square" lIns="0" tIns="0" rIns="0" bIns="0" rtlCol="0" anchor="ctr"/>
          <a:lstStyle/>
          <a:p>
            <a:pPr indent="0" marL="0">
              <a:lnSpc>
                <a:spcPts val="1200"/>
              </a:lnSpc>
              <a:buNone/>
            </a:pPr>
            <a:r>
              <a:rPr lang="en-US" sz="950" dirty="0">
                <a:solidFill>
                  <a:srgbClr val="3C4A5C"/>
                </a:solidFill>
                <a:latin typeface="Calibri" pitchFamily="34" charset="0"/>
                <a:ea typeface="Calibri" pitchFamily="34" charset="-122"/>
                <a:cs typeface="Calibri" pitchFamily="34" charset="-120"/>
              </a:rPr>
              <a:t>Snapshots hashed, court-format report produced for the officer.</a:t>
            </a:r>
            <a:endParaRPr lang="en-US" sz="950" dirty="0"/>
          </a:p>
        </p:txBody>
      </p:sp>
      <p:sp>
        <p:nvSpPr>
          <p:cNvPr id="25" name="Text 23"/>
          <p:cNvSpPr txBox="1"/>
          <p:nvPr/>
        </p:nvSpPr>
        <p:spPr>
          <a:xfrm>
            <a:off x="6263640" y="4261104"/>
            <a:ext cx="384048" cy="365760"/>
          </a:xfrm>
          <a:prstGeom prst="rect">
            <a:avLst/>
          </a:prstGeom>
          <a:noFill/>
          <a:ln/>
        </p:spPr>
        <p:txBody>
          <a:bodyPr wrap="square" lIns="0" tIns="0" rIns="0" bIns="0" rtlCol="0" anchor="ctr"/>
          <a:lstStyle/>
          <a:p>
            <a:pPr indent="0" marL="0">
              <a:buNone/>
            </a:pPr>
            <a:r>
              <a:rPr lang="en-US" sz="1200" b="1" dirty="0">
                <a:solidFill>
                  <a:srgbClr val="C2551F"/>
                </a:solidFill>
                <a:latin typeface="Cambria" pitchFamily="34" charset="0"/>
                <a:ea typeface="Cambria" pitchFamily="34" charset="-122"/>
                <a:cs typeface="Cambria" pitchFamily="34" charset="-120"/>
              </a:rPr>
              <a:t>08</a:t>
            </a:r>
            <a:endParaRPr lang="en-US" sz="1200" dirty="0"/>
          </a:p>
        </p:txBody>
      </p:sp>
      <p:sp>
        <p:nvSpPr>
          <p:cNvPr id="26" name="Text 24"/>
          <p:cNvSpPr txBox="1"/>
          <p:nvPr/>
        </p:nvSpPr>
        <p:spPr>
          <a:xfrm>
            <a:off x="6720840" y="4261104"/>
            <a:ext cx="1691640" cy="36576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Video on demand</a:t>
            </a:r>
            <a:endParaRPr lang="en-US" sz="1150" dirty="0"/>
          </a:p>
        </p:txBody>
      </p:sp>
      <p:sp>
        <p:nvSpPr>
          <p:cNvPr id="27" name="Text 25"/>
          <p:cNvSpPr txBox="1"/>
          <p:nvPr/>
        </p:nvSpPr>
        <p:spPr>
          <a:xfrm>
            <a:off x="8458200" y="4279392"/>
            <a:ext cx="3291840" cy="384048"/>
          </a:xfrm>
          <a:prstGeom prst="rect">
            <a:avLst/>
          </a:prstGeom>
          <a:noFill/>
          <a:ln/>
        </p:spPr>
        <p:txBody>
          <a:bodyPr wrap="square" lIns="0" tIns="0" rIns="0" bIns="0" rtlCol="0" anchor="ctr"/>
          <a:lstStyle/>
          <a:p>
            <a:pPr indent="0" marL="0">
              <a:lnSpc>
                <a:spcPts val="1200"/>
              </a:lnSpc>
              <a:buNone/>
            </a:pPr>
            <a:r>
              <a:rPr lang="en-US" sz="950" dirty="0">
                <a:solidFill>
                  <a:srgbClr val="3C4A5C"/>
                </a:solidFill>
                <a:latin typeface="Calibri" pitchFamily="34" charset="0"/>
                <a:ea typeface="Calibri" pitchFamily="34" charset="-122"/>
                <a:cs typeface="Calibri" pitchFamily="34" charset="-120"/>
              </a:rPr>
              <a:t>Console back to the edge for the clip. Only against a confirmed hit.</a:t>
            </a:r>
            <a:endParaRPr lang="en-US" sz="950" dirty="0"/>
          </a:p>
        </p:txBody>
      </p:sp>
      <p:sp>
        <p:nvSpPr>
          <p:cNvPr id="28" name="Text 26"/>
          <p:cNvSpPr txBox="1"/>
          <p:nvPr/>
        </p:nvSpPr>
        <p:spPr>
          <a:xfrm>
            <a:off x="640080" y="4919472"/>
            <a:ext cx="384048" cy="365760"/>
          </a:xfrm>
          <a:prstGeom prst="rect">
            <a:avLst/>
          </a:prstGeom>
          <a:noFill/>
          <a:ln/>
        </p:spPr>
        <p:txBody>
          <a:bodyPr wrap="square" lIns="0" tIns="0" rIns="0" bIns="0" rtlCol="0" anchor="ctr"/>
          <a:lstStyle/>
          <a:p>
            <a:pPr indent="0" marL="0">
              <a:buNone/>
            </a:pPr>
            <a:r>
              <a:rPr lang="en-US" sz="1200" b="1" dirty="0">
                <a:solidFill>
                  <a:srgbClr val="C2551F"/>
                </a:solidFill>
                <a:latin typeface="Cambria" pitchFamily="34" charset="0"/>
                <a:ea typeface="Cambria" pitchFamily="34" charset="-122"/>
                <a:cs typeface="Cambria" pitchFamily="34" charset="-120"/>
              </a:rPr>
              <a:t>09</a:t>
            </a:r>
            <a:endParaRPr lang="en-US" sz="1200" dirty="0"/>
          </a:p>
        </p:txBody>
      </p:sp>
      <p:sp>
        <p:nvSpPr>
          <p:cNvPr id="29" name="Text 27"/>
          <p:cNvSpPr txBox="1"/>
          <p:nvPr/>
        </p:nvSpPr>
        <p:spPr>
          <a:xfrm>
            <a:off x="1097280" y="4919472"/>
            <a:ext cx="1691640" cy="36576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Sign-in</a:t>
            </a:r>
            <a:endParaRPr lang="en-US" sz="1150" dirty="0"/>
          </a:p>
        </p:txBody>
      </p:sp>
      <p:sp>
        <p:nvSpPr>
          <p:cNvPr id="30" name="Text 28"/>
          <p:cNvSpPr txBox="1"/>
          <p:nvPr/>
        </p:nvSpPr>
        <p:spPr>
          <a:xfrm>
            <a:off x="2834640" y="4937760"/>
            <a:ext cx="3291840" cy="384048"/>
          </a:xfrm>
          <a:prstGeom prst="rect">
            <a:avLst/>
          </a:prstGeom>
          <a:noFill/>
          <a:ln/>
        </p:spPr>
        <p:txBody>
          <a:bodyPr wrap="square" lIns="0" tIns="0" rIns="0" bIns="0" rtlCol="0" anchor="ctr"/>
          <a:lstStyle/>
          <a:p>
            <a:pPr indent="0" marL="0">
              <a:lnSpc>
                <a:spcPts val="1200"/>
              </a:lnSpc>
              <a:buNone/>
            </a:pPr>
            <a:r>
              <a:rPr lang="en-US" sz="950" dirty="0">
                <a:solidFill>
                  <a:srgbClr val="3C4A5C"/>
                </a:solidFill>
                <a:latin typeface="Calibri" pitchFamily="34" charset="0"/>
                <a:ea typeface="Calibri" pitchFamily="34" charset="-122"/>
                <a:cs typeface="Calibri" pitchFamily="34" charset="-120"/>
              </a:rPr>
              <a:t>Password verified against a hash, session token issued carrying the role.</a:t>
            </a:r>
            <a:endParaRPr lang="en-US" sz="950" dirty="0"/>
          </a:p>
        </p:txBody>
      </p:sp>
      <p:sp>
        <p:nvSpPr>
          <p:cNvPr id="31" name="Text 29"/>
          <p:cNvSpPr txBox="1"/>
          <p:nvPr/>
        </p:nvSpPr>
        <p:spPr>
          <a:xfrm>
            <a:off x="6263640" y="4919472"/>
            <a:ext cx="384048" cy="365760"/>
          </a:xfrm>
          <a:prstGeom prst="rect">
            <a:avLst/>
          </a:prstGeom>
          <a:noFill/>
          <a:ln/>
        </p:spPr>
        <p:txBody>
          <a:bodyPr wrap="square" lIns="0" tIns="0" rIns="0" bIns="0" rtlCol="0" anchor="ctr"/>
          <a:lstStyle/>
          <a:p>
            <a:pPr indent="0" marL="0">
              <a:buNone/>
            </a:pPr>
            <a:r>
              <a:rPr lang="en-US" sz="1200" b="1" dirty="0">
                <a:solidFill>
                  <a:srgbClr val="C2551F"/>
                </a:solidFill>
                <a:latin typeface="Cambria" pitchFamily="34" charset="0"/>
                <a:ea typeface="Cambria" pitchFamily="34" charset="-122"/>
                <a:cs typeface="Cambria" pitchFamily="34" charset="-120"/>
              </a:rPr>
              <a:t>10</a:t>
            </a:r>
            <a:endParaRPr lang="en-US" sz="1200" dirty="0"/>
          </a:p>
        </p:txBody>
      </p:sp>
      <p:sp>
        <p:nvSpPr>
          <p:cNvPr id="32" name="Text 30"/>
          <p:cNvSpPr txBox="1"/>
          <p:nvPr/>
        </p:nvSpPr>
        <p:spPr>
          <a:xfrm>
            <a:off x="6720840" y="4919472"/>
            <a:ext cx="1691640" cy="36576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Account admin</a:t>
            </a:r>
            <a:endParaRPr lang="en-US" sz="1150" dirty="0"/>
          </a:p>
        </p:txBody>
      </p:sp>
      <p:sp>
        <p:nvSpPr>
          <p:cNvPr id="33" name="Text 31"/>
          <p:cNvSpPr txBox="1"/>
          <p:nvPr/>
        </p:nvSpPr>
        <p:spPr>
          <a:xfrm>
            <a:off x="8458200" y="4937760"/>
            <a:ext cx="3291840" cy="384048"/>
          </a:xfrm>
          <a:prstGeom prst="rect">
            <a:avLst/>
          </a:prstGeom>
          <a:noFill/>
          <a:ln/>
        </p:spPr>
        <p:txBody>
          <a:bodyPr wrap="square" lIns="0" tIns="0" rIns="0" bIns="0" rtlCol="0" anchor="ctr"/>
          <a:lstStyle/>
          <a:p>
            <a:pPr indent="0" marL="0">
              <a:lnSpc>
                <a:spcPts val="1200"/>
              </a:lnSpc>
              <a:buNone/>
            </a:pPr>
            <a:r>
              <a:rPr lang="en-US" sz="950" dirty="0">
                <a:solidFill>
                  <a:srgbClr val="3C4A5C"/>
                </a:solidFill>
                <a:latin typeface="Calibri" pitchFamily="34" charset="0"/>
                <a:ea typeface="Calibri" pitchFamily="34" charset="-122"/>
                <a:cs typeface="Calibri" pitchFamily="34" charset="-120"/>
              </a:rPr>
              <a:t>Temporary password, forced replacement, revocation that takes effect now.</a:t>
            </a:r>
            <a:endParaRPr lang="en-US" sz="950" dirty="0"/>
          </a:p>
        </p:txBody>
      </p:sp>
      <p:sp>
        <p:nvSpPr>
          <p:cNvPr id="34" name="Text 32"/>
          <p:cNvSpPr txBox="1"/>
          <p:nvPr/>
        </p:nvSpPr>
        <p:spPr>
          <a:xfrm>
            <a:off x="640080" y="5577840"/>
            <a:ext cx="384048" cy="365760"/>
          </a:xfrm>
          <a:prstGeom prst="rect">
            <a:avLst/>
          </a:prstGeom>
          <a:noFill/>
          <a:ln/>
        </p:spPr>
        <p:txBody>
          <a:bodyPr wrap="square" lIns="0" tIns="0" rIns="0" bIns="0" rtlCol="0" anchor="ctr"/>
          <a:lstStyle/>
          <a:p>
            <a:pPr indent="0" marL="0">
              <a:buNone/>
            </a:pPr>
            <a:r>
              <a:rPr lang="en-US" sz="1200" b="1" dirty="0">
                <a:solidFill>
                  <a:srgbClr val="C2551F"/>
                </a:solidFill>
                <a:latin typeface="Cambria" pitchFamily="34" charset="0"/>
                <a:ea typeface="Cambria" pitchFamily="34" charset="-122"/>
                <a:cs typeface="Cambria" pitchFamily="34" charset="-120"/>
              </a:rPr>
              <a:t>11</a:t>
            </a:r>
            <a:endParaRPr lang="en-US" sz="1200" dirty="0"/>
          </a:p>
        </p:txBody>
      </p:sp>
      <p:sp>
        <p:nvSpPr>
          <p:cNvPr id="35" name="Text 33"/>
          <p:cNvSpPr txBox="1"/>
          <p:nvPr/>
        </p:nvSpPr>
        <p:spPr>
          <a:xfrm>
            <a:off x="1097280" y="5577840"/>
            <a:ext cx="1691640" cy="365760"/>
          </a:xfrm>
          <a:prstGeom prst="rect">
            <a:avLst/>
          </a:prstGeom>
          <a:noFill/>
          <a:ln/>
        </p:spPr>
        <p:txBody>
          <a:bodyPr wrap="square" lIns="0" tIns="0" rIns="0" bIns="0" rtlCol="0" anchor="ctr"/>
          <a:lstStyle/>
          <a:p>
            <a:pPr indent="0" marL="0">
              <a:buNone/>
            </a:pPr>
            <a:r>
              <a:rPr lang="en-US" sz="1150" b="1" dirty="0">
                <a:solidFill>
                  <a:srgbClr val="16243A"/>
                </a:solidFill>
                <a:latin typeface="Calibri" pitchFamily="34" charset="0"/>
                <a:ea typeface="Calibri" pitchFamily="34" charset="-122"/>
                <a:cs typeface="Calibri" pitchFamily="34" charset="-120"/>
              </a:rPr>
              <a:t>Retention</a:t>
            </a:r>
            <a:endParaRPr lang="en-US" sz="1150" dirty="0"/>
          </a:p>
        </p:txBody>
      </p:sp>
      <p:sp>
        <p:nvSpPr>
          <p:cNvPr id="36" name="Text 34"/>
          <p:cNvSpPr txBox="1"/>
          <p:nvPr/>
        </p:nvSpPr>
        <p:spPr>
          <a:xfrm>
            <a:off x="2834640" y="5596128"/>
            <a:ext cx="3291840" cy="384048"/>
          </a:xfrm>
          <a:prstGeom prst="rect">
            <a:avLst/>
          </a:prstGeom>
          <a:noFill/>
          <a:ln/>
        </p:spPr>
        <p:txBody>
          <a:bodyPr wrap="square" lIns="0" tIns="0" rIns="0" bIns="0" rtlCol="0" anchor="ctr"/>
          <a:lstStyle/>
          <a:p>
            <a:pPr indent="0" marL="0">
              <a:lnSpc>
                <a:spcPts val="1200"/>
              </a:lnSpc>
              <a:buNone/>
            </a:pPr>
            <a:r>
              <a:rPr lang="en-US" sz="950" dirty="0">
                <a:solidFill>
                  <a:srgbClr val="3C4A5C"/>
                </a:solidFill>
                <a:latin typeface="Calibri" pitchFamily="34" charset="0"/>
                <a:ea typeface="Calibri" pitchFamily="34" charset="-122"/>
                <a:cs typeface="Calibri" pitchFamily="34" charset="-120"/>
              </a:rPr>
              <a:t>Old records pruned, anything under an unacknowledged alert preserved.</a:t>
            </a:r>
            <a:endParaRPr lang="en-US" sz="950" dirty="0"/>
          </a:p>
        </p:txBody>
      </p:sp>
      <p:sp>
        <p:nvSpPr>
          <p:cNvPr id="37" name="Text 35"/>
          <p:cNvSpPr txBox="1"/>
          <p:nvPr/>
        </p:nvSpPr>
        <p:spPr>
          <a:xfrm>
            <a:off x="640080" y="5989320"/>
            <a:ext cx="10881360" cy="365760"/>
          </a:xfrm>
          <a:prstGeom prst="rect">
            <a:avLst/>
          </a:prstGeom>
          <a:noFill/>
          <a:ln/>
        </p:spPr>
        <p:txBody>
          <a:bodyPr wrap="square" lIns="0" tIns="0" rIns="0" bIns="0" rtlCol="0" anchor="ctr"/>
          <a:lstStyle/>
          <a:p>
            <a:pPr indent="0" marL="0">
              <a:buNone/>
            </a:pPr>
            <a:r>
              <a:rPr lang="en-US" sz="1200" i="1" dirty="0">
                <a:solidFill>
                  <a:srgbClr val="C2551F"/>
                </a:solidFill>
                <a:latin typeface="Calibri" pitchFamily="34" charset="0"/>
                <a:ea typeface="Calibri" pitchFamily="34" charset="-122"/>
                <a:cs typeface="Calibri" pitchFamily="34" charset="-120"/>
              </a:rPr>
              <a:t>Only flow 08 moves video between tiers, and only after a hit has been confirmed.</a:t>
            </a:r>
            <a:endParaRPr lang="en-US" sz="1200" dirty="0"/>
          </a:p>
        </p:txBody>
      </p:sp>
      <p:sp>
        <p:nvSpPr>
          <p:cNvPr id="38" name="Text 36"/>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4EE"/>
        </a:solidFill>
      </p:bgPr>
    </p:bg>
    <p:spTree>
      <p:nvGrpSpPr>
        <p:cNvPr id="1" name=""/>
        <p:cNvGrpSpPr/>
        <p:nvPr/>
      </p:nvGrpSpPr>
      <p:grpSpPr>
        <a:xfrm>
          <a:off x="0" y="0"/>
          <a:ext cx="0" cy="0"/>
          <a:chOff x="0" y="0"/>
          <a:chExt cx="0" cy="0"/>
        </a:xfrm>
      </p:grpSpPr>
      <p:sp>
        <p:nvSpPr>
          <p:cNvPr id="2" name="Text 0"/>
          <p:cNvSpPr txBox="1"/>
          <p:nvPr/>
        </p:nvSpPr>
        <p:spPr>
          <a:xfrm>
            <a:off x="822960" y="2286000"/>
            <a:ext cx="1828800" cy="1463040"/>
          </a:xfrm>
          <a:prstGeom prst="rect">
            <a:avLst/>
          </a:prstGeom>
          <a:noFill/>
          <a:ln/>
        </p:spPr>
        <p:txBody>
          <a:bodyPr wrap="square" lIns="0" tIns="0" rIns="0" bIns="0" rtlCol="0" anchor="ctr"/>
          <a:lstStyle/>
          <a:p>
            <a:pPr indent="0" marL="0">
              <a:buNone/>
            </a:pPr>
            <a:r>
              <a:rPr lang="en-US" sz="9600" b="1" dirty="0">
                <a:solidFill>
                  <a:srgbClr val="C2551F"/>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2743200" y="2487168"/>
            <a:ext cx="8503920" cy="777240"/>
          </a:xfrm>
          <a:prstGeom prst="rect">
            <a:avLst/>
          </a:prstGeom>
          <a:noFill/>
          <a:ln/>
        </p:spPr>
        <p:txBody>
          <a:bodyPr wrap="square" lIns="0" tIns="0" rIns="0" bIns="0" rtlCol="0" anchor="ctr"/>
          <a:lstStyle/>
          <a:p>
            <a:pPr indent="0" marL="0">
              <a:buNone/>
            </a:pPr>
            <a:r>
              <a:rPr lang="en-US" sz="4000" b="1" dirty="0">
                <a:solidFill>
                  <a:srgbClr val="16243A"/>
                </a:solidFill>
                <a:latin typeface="Cambria" pitchFamily="34" charset="0"/>
                <a:ea typeface="Cambria" pitchFamily="34" charset="-122"/>
                <a:cs typeface="Cambria" pitchFamily="34" charset="-120"/>
              </a:rPr>
              <a:t>Capability</a:t>
            </a:r>
            <a:endParaRPr lang="en-US" sz="4000" dirty="0"/>
          </a:p>
        </p:txBody>
      </p:sp>
      <p:sp>
        <p:nvSpPr>
          <p:cNvPr id="4" name="Text 2"/>
          <p:cNvSpPr txBox="1"/>
          <p:nvPr/>
        </p:nvSpPr>
        <p:spPr>
          <a:xfrm>
            <a:off x="2788920" y="3346704"/>
            <a:ext cx="7863840" cy="731520"/>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What an officer can actually do with it.</a:t>
            </a:r>
            <a:endParaRPr lang="en-US" sz="1450" dirty="0"/>
          </a:p>
        </p:txBody>
      </p:sp>
      <p:sp>
        <p:nvSpPr>
          <p:cNvPr id="5" name="Text 3"/>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NUMBER PLATE RECOGNITION</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A vehicle-first cascade, not a full-frame sweep</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Tiled full-frame plate detection measured four to eight seconds per frame and returned unusable reads. Finding the vehicle first is faster and recalls more.</a:t>
            </a:r>
            <a:endParaRPr lang="en-US" sz="1450" dirty="0"/>
          </a:p>
        </p:txBody>
      </p:sp>
      <p:sp>
        <p:nvSpPr>
          <p:cNvPr id="5" name="Shape 3"/>
          <p:cNvSpPr/>
          <p:nvPr/>
        </p:nvSpPr>
        <p:spPr>
          <a:xfrm>
            <a:off x="640080" y="2542032"/>
            <a:ext cx="2528316" cy="2651760"/>
          </a:xfrm>
          <a:prstGeom prst="roundRect">
            <a:avLst>
              <a:gd name="adj" fmla="val 1808"/>
            </a:avLst>
          </a:prstGeom>
          <a:solidFill>
            <a:srgbClr val="F2F5F9"/>
          </a:solidFill>
          <a:ln w="12700">
            <a:solidFill>
              <a:srgbClr val="F2F5F9"/>
            </a:solidFill>
            <a:prstDash val="solid"/>
          </a:ln>
        </p:spPr>
      </p:sp>
      <p:sp>
        <p:nvSpPr>
          <p:cNvPr id="6" name="Shape 4"/>
          <p:cNvSpPr/>
          <p:nvPr/>
        </p:nvSpPr>
        <p:spPr>
          <a:xfrm>
            <a:off x="914400" y="2816352"/>
            <a:ext cx="365760" cy="365760"/>
          </a:xfrm>
          <a:prstGeom prst="ellipse">
            <a:avLst/>
          </a:prstGeom>
          <a:solidFill>
            <a:srgbClr val="C2551F"/>
          </a:solidFill>
          <a:ln w="12700">
            <a:solidFill>
              <a:srgbClr val="C2551F"/>
            </a:solidFill>
            <a:prstDash val="solid"/>
          </a:ln>
        </p:spPr>
      </p:sp>
      <p:sp>
        <p:nvSpPr>
          <p:cNvPr id="7" name="Text 5"/>
          <p:cNvSpPr txBox="1"/>
          <p:nvPr/>
        </p:nvSpPr>
        <p:spPr>
          <a:xfrm>
            <a:off x="914400" y="281635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txBox="1"/>
          <p:nvPr/>
        </p:nvSpPr>
        <p:spPr>
          <a:xfrm>
            <a:off x="914400" y="3346704"/>
            <a:ext cx="1979676" cy="475488"/>
          </a:xfrm>
          <a:prstGeom prst="rect">
            <a:avLst/>
          </a:prstGeom>
          <a:noFill/>
          <a:ln/>
        </p:spPr>
        <p:txBody>
          <a:bodyPr wrap="square" lIns="0" tIns="0" rIns="0" bIns="0" rtlCol="0" anchor="ctr"/>
          <a:lstStyle/>
          <a:p>
            <a:pPr indent="0" marL="0">
              <a:buNone/>
            </a:pPr>
            <a:r>
              <a:rPr lang="en-US" sz="1500" b="1" dirty="0">
                <a:solidFill>
                  <a:srgbClr val="16243A"/>
                </a:solidFill>
                <a:latin typeface="Cambria" pitchFamily="34" charset="0"/>
                <a:ea typeface="Cambria" pitchFamily="34" charset="-122"/>
                <a:cs typeface="Cambria" pitchFamily="34" charset="-120"/>
              </a:rPr>
              <a:t>Detect vehicles</a:t>
            </a:r>
            <a:endParaRPr lang="en-US" sz="1500" dirty="0"/>
          </a:p>
        </p:txBody>
      </p:sp>
      <p:sp>
        <p:nvSpPr>
          <p:cNvPr id="9" name="Text 7"/>
          <p:cNvSpPr txBox="1"/>
          <p:nvPr/>
        </p:nvSpPr>
        <p:spPr>
          <a:xfrm>
            <a:off x="914400" y="3858768"/>
            <a:ext cx="1979676" cy="1069848"/>
          </a:xfrm>
          <a:prstGeom prst="rect">
            <a:avLst/>
          </a:prstGeom>
          <a:noFill/>
          <a:ln/>
        </p:spPr>
        <p:txBody>
          <a:bodyPr wrap="square" lIns="0" tIns="0" rIns="0" bIns="0" rtlCol="0" anchor="ctr"/>
          <a:lstStyle/>
          <a:p>
            <a:pPr indent="0" marL="0">
              <a:lnSpc>
                <a:spcPts val="1700"/>
              </a:lnSpc>
              <a:buNone/>
            </a:pPr>
            <a:r>
              <a:rPr lang="en-US" sz="1150" dirty="0">
                <a:solidFill>
                  <a:srgbClr val="3C4A5C"/>
                </a:solidFill>
                <a:latin typeface="Calibri" pitchFamily="34" charset="0"/>
                <a:ea typeface="Calibri" pitchFamily="34" charset="-122"/>
                <a:cs typeface="Calibri" pitchFamily="34" charset="-120"/>
              </a:rPr>
              <a:t>A detector isolates cars, motorcycles, buses and trucks across the full frame.</a:t>
            </a:r>
            <a:endParaRPr lang="en-US" sz="1150" dirty="0"/>
          </a:p>
        </p:txBody>
      </p:sp>
      <p:sp>
        <p:nvSpPr>
          <p:cNvPr id="10" name="Shape 8"/>
          <p:cNvSpPr/>
          <p:nvPr/>
        </p:nvSpPr>
        <p:spPr>
          <a:xfrm>
            <a:off x="3424428" y="2542032"/>
            <a:ext cx="2528316" cy="2651760"/>
          </a:xfrm>
          <a:prstGeom prst="roundRect">
            <a:avLst>
              <a:gd name="adj" fmla="val 1808"/>
            </a:avLst>
          </a:prstGeom>
          <a:solidFill>
            <a:srgbClr val="F2F5F9"/>
          </a:solidFill>
          <a:ln w="12700">
            <a:solidFill>
              <a:srgbClr val="F2F5F9"/>
            </a:solidFill>
            <a:prstDash val="solid"/>
          </a:ln>
        </p:spPr>
      </p:sp>
      <p:sp>
        <p:nvSpPr>
          <p:cNvPr id="11" name="Shape 9"/>
          <p:cNvSpPr/>
          <p:nvPr/>
        </p:nvSpPr>
        <p:spPr>
          <a:xfrm>
            <a:off x="3698748" y="2816352"/>
            <a:ext cx="365760" cy="365760"/>
          </a:xfrm>
          <a:prstGeom prst="ellipse">
            <a:avLst/>
          </a:prstGeom>
          <a:solidFill>
            <a:srgbClr val="C2551F"/>
          </a:solidFill>
          <a:ln w="12700">
            <a:solidFill>
              <a:srgbClr val="C2551F"/>
            </a:solidFill>
            <a:prstDash val="solid"/>
          </a:ln>
        </p:spPr>
      </p:sp>
      <p:sp>
        <p:nvSpPr>
          <p:cNvPr id="12" name="Text 10"/>
          <p:cNvSpPr txBox="1"/>
          <p:nvPr/>
        </p:nvSpPr>
        <p:spPr>
          <a:xfrm>
            <a:off x="3698748" y="281635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txBox="1"/>
          <p:nvPr/>
        </p:nvSpPr>
        <p:spPr>
          <a:xfrm>
            <a:off x="3698748" y="3346704"/>
            <a:ext cx="1979676" cy="475488"/>
          </a:xfrm>
          <a:prstGeom prst="rect">
            <a:avLst/>
          </a:prstGeom>
          <a:noFill/>
          <a:ln/>
        </p:spPr>
        <p:txBody>
          <a:bodyPr wrap="square" lIns="0" tIns="0" rIns="0" bIns="0" rtlCol="0" anchor="ctr"/>
          <a:lstStyle/>
          <a:p>
            <a:pPr indent="0" marL="0">
              <a:buNone/>
            </a:pPr>
            <a:r>
              <a:rPr lang="en-US" sz="1500" b="1" dirty="0">
                <a:solidFill>
                  <a:srgbClr val="16243A"/>
                </a:solidFill>
                <a:latin typeface="Cambria" pitchFamily="34" charset="0"/>
                <a:ea typeface="Cambria" pitchFamily="34" charset="-122"/>
                <a:cs typeface="Cambria" pitchFamily="34" charset="-120"/>
              </a:rPr>
              <a:t>Find the plate</a:t>
            </a:r>
            <a:endParaRPr lang="en-US" sz="1500" dirty="0"/>
          </a:p>
        </p:txBody>
      </p:sp>
      <p:sp>
        <p:nvSpPr>
          <p:cNvPr id="14" name="Text 12"/>
          <p:cNvSpPr txBox="1"/>
          <p:nvPr/>
        </p:nvSpPr>
        <p:spPr>
          <a:xfrm>
            <a:off x="3698748" y="3858768"/>
            <a:ext cx="1979676" cy="1069848"/>
          </a:xfrm>
          <a:prstGeom prst="rect">
            <a:avLst/>
          </a:prstGeom>
          <a:noFill/>
          <a:ln/>
        </p:spPr>
        <p:txBody>
          <a:bodyPr wrap="square" lIns="0" tIns="0" rIns="0" bIns="0" rtlCol="0" anchor="ctr"/>
          <a:lstStyle/>
          <a:p>
            <a:pPr indent="0" marL="0">
              <a:lnSpc>
                <a:spcPts val="1700"/>
              </a:lnSpc>
              <a:buNone/>
            </a:pPr>
            <a:r>
              <a:rPr lang="en-US" sz="1150" dirty="0">
                <a:solidFill>
                  <a:srgbClr val="3C4A5C"/>
                </a:solidFill>
                <a:latin typeface="Calibri" pitchFamily="34" charset="0"/>
                <a:ea typeface="Calibri" pitchFamily="34" charset="-122"/>
                <a:cs typeface="Calibri" pitchFamily="34" charset="-120"/>
              </a:rPr>
              <a:t>A dedicated detector runs on each enlarged vehicle crop, gated on plate shape and minimum size.</a:t>
            </a:r>
            <a:endParaRPr lang="en-US" sz="1150" dirty="0"/>
          </a:p>
        </p:txBody>
      </p:sp>
      <p:sp>
        <p:nvSpPr>
          <p:cNvPr id="15" name="Shape 13"/>
          <p:cNvSpPr/>
          <p:nvPr/>
        </p:nvSpPr>
        <p:spPr>
          <a:xfrm>
            <a:off x="6208776" y="2542032"/>
            <a:ext cx="2528316" cy="2651760"/>
          </a:xfrm>
          <a:prstGeom prst="roundRect">
            <a:avLst>
              <a:gd name="adj" fmla="val 1808"/>
            </a:avLst>
          </a:prstGeom>
          <a:solidFill>
            <a:srgbClr val="F2F5F9"/>
          </a:solidFill>
          <a:ln w="12700">
            <a:solidFill>
              <a:srgbClr val="F2F5F9"/>
            </a:solidFill>
            <a:prstDash val="solid"/>
          </a:ln>
        </p:spPr>
      </p:sp>
      <p:sp>
        <p:nvSpPr>
          <p:cNvPr id="16" name="Shape 14"/>
          <p:cNvSpPr/>
          <p:nvPr/>
        </p:nvSpPr>
        <p:spPr>
          <a:xfrm>
            <a:off x="6483096" y="2816352"/>
            <a:ext cx="365760" cy="365760"/>
          </a:xfrm>
          <a:prstGeom prst="ellipse">
            <a:avLst/>
          </a:prstGeom>
          <a:solidFill>
            <a:srgbClr val="C2551F"/>
          </a:solidFill>
          <a:ln w="12700">
            <a:solidFill>
              <a:srgbClr val="C2551F"/>
            </a:solidFill>
            <a:prstDash val="solid"/>
          </a:ln>
        </p:spPr>
      </p:sp>
      <p:sp>
        <p:nvSpPr>
          <p:cNvPr id="17" name="Text 15"/>
          <p:cNvSpPr txBox="1"/>
          <p:nvPr/>
        </p:nvSpPr>
        <p:spPr>
          <a:xfrm>
            <a:off x="6483096" y="281635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txBox="1"/>
          <p:nvPr/>
        </p:nvSpPr>
        <p:spPr>
          <a:xfrm>
            <a:off x="6483096" y="3346704"/>
            <a:ext cx="1979676" cy="475488"/>
          </a:xfrm>
          <a:prstGeom prst="rect">
            <a:avLst/>
          </a:prstGeom>
          <a:noFill/>
          <a:ln/>
        </p:spPr>
        <p:txBody>
          <a:bodyPr wrap="square" lIns="0" tIns="0" rIns="0" bIns="0" rtlCol="0" anchor="ctr"/>
          <a:lstStyle/>
          <a:p>
            <a:pPr indent="0" marL="0">
              <a:buNone/>
            </a:pPr>
            <a:r>
              <a:rPr lang="en-US" sz="1500" b="1" dirty="0">
                <a:solidFill>
                  <a:srgbClr val="16243A"/>
                </a:solidFill>
                <a:latin typeface="Cambria" pitchFamily="34" charset="0"/>
                <a:ea typeface="Cambria" pitchFamily="34" charset="-122"/>
                <a:cs typeface="Cambria" pitchFamily="34" charset="-120"/>
              </a:rPr>
              <a:t>Read characters</a:t>
            </a:r>
            <a:endParaRPr lang="en-US" sz="1500" dirty="0"/>
          </a:p>
        </p:txBody>
      </p:sp>
      <p:sp>
        <p:nvSpPr>
          <p:cNvPr id="19" name="Text 17"/>
          <p:cNvSpPr txBox="1"/>
          <p:nvPr/>
        </p:nvSpPr>
        <p:spPr>
          <a:xfrm>
            <a:off x="6483096" y="3858768"/>
            <a:ext cx="1979676" cy="1069848"/>
          </a:xfrm>
          <a:prstGeom prst="rect">
            <a:avLst/>
          </a:prstGeom>
          <a:noFill/>
          <a:ln/>
        </p:spPr>
        <p:txBody>
          <a:bodyPr wrap="square" lIns="0" tIns="0" rIns="0" bIns="0" rtlCol="0" anchor="ctr"/>
          <a:lstStyle/>
          <a:p>
            <a:pPr indent="0" marL="0">
              <a:lnSpc>
                <a:spcPts val="1700"/>
              </a:lnSpc>
              <a:buNone/>
            </a:pPr>
            <a:r>
              <a:rPr lang="en-US" sz="1150" dirty="0">
                <a:solidFill>
                  <a:srgbClr val="3C4A5C"/>
                </a:solidFill>
                <a:latin typeface="Calibri" pitchFamily="34" charset="0"/>
                <a:ea typeface="Calibri" pitchFamily="34" charset="-122"/>
                <a:cs typeface="Calibri" pitchFamily="34" charset="-120"/>
              </a:rPr>
              <a:t>An Indian-tuned recognition model reads the plate region and returns a confidence score.</a:t>
            </a:r>
            <a:endParaRPr lang="en-US" sz="1150" dirty="0"/>
          </a:p>
        </p:txBody>
      </p:sp>
      <p:sp>
        <p:nvSpPr>
          <p:cNvPr id="20" name="Shape 18"/>
          <p:cNvSpPr/>
          <p:nvPr/>
        </p:nvSpPr>
        <p:spPr>
          <a:xfrm>
            <a:off x="8993124" y="2542032"/>
            <a:ext cx="2528316" cy="2651760"/>
          </a:xfrm>
          <a:prstGeom prst="roundRect">
            <a:avLst>
              <a:gd name="adj" fmla="val 1808"/>
            </a:avLst>
          </a:prstGeom>
          <a:solidFill>
            <a:srgbClr val="F2F5F9"/>
          </a:solidFill>
          <a:ln w="12700">
            <a:solidFill>
              <a:srgbClr val="F2F5F9"/>
            </a:solidFill>
            <a:prstDash val="solid"/>
          </a:ln>
        </p:spPr>
      </p:sp>
      <p:sp>
        <p:nvSpPr>
          <p:cNvPr id="21" name="Shape 19"/>
          <p:cNvSpPr/>
          <p:nvPr/>
        </p:nvSpPr>
        <p:spPr>
          <a:xfrm>
            <a:off x="9267444" y="2816352"/>
            <a:ext cx="365760" cy="365760"/>
          </a:xfrm>
          <a:prstGeom prst="ellipse">
            <a:avLst/>
          </a:prstGeom>
          <a:solidFill>
            <a:srgbClr val="C2551F"/>
          </a:solidFill>
          <a:ln w="12700">
            <a:solidFill>
              <a:srgbClr val="C2551F"/>
            </a:solidFill>
            <a:prstDash val="solid"/>
          </a:ln>
        </p:spPr>
      </p:sp>
      <p:sp>
        <p:nvSpPr>
          <p:cNvPr id="22" name="Text 20"/>
          <p:cNvSpPr txBox="1"/>
          <p:nvPr/>
        </p:nvSpPr>
        <p:spPr>
          <a:xfrm>
            <a:off x="9267444" y="2816352"/>
            <a:ext cx="36576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txBox="1"/>
          <p:nvPr/>
        </p:nvSpPr>
        <p:spPr>
          <a:xfrm>
            <a:off x="9267444" y="3346704"/>
            <a:ext cx="1979676" cy="475488"/>
          </a:xfrm>
          <a:prstGeom prst="rect">
            <a:avLst/>
          </a:prstGeom>
          <a:noFill/>
          <a:ln/>
        </p:spPr>
        <p:txBody>
          <a:bodyPr wrap="square" lIns="0" tIns="0" rIns="0" bIns="0" rtlCol="0" anchor="ctr"/>
          <a:lstStyle/>
          <a:p>
            <a:pPr indent="0" marL="0">
              <a:buNone/>
            </a:pPr>
            <a:r>
              <a:rPr lang="en-US" sz="1500" b="1" dirty="0">
                <a:solidFill>
                  <a:srgbClr val="16243A"/>
                </a:solidFill>
                <a:latin typeface="Cambria" pitchFamily="34" charset="0"/>
                <a:ea typeface="Cambria" pitchFamily="34" charset="-122"/>
                <a:cs typeface="Cambria" pitchFamily="34" charset="-120"/>
              </a:rPr>
              <a:t>Reach consensus</a:t>
            </a:r>
            <a:endParaRPr lang="en-US" sz="1500" dirty="0"/>
          </a:p>
        </p:txBody>
      </p:sp>
      <p:sp>
        <p:nvSpPr>
          <p:cNvPr id="24" name="Text 22"/>
          <p:cNvSpPr txBox="1"/>
          <p:nvPr/>
        </p:nvSpPr>
        <p:spPr>
          <a:xfrm>
            <a:off x="9267444" y="3858768"/>
            <a:ext cx="1979676" cy="1069848"/>
          </a:xfrm>
          <a:prstGeom prst="rect">
            <a:avLst/>
          </a:prstGeom>
          <a:noFill/>
          <a:ln/>
        </p:spPr>
        <p:txBody>
          <a:bodyPr wrap="square" lIns="0" tIns="0" rIns="0" bIns="0" rtlCol="0" anchor="ctr"/>
          <a:lstStyle/>
          <a:p>
            <a:pPr indent="0" marL="0">
              <a:lnSpc>
                <a:spcPts val="1700"/>
              </a:lnSpc>
              <a:buNone/>
            </a:pPr>
            <a:r>
              <a:rPr lang="en-US" sz="1150" dirty="0">
                <a:solidFill>
                  <a:srgbClr val="3C4A5C"/>
                </a:solidFill>
                <a:latin typeface="Calibri" pitchFamily="34" charset="0"/>
                <a:ea typeface="Calibri" pitchFamily="34" charset="-122"/>
                <a:cs typeface="Calibri" pitchFamily="34" charset="-120"/>
              </a:rPr>
              <a:t>Reads are grouped into tracks and confirmed only once several agree within a small edit distance.</a:t>
            </a:r>
            <a:endParaRPr lang="en-US" sz="1150" dirty="0"/>
          </a:p>
        </p:txBody>
      </p:sp>
      <p:sp>
        <p:nvSpPr>
          <p:cNvPr id="25" name="Text 23"/>
          <p:cNvSpPr txBox="1"/>
          <p:nvPr/>
        </p:nvSpPr>
        <p:spPr>
          <a:xfrm>
            <a:off x="640080" y="5486400"/>
            <a:ext cx="10881360" cy="457200"/>
          </a:xfrm>
          <a:prstGeom prst="rect">
            <a:avLst/>
          </a:prstGeom>
          <a:noFill/>
          <a:ln/>
        </p:spPr>
        <p:txBody>
          <a:bodyPr wrap="square" lIns="0" tIns="0" rIns="0" bIns="0" rtlCol="0" anchor="ctr"/>
          <a:lstStyle/>
          <a:p>
            <a:pPr indent="0" marL="0">
              <a:lnSpc>
                <a:spcPts val="1900"/>
              </a:lnSpc>
              <a:buNone/>
            </a:pPr>
            <a:r>
              <a:rPr lang="en-US" sz="1350" i="1" dirty="0">
                <a:solidFill>
                  <a:srgbClr val="C2551F"/>
                </a:solidFill>
                <a:latin typeface="Calibri" pitchFamily="34" charset="0"/>
                <a:ea typeface="Calibri" pitchFamily="34" charset="-122"/>
                <a:cs typeface="Calibri" pitchFamily="34" charset="-120"/>
              </a:rPr>
              <a:t>Single-frame reads of one physical plate disagree with each other. Consensus is what makes the output usable as evidence rather than as a suggestion.</a:t>
            </a:r>
            <a:endParaRPr lang="en-US" sz="1350" dirty="0"/>
          </a:p>
        </p:txBody>
      </p:sp>
      <p:sp>
        <p:nvSpPr>
          <p:cNvPr id="26" name="Text 24"/>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THROUGHPUT</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The same pipeline, accelerated</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One setting moves every model onto the GPU. Availability is confirmed by running a real workload on the device, because the runtime advertises support whether or not it works.</a:t>
            </a:r>
            <a:endParaRPr lang="en-US" sz="1450" dirty="0"/>
          </a:p>
        </p:txBody>
      </p:sp>
      <p:graphicFrame>
        <p:nvGraphicFramePr>
          <p:cNvPr id="5" name="Chart 0" descr=""/>
          <p:cNvGraphicFramePr/>
          <p:nvPr/>
        </p:nvGraphicFramePr>
        <p:xfrm>
          <a:off x="640080" y="2468880"/>
          <a:ext cx="5943600" cy="3063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0" y="2468880"/>
            <a:ext cx="4663440" cy="3063240"/>
          </a:xfrm>
          <a:prstGeom prst="roundRect">
            <a:avLst>
              <a:gd name="adj" fmla="val 1493"/>
            </a:avLst>
          </a:prstGeom>
          <a:solidFill>
            <a:srgbClr val="FBF4EE"/>
          </a:solidFill>
          <a:ln w="12700">
            <a:solidFill>
              <a:srgbClr val="FBF4EE"/>
            </a:solidFill>
            <a:prstDash val="solid"/>
          </a:ln>
        </p:spPr>
      </p:sp>
      <p:sp>
        <p:nvSpPr>
          <p:cNvPr id="7" name="Text 4"/>
          <p:cNvSpPr txBox="1"/>
          <p:nvPr/>
        </p:nvSpPr>
        <p:spPr>
          <a:xfrm>
            <a:off x="7223760" y="2743200"/>
            <a:ext cx="3931920" cy="676656"/>
          </a:xfrm>
          <a:prstGeom prst="rect">
            <a:avLst/>
          </a:prstGeom>
          <a:noFill/>
          <a:ln/>
        </p:spPr>
        <p:txBody>
          <a:bodyPr wrap="square" lIns="0" tIns="0" rIns="0" bIns="0" rtlCol="0" anchor="ctr"/>
          <a:lstStyle/>
          <a:p>
            <a:pPr indent="0" marL="0">
              <a:buNone/>
            </a:pPr>
            <a:r>
              <a:rPr lang="en-US" sz="4000" b="1" dirty="0">
                <a:solidFill>
                  <a:srgbClr val="C2551F"/>
                </a:solidFill>
                <a:latin typeface="Cambria" pitchFamily="34" charset="0"/>
                <a:ea typeface="Cambria" pitchFamily="34" charset="-122"/>
                <a:cs typeface="Cambria" pitchFamily="34" charset="-120"/>
              </a:rPr>
              <a:t>2.3x</a:t>
            </a:r>
            <a:endParaRPr lang="en-US" sz="4000" dirty="0"/>
          </a:p>
        </p:txBody>
      </p:sp>
      <p:sp>
        <p:nvSpPr>
          <p:cNvPr id="8" name="Text 5"/>
          <p:cNvSpPr txBox="1"/>
          <p:nvPr/>
        </p:nvSpPr>
        <p:spPr>
          <a:xfrm>
            <a:off x="7223760" y="3419856"/>
            <a:ext cx="3931920" cy="420624"/>
          </a:xfrm>
          <a:prstGeom prst="rect">
            <a:avLst/>
          </a:prstGeom>
          <a:noFill/>
          <a:ln/>
        </p:spPr>
        <p:txBody>
          <a:bodyPr wrap="square" lIns="0" tIns="0" rIns="0" bIns="0" rtlCol="0" anchor="ctr"/>
          <a:lstStyle/>
          <a:p>
            <a:pPr indent="0" marL="0">
              <a:buNone/>
            </a:pPr>
            <a:r>
              <a:rPr lang="en-US" sz="1050" spc="80" kern="0" dirty="0">
                <a:solidFill>
                  <a:srgbClr val="6B7B8F"/>
                </a:solidFill>
                <a:latin typeface="Calibri" pitchFamily="34" charset="0"/>
                <a:ea typeface="Calibri" pitchFamily="34" charset="-122"/>
                <a:cs typeface="Calibri" pitchFamily="34" charset="-120"/>
              </a:rPr>
              <a:t>faster, measured end to end</a:t>
            </a:r>
            <a:endParaRPr lang="en-US" sz="1050" dirty="0"/>
          </a:p>
        </p:txBody>
      </p:sp>
      <p:sp>
        <p:nvSpPr>
          <p:cNvPr id="9" name="Text 6"/>
          <p:cNvSpPr txBox="1"/>
          <p:nvPr/>
        </p:nvSpPr>
        <p:spPr>
          <a:xfrm>
            <a:off x="7223760" y="3840480"/>
            <a:ext cx="1828800" cy="676656"/>
          </a:xfrm>
          <a:prstGeom prst="rect">
            <a:avLst/>
          </a:prstGeom>
          <a:noFill/>
          <a:ln/>
        </p:spPr>
        <p:txBody>
          <a:bodyPr wrap="square" lIns="0" tIns="0" rIns="0" bIns="0" rtlCol="0" anchor="ctr"/>
          <a:lstStyle/>
          <a:p>
            <a:pPr indent="0" marL="0">
              <a:buNone/>
            </a:pPr>
            <a:r>
              <a:rPr lang="en-US" sz="2800" b="1" dirty="0">
                <a:solidFill>
                  <a:srgbClr val="16243A"/>
                </a:solidFill>
                <a:latin typeface="Cambria" pitchFamily="34" charset="0"/>
                <a:ea typeface="Cambria" pitchFamily="34" charset="-122"/>
                <a:cs typeface="Cambria" pitchFamily="34" charset="-120"/>
              </a:rPr>
              <a:t>1.91</a:t>
            </a:r>
            <a:endParaRPr lang="en-US" sz="2800" dirty="0"/>
          </a:p>
        </p:txBody>
      </p:sp>
      <p:sp>
        <p:nvSpPr>
          <p:cNvPr id="10" name="Text 7"/>
          <p:cNvSpPr txBox="1"/>
          <p:nvPr/>
        </p:nvSpPr>
        <p:spPr>
          <a:xfrm>
            <a:off x="7223760" y="4517136"/>
            <a:ext cx="1828800" cy="420624"/>
          </a:xfrm>
          <a:prstGeom prst="rect">
            <a:avLst/>
          </a:prstGeom>
          <a:noFill/>
          <a:ln/>
        </p:spPr>
        <p:txBody>
          <a:bodyPr wrap="square" lIns="0" tIns="0" rIns="0" bIns="0" rtlCol="0" anchor="ctr"/>
          <a:lstStyle/>
          <a:p>
            <a:pPr indent="0" marL="0">
              <a:buNone/>
            </a:pPr>
            <a:r>
              <a:rPr lang="en-US" sz="1050" spc="80" kern="0" dirty="0">
                <a:solidFill>
                  <a:srgbClr val="6B7B8F"/>
                </a:solidFill>
                <a:latin typeface="Calibri" pitchFamily="34" charset="0"/>
                <a:ea typeface="Calibri" pitchFamily="34" charset="-122"/>
                <a:cs typeface="Calibri" pitchFamily="34" charset="-120"/>
              </a:rPr>
              <a:t>frames per second</a:t>
            </a:r>
            <a:endParaRPr lang="en-US" sz="1050" dirty="0"/>
          </a:p>
        </p:txBody>
      </p:sp>
      <p:sp>
        <p:nvSpPr>
          <p:cNvPr id="11" name="Text 8"/>
          <p:cNvSpPr txBox="1"/>
          <p:nvPr/>
        </p:nvSpPr>
        <p:spPr>
          <a:xfrm>
            <a:off x="9144000" y="3840480"/>
            <a:ext cx="2011680" cy="676656"/>
          </a:xfrm>
          <a:prstGeom prst="rect">
            <a:avLst/>
          </a:prstGeom>
          <a:noFill/>
          <a:ln/>
        </p:spPr>
        <p:txBody>
          <a:bodyPr wrap="square" lIns="0" tIns="0" rIns="0" bIns="0" rtlCol="0" anchor="ctr"/>
          <a:lstStyle/>
          <a:p>
            <a:pPr indent="0" marL="0">
              <a:buNone/>
            </a:pPr>
            <a:r>
              <a:rPr lang="en-US" sz="2400" b="1" dirty="0">
                <a:solidFill>
                  <a:srgbClr val="16243A"/>
                </a:solidFill>
                <a:latin typeface="Cambria" pitchFamily="34" charset="0"/>
                <a:ea typeface="Cambria" pitchFamily="34" charset="-122"/>
                <a:cs typeface="Cambria" pitchFamily="34" charset="-120"/>
              </a:rPr>
              <a:t>718 MB</a:t>
            </a:r>
            <a:endParaRPr lang="en-US" sz="2400" dirty="0"/>
          </a:p>
        </p:txBody>
      </p:sp>
      <p:sp>
        <p:nvSpPr>
          <p:cNvPr id="12" name="Text 9"/>
          <p:cNvSpPr txBox="1"/>
          <p:nvPr/>
        </p:nvSpPr>
        <p:spPr>
          <a:xfrm>
            <a:off x="9144000" y="4517136"/>
            <a:ext cx="2011680" cy="420624"/>
          </a:xfrm>
          <a:prstGeom prst="rect">
            <a:avLst/>
          </a:prstGeom>
          <a:noFill/>
          <a:ln/>
        </p:spPr>
        <p:txBody>
          <a:bodyPr wrap="square" lIns="0" tIns="0" rIns="0" bIns="0" rtlCol="0" anchor="ctr"/>
          <a:lstStyle/>
          <a:p>
            <a:pPr indent="0" marL="0">
              <a:buNone/>
            </a:pPr>
            <a:r>
              <a:rPr lang="en-US" sz="1050" spc="80" kern="0" dirty="0">
                <a:solidFill>
                  <a:srgbClr val="6B7B8F"/>
                </a:solidFill>
                <a:latin typeface="Calibri" pitchFamily="34" charset="0"/>
                <a:ea typeface="Calibri" pitchFamily="34" charset="-122"/>
                <a:cs typeface="Calibri" pitchFamily="34" charset="-120"/>
              </a:rPr>
              <a:t>peak memory of 4 GB</a:t>
            </a:r>
            <a:endParaRPr lang="en-US" sz="1050" dirty="0"/>
          </a:p>
        </p:txBody>
      </p:sp>
      <p:sp>
        <p:nvSpPr>
          <p:cNvPr id="13" name="Text 10"/>
          <p:cNvSpPr txBox="1"/>
          <p:nvPr/>
        </p:nvSpPr>
        <p:spPr>
          <a:xfrm>
            <a:off x="7223760" y="4937760"/>
            <a:ext cx="3931920" cy="548640"/>
          </a:xfrm>
          <a:prstGeom prst="rect">
            <a:avLst/>
          </a:prstGeom>
          <a:noFill/>
          <a:ln/>
        </p:spPr>
        <p:txBody>
          <a:bodyPr wrap="square" lIns="0" tIns="0" rIns="0" bIns="0" rtlCol="0" anchor="ctr"/>
          <a:lstStyle/>
          <a:p>
            <a:pPr indent="0" marL="0">
              <a:lnSpc>
                <a:spcPts val="1500"/>
              </a:lnSpc>
              <a:buNone/>
            </a:pPr>
            <a:r>
              <a:rPr lang="en-US" sz="1100" dirty="0">
                <a:solidFill>
                  <a:srgbClr val="6B7B8F"/>
                </a:solidFill>
                <a:latin typeface="Calibri" pitchFamily="34" charset="0"/>
                <a:ea typeface="Calibri" pitchFamily="34" charset="-122"/>
                <a:cs typeface="Calibri" pitchFamily="34" charset="-120"/>
              </a:rPr>
              <a:t>Measured on entry-level hardware against live grid footage, which is the point: a district node does not need a datacentre card.</a:t>
            </a:r>
            <a:endParaRPr lang="en-US" sz="1100" dirty="0"/>
          </a:p>
        </p:txBody>
      </p:sp>
      <p:sp>
        <p:nvSpPr>
          <p:cNvPr id="14" name="Text 11"/>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WATCHLISTS</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Vehicles are only half the problem statement</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The brief names wanted persons and missing persons. A plate reader answers neither, so face recognition runs alongside it on the same frames.</a:t>
            </a:r>
            <a:endParaRPr lang="en-US" sz="1450" dirty="0"/>
          </a:p>
        </p:txBody>
      </p:sp>
      <p:sp>
        <p:nvSpPr>
          <p:cNvPr id="5" name="Shape 3"/>
          <p:cNvSpPr/>
          <p:nvPr/>
        </p:nvSpPr>
        <p:spPr>
          <a:xfrm>
            <a:off x="640080" y="2487168"/>
            <a:ext cx="5257800" cy="1371600"/>
          </a:xfrm>
          <a:prstGeom prst="roundRect">
            <a:avLst>
              <a:gd name="adj" fmla="val 3333"/>
            </a:avLst>
          </a:prstGeom>
          <a:solidFill>
            <a:srgbClr val="FBF4EE"/>
          </a:solidFill>
          <a:ln w="12700">
            <a:solidFill>
              <a:srgbClr val="FBF4EE"/>
            </a:solidFill>
            <a:prstDash val="solid"/>
          </a:ln>
        </p:spPr>
      </p:sp>
      <p:sp>
        <p:nvSpPr>
          <p:cNvPr id="6" name="Text 4"/>
          <p:cNvSpPr txBox="1"/>
          <p:nvPr/>
        </p:nvSpPr>
        <p:spPr>
          <a:xfrm>
            <a:off x="932688" y="2670048"/>
            <a:ext cx="4663440" cy="347472"/>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Vehicle watchlist</a:t>
            </a:r>
            <a:endParaRPr lang="en-US" sz="1550" dirty="0"/>
          </a:p>
        </p:txBody>
      </p:sp>
      <p:sp>
        <p:nvSpPr>
          <p:cNvPr id="7" name="Text 5"/>
          <p:cNvSpPr txBox="1"/>
          <p:nvPr/>
        </p:nvSpPr>
        <p:spPr>
          <a:xfrm>
            <a:off x="932688" y="3063240"/>
            <a:ext cx="4663440" cy="713232"/>
          </a:xfrm>
          <a:prstGeom prst="rect">
            <a:avLst/>
          </a:prstGeom>
          <a:noFill/>
          <a:ln/>
        </p:spPr>
        <p:txBody>
          <a:bodyPr wrap="square" lIns="0" tIns="0" rIns="0" bIns="0" rtlCol="0" anchor="ctr"/>
          <a:lstStyle/>
          <a:p>
            <a:pPr indent="0" marL="0">
              <a:lnSpc>
                <a:spcPts val="1600"/>
              </a:lnSpc>
              <a:buNone/>
            </a:pPr>
            <a:r>
              <a:rPr lang="en-US" sz="1200" dirty="0">
                <a:solidFill>
                  <a:srgbClr val="3C4A5C"/>
                </a:solidFill>
                <a:latin typeface="Calibri" pitchFamily="34" charset="0"/>
                <a:ea typeface="Calibri" pitchFamily="34" charset="-122"/>
                <a:cs typeface="Calibri" pitchFamily="34" charset="-120"/>
              </a:rPr>
              <a:t>Stolen, wanted, suspect or expired. Matching is deliberately fuzzy, so a plate read imperfectly still raises the alert.</a:t>
            </a:r>
            <a:endParaRPr lang="en-US" sz="1200" dirty="0"/>
          </a:p>
        </p:txBody>
      </p:sp>
      <p:sp>
        <p:nvSpPr>
          <p:cNvPr id="8" name="Shape 6"/>
          <p:cNvSpPr/>
          <p:nvPr/>
        </p:nvSpPr>
        <p:spPr>
          <a:xfrm>
            <a:off x="6263640" y="2487168"/>
            <a:ext cx="5257800" cy="1371600"/>
          </a:xfrm>
          <a:prstGeom prst="roundRect">
            <a:avLst>
              <a:gd name="adj" fmla="val 3333"/>
            </a:avLst>
          </a:prstGeom>
          <a:solidFill>
            <a:srgbClr val="FBF4EE"/>
          </a:solidFill>
          <a:ln w="12700">
            <a:solidFill>
              <a:srgbClr val="FBF4EE"/>
            </a:solidFill>
            <a:prstDash val="solid"/>
          </a:ln>
        </p:spPr>
      </p:sp>
      <p:sp>
        <p:nvSpPr>
          <p:cNvPr id="9" name="Text 7"/>
          <p:cNvSpPr txBox="1"/>
          <p:nvPr/>
        </p:nvSpPr>
        <p:spPr>
          <a:xfrm>
            <a:off x="6556248" y="2670048"/>
            <a:ext cx="4663440" cy="347472"/>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Person watchlist</a:t>
            </a:r>
            <a:endParaRPr lang="en-US" sz="1550" dirty="0"/>
          </a:p>
        </p:txBody>
      </p:sp>
      <p:sp>
        <p:nvSpPr>
          <p:cNvPr id="10" name="Text 8"/>
          <p:cNvSpPr txBox="1"/>
          <p:nvPr/>
        </p:nvSpPr>
        <p:spPr>
          <a:xfrm>
            <a:off x="6556248" y="3063240"/>
            <a:ext cx="4663440" cy="713232"/>
          </a:xfrm>
          <a:prstGeom prst="rect">
            <a:avLst/>
          </a:prstGeom>
          <a:noFill/>
          <a:ln/>
        </p:spPr>
        <p:txBody>
          <a:bodyPr wrap="square" lIns="0" tIns="0" rIns="0" bIns="0" rtlCol="0" anchor="ctr"/>
          <a:lstStyle/>
          <a:p>
            <a:pPr indent="0" marL="0">
              <a:lnSpc>
                <a:spcPts val="1600"/>
              </a:lnSpc>
              <a:buNone/>
            </a:pPr>
            <a:r>
              <a:rPr lang="en-US" sz="1200" dirty="0">
                <a:solidFill>
                  <a:srgbClr val="3C4A5C"/>
                </a:solidFill>
                <a:latin typeface="Calibri" pitchFamily="34" charset="0"/>
                <a:ea typeface="Calibri" pitchFamily="34" charset="-122"/>
                <a:cs typeface="Calibri" pitchFamily="34" charset="-120"/>
              </a:rPr>
              <a:t>A wanted or missing person is enrolled from a single photograph, and the whole grid arms itself against that face.</a:t>
            </a:r>
            <a:endParaRPr lang="en-US" sz="1200" dirty="0"/>
          </a:p>
        </p:txBody>
      </p:sp>
      <p:sp>
        <p:nvSpPr>
          <p:cNvPr id="11" name="Shape 9"/>
          <p:cNvSpPr/>
          <p:nvPr/>
        </p:nvSpPr>
        <p:spPr>
          <a:xfrm>
            <a:off x="640080" y="4059936"/>
            <a:ext cx="5257800" cy="1371600"/>
          </a:xfrm>
          <a:prstGeom prst="roundRect">
            <a:avLst>
              <a:gd name="adj" fmla="val 3333"/>
            </a:avLst>
          </a:prstGeom>
          <a:solidFill>
            <a:srgbClr val="F2F5F9"/>
          </a:solidFill>
          <a:ln w="12700">
            <a:solidFill>
              <a:srgbClr val="F2F5F9"/>
            </a:solidFill>
            <a:prstDash val="solid"/>
          </a:ln>
        </p:spPr>
      </p:sp>
      <p:sp>
        <p:nvSpPr>
          <p:cNvPr id="12" name="Text 10"/>
          <p:cNvSpPr txBox="1"/>
          <p:nvPr/>
        </p:nvSpPr>
        <p:spPr>
          <a:xfrm>
            <a:off x="932688" y="4242816"/>
            <a:ext cx="4663440" cy="347472"/>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Zero cost when idle</a:t>
            </a:r>
            <a:endParaRPr lang="en-US" sz="1550" dirty="0"/>
          </a:p>
        </p:txBody>
      </p:sp>
      <p:sp>
        <p:nvSpPr>
          <p:cNvPr id="13" name="Text 11"/>
          <p:cNvSpPr txBox="1"/>
          <p:nvPr/>
        </p:nvSpPr>
        <p:spPr>
          <a:xfrm>
            <a:off x="932688" y="4636008"/>
            <a:ext cx="4663440" cy="713232"/>
          </a:xfrm>
          <a:prstGeom prst="rect">
            <a:avLst/>
          </a:prstGeom>
          <a:noFill/>
          <a:ln/>
        </p:spPr>
        <p:txBody>
          <a:bodyPr wrap="square" lIns="0" tIns="0" rIns="0" bIns="0" rtlCol="0" anchor="ctr"/>
          <a:lstStyle/>
          <a:p>
            <a:pPr indent="0" marL="0">
              <a:lnSpc>
                <a:spcPts val="1600"/>
              </a:lnSpc>
              <a:buNone/>
            </a:pPr>
            <a:r>
              <a:rPr lang="en-US" sz="1200" dirty="0">
                <a:solidFill>
                  <a:srgbClr val="3C4A5C"/>
                </a:solidFill>
                <a:latin typeface="Calibri" pitchFamily="34" charset="0"/>
                <a:ea typeface="Calibri" pitchFamily="34" charset="-122"/>
                <a:cs typeface="Calibri" pitchFamily="34" charset="-120"/>
              </a:rPr>
              <a:t>The face pass only runs when somebody is actually enrolled, and is capped so that heavy matching cannot saturate the node.</a:t>
            </a:r>
            <a:endParaRPr lang="en-US" sz="1200" dirty="0"/>
          </a:p>
        </p:txBody>
      </p:sp>
      <p:sp>
        <p:nvSpPr>
          <p:cNvPr id="14" name="Shape 12"/>
          <p:cNvSpPr/>
          <p:nvPr/>
        </p:nvSpPr>
        <p:spPr>
          <a:xfrm>
            <a:off x="6263640" y="4059936"/>
            <a:ext cx="5257800" cy="1371600"/>
          </a:xfrm>
          <a:prstGeom prst="roundRect">
            <a:avLst>
              <a:gd name="adj" fmla="val 3333"/>
            </a:avLst>
          </a:prstGeom>
          <a:solidFill>
            <a:srgbClr val="F2F5F9"/>
          </a:solidFill>
          <a:ln w="12700">
            <a:solidFill>
              <a:srgbClr val="F2F5F9"/>
            </a:solidFill>
            <a:prstDash val="solid"/>
          </a:ln>
        </p:spPr>
      </p:sp>
      <p:sp>
        <p:nvSpPr>
          <p:cNvPr id="15" name="Text 13"/>
          <p:cNvSpPr txBox="1"/>
          <p:nvPr/>
        </p:nvSpPr>
        <p:spPr>
          <a:xfrm>
            <a:off x="6556248" y="4242816"/>
            <a:ext cx="4663440" cy="347472"/>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Live alerting</a:t>
            </a:r>
            <a:endParaRPr lang="en-US" sz="1550" dirty="0"/>
          </a:p>
        </p:txBody>
      </p:sp>
      <p:sp>
        <p:nvSpPr>
          <p:cNvPr id="16" name="Text 14"/>
          <p:cNvSpPr txBox="1"/>
          <p:nvPr/>
        </p:nvSpPr>
        <p:spPr>
          <a:xfrm>
            <a:off x="6556248" y="4636008"/>
            <a:ext cx="4663440" cy="713232"/>
          </a:xfrm>
          <a:prstGeom prst="rect">
            <a:avLst/>
          </a:prstGeom>
          <a:noFill/>
          <a:ln/>
        </p:spPr>
        <p:txBody>
          <a:bodyPr wrap="square" lIns="0" tIns="0" rIns="0" bIns="0" rtlCol="0" anchor="ctr"/>
          <a:lstStyle/>
          <a:p>
            <a:pPr indent="0" marL="0">
              <a:lnSpc>
                <a:spcPts val="1600"/>
              </a:lnSpc>
              <a:buNone/>
            </a:pPr>
            <a:r>
              <a:rPr lang="en-US" sz="1200" dirty="0">
                <a:solidFill>
                  <a:srgbClr val="3C4A5C"/>
                </a:solidFill>
                <a:latin typeface="Calibri" pitchFamily="34" charset="0"/>
                <a:ea typeface="Calibri" pitchFamily="34" charset="-122"/>
                <a:cs typeface="Calibri" pitchFamily="34" charset="-120"/>
              </a:rPr>
              <a:t>Matches broadcast to every open console within seconds, carrying the snapshot and the camera that produced them.</a:t>
            </a:r>
            <a:endParaRPr lang="en-US" sz="1200" dirty="0"/>
          </a:p>
        </p:txBody>
      </p:sp>
      <p:sp>
        <p:nvSpPr>
          <p:cNvPr id="17" name="Text 15"/>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THE TEST CASE</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Registration number in, movement history out</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One query returns everything the investigator needs, so nobody has to know which system holds which part of the answer.</a:t>
            </a:r>
            <a:endParaRPr lang="en-US" sz="1450" dirty="0"/>
          </a:p>
        </p:txBody>
      </p:sp>
      <p:sp>
        <p:nvSpPr>
          <p:cNvPr id="5" name="Shape 3"/>
          <p:cNvSpPr/>
          <p:nvPr/>
        </p:nvSpPr>
        <p:spPr>
          <a:xfrm>
            <a:off x="640080" y="2487168"/>
            <a:ext cx="5257800" cy="2971800"/>
          </a:xfrm>
          <a:prstGeom prst="roundRect">
            <a:avLst>
              <a:gd name="adj" fmla="val 1538"/>
            </a:avLst>
          </a:prstGeom>
          <a:solidFill>
            <a:srgbClr val="F2F5F9"/>
          </a:solidFill>
          <a:ln w="12700">
            <a:solidFill>
              <a:srgbClr val="F2F5F9"/>
            </a:solidFill>
            <a:prstDash val="solid"/>
          </a:ln>
        </p:spPr>
      </p:sp>
      <p:sp>
        <p:nvSpPr>
          <p:cNvPr id="6" name="Text 4"/>
          <p:cNvSpPr txBox="1"/>
          <p:nvPr/>
        </p:nvSpPr>
        <p:spPr>
          <a:xfrm>
            <a:off x="960120" y="2743200"/>
            <a:ext cx="4663440" cy="365760"/>
          </a:xfrm>
          <a:prstGeom prst="rect">
            <a:avLst/>
          </a:prstGeom>
          <a:noFill/>
          <a:ln/>
        </p:spPr>
        <p:txBody>
          <a:bodyPr wrap="square" lIns="0" tIns="0" rIns="0" bIns="0" rtlCol="0" anchor="ctr"/>
          <a:lstStyle/>
          <a:p>
            <a:pPr indent="0" marL="0">
              <a:buNone/>
            </a:pPr>
            <a:r>
              <a:rPr lang="en-US" sz="1200" b="1" spc="130" kern="0" dirty="0">
                <a:solidFill>
                  <a:srgbClr val="6B7B8F"/>
                </a:solidFill>
                <a:latin typeface="Calibri" pitchFamily="34" charset="0"/>
                <a:ea typeface="Calibri" pitchFamily="34" charset="-122"/>
                <a:cs typeface="Calibri" pitchFamily="34" charset="-120"/>
              </a:rPr>
              <a:t>What comes back</a:t>
            </a:r>
            <a:endParaRPr lang="en-US" sz="1200" dirty="0"/>
          </a:p>
        </p:txBody>
      </p:sp>
      <p:sp>
        <p:nvSpPr>
          <p:cNvPr id="7" name="Text 5"/>
          <p:cNvSpPr txBox="1"/>
          <p:nvPr/>
        </p:nvSpPr>
        <p:spPr>
          <a:xfrm>
            <a:off x="960120" y="3200400"/>
            <a:ext cx="4663440" cy="201168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3C4A5C"/>
                </a:solidFill>
                <a:latin typeface="Calibri" pitchFamily="34" charset="0"/>
                <a:ea typeface="Calibri" pitchFamily="34" charset="-122"/>
                <a:cs typeface="Calibri" pitchFamily="34" charset="-120"/>
              </a:rPr>
              <a:t>Timestamped, location-wise sighting chain</a:t>
            </a:r>
            <a:endParaRPr lang="en-US" sz="1300" dirty="0"/>
          </a:p>
          <a:p>
            <a:pPr marL="342900" indent="-342900">
              <a:spcAft>
                <a:spcPts val="1000"/>
              </a:spcAft>
              <a:buSzPct val="100000"/>
              <a:buChar char="•"/>
            </a:pPr>
            <a:r>
              <a:rPr lang="en-US" sz="1300" dirty="0">
                <a:solidFill>
                  <a:srgbClr val="3C4A5C"/>
                </a:solidFill>
                <a:latin typeface="Calibri" pitchFamily="34" charset="0"/>
                <a:ea typeface="Calibri" pitchFamily="34" charset="-122"/>
                <a:cs typeface="Calibri" pitchFamily="34" charset="-120"/>
              </a:rPr>
              <a:t>Reconstructed route drawn on the GIS map</a:t>
            </a:r>
            <a:endParaRPr lang="en-US" sz="1300" dirty="0"/>
          </a:p>
          <a:p>
            <a:pPr marL="342900" indent="-342900">
              <a:spcAft>
                <a:spcPts val="1000"/>
              </a:spcAft>
              <a:buSzPct val="100000"/>
              <a:buChar char="•"/>
            </a:pPr>
            <a:r>
              <a:rPr lang="en-US" sz="1300" dirty="0">
                <a:solidFill>
                  <a:srgbClr val="3C4A5C"/>
                </a:solidFill>
                <a:latin typeface="Calibri" pitchFamily="34" charset="0"/>
                <a:ea typeface="Calibri" pitchFamily="34" charset="-122"/>
                <a:cs typeface="Calibri" pitchFamily="34" charset="-120"/>
              </a:rPr>
              <a:t>Registered owner, make, model and fuel class</a:t>
            </a:r>
            <a:endParaRPr lang="en-US" sz="1300" dirty="0"/>
          </a:p>
          <a:p>
            <a:pPr marL="342900" indent="-342900">
              <a:spcAft>
                <a:spcPts val="1000"/>
              </a:spcAft>
              <a:buSzPct val="100000"/>
              <a:buChar char="•"/>
            </a:pPr>
            <a:r>
              <a:rPr lang="en-US" sz="1300" dirty="0">
                <a:solidFill>
                  <a:srgbClr val="3C4A5C"/>
                </a:solidFill>
                <a:latin typeface="Calibri" pitchFamily="34" charset="0"/>
                <a:ea typeface="Calibri" pitchFamily="34" charset="-122"/>
                <a:cs typeface="Calibri" pitchFamily="34" charset="-120"/>
              </a:rPr>
              <a:t>Watchlist status and any open alerts</a:t>
            </a:r>
            <a:endParaRPr lang="en-US" sz="1300" dirty="0"/>
          </a:p>
          <a:p>
            <a:pPr marL="342900" indent="-342900">
              <a:spcAft>
                <a:spcPts val="1000"/>
              </a:spcAft>
              <a:buSzPct val="100000"/>
              <a:buChar char="•"/>
            </a:pPr>
            <a:r>
              <a:rPr lang="en-US" sz="1300" dirty="0">
                <a:solidFill>
                  <a:srgbClr val="3C4A5C"/>
                </a:solidFill>
                <a:latin typeface="Calibri" pitchFamily="34" charset="0"/>
                <a:ea typeface="Calibri" pitchFamily="34" charset="-122"/>
                <a:cs typeface="Calibri" pitchFamily="34" charset="-120"/>
              </a:rPr>
              <a:t>Court-format CSV and PDF export</a:t>
            </a:r>
            <a:endParaRPr lang="en-US" sz="1300" dirty="0"/>
          </a:p>
        </p:txBody>
      </p:sp>
      <p:sp>
        <p:nvSpPr>
          <p:cNvPr id="8" name="Shape 6"/>
          <p:cNvSpPr/>
          <p:nvPr/>
        </p:nvSpPr>
        <p:spPr>
          <a:xfrm>
            <a:off x="6263640" y="2487168"/>
            <a:ext cx="5257800" cy="2971800"/>
          </a:xfrm>
          <a:prstGeom prst="roundRect">
            <a:avLst>
              <a:gd name="adj" fmla="val 1538"/>
            </a:avLst>
          </a:prstGeom>
          <a:solidFill>
            <a:srgbClr val="FBF4EE"/>
          </a:solidFill>
          <a:ln w="12700">
            <a:solidFill>
              <a:srgbClr val="FBF4EE"/>
            </a:solidFill>
            <a:prstDash val="solid"/>
          </a:ln>
        </p:spPr>
      </p:sp>
      <p:sp>
        <p:nvSpPr>
          <p:cNvPr id="9" name="Text 7"/>
          <p:cNvSpPr txBox="1"/>
          <p:nvPr/>
        </p:nvSpPr>
        <p:spPr>
          <a:xfrm>
            <a:off x="6583680" y="2743200"/>
            <a:ext cx="4663440" cy="365760"/>
          </a:xfrm>
          <a:prstGeom prst="rect">
            <a:avLst/>
          </a:prstGeom>
          <a:noFill/>
          <a:ln/>
        </p:spPr>
        <p:txBody>
          <a:bodyPr wrap="square" lIns="0" tIns="0" rIns="0" bIns="0" rtlCol="0" anchor="ctr"/>
          <a:lstStyle/>
          <a:p>
            <a:pPr indent="0" marL="0">
              <a:buNone/>
            </a:pPr>
            <a:r>
              <a:rPr lang="en-US" sz="1200" b="1" spc="130" kern="0" dirty="0">
                <a:solidFill>
                  <a:srgbClr val="C2551F"/>
                </a:solidFill>
                <a:latin typeface="Calibri" pitchFamily="34" charset="0"/>
                <a:ea typeface="Calibri" pitchFamily="34" charset="-122"/>
                <a:cs typeface="Calibri" pitchFamily="34" charset="-120"/>
              </a:rPr>
              <a:t>Spatio-temporal validation</a:t>
            </a:r>
            <a:endParaRPr lang="en-US" sz="1200" dirty="0"/>
          </a:p>
        </p:txBody>
      </p:sp>
      <p:sp>
        <p:nvSpPr>
          <p:cNvPr id="10" name="Text 8"/>
          <p:cNvSpPr txBox="1"/>
          <p:nvPr/>
        </p:nvSpPr>
        <p:spPr>
          <a:xfrm>
            <a:off x="6583680" y="3200400"/>
            <a:ext cx="4663440" cy="1371600"/>
          </a:xfrm>
          <a:prstGeom prst="rect">
            <a:avLst/>
          </a:prstGeom>
          <a:noFill/>
          <a:ln/>
        </p:spPr>
        <p:txBody>
          <a:bodyPr wrap="square" lIns="0" tIns="0" rIns="0" bIns="0" rtlCol="0" anchor="ctr"/>
          <a:lstStyle/>
          <a:p>
            <a:pPr indent="0" marL="0">
              <a:lnSpc>
                <a:spcPts val="1900"/>
              </a:lnSpc>
              <a:buNone/>
            </a:pPr>
            <a:r>
              <a:rPr lang="en-US" sz="1300" dirty="0">
                <a:solidFill>
                  <a:srgbClr val="3C4A5C"/>
                </a:solidFill>
                <a:latin typeface="Calibri" pitchFamily="34" charset="0"/>
                <a:ea typeface="Calibri" pitchFamily="34" charset="-122"/>
                <a:cs typeface="Calibri" pitchFamily="34" charset="-120"/>
              </a:rPr>
              <a:t>Consecutive sightings are checked against the distance between the two cameras and the time elapsed between them. A hop nobody could have physically driven is flagged inside the route rather than quietly presented as fact.</a:t>
            </a:r>
            <a:endParaRPr lang="en-US" sz="1300" dirty="0"/>
          </a:p>
        </p:txBody>
      </p:sp>
      <p:sp>
        <p:nvSpPr>
          <p:cNvPr id="11" name="Text 9"/>
          <p:cNvSpPr txBox="1"/>
          <p:nvPr/>
        </p:nvSpPr>
        <p:spPr>
          <a:xfrm>
            <a:off x="6583680" y="4617720"/>
            <a:ext cx="4663440" cy="731520"/>
          </a:xfrm>
          <a:prstGeom prst="rect">
            <a:avLst/>
          </a:prstGeom>
          <a:noFill/>
          <a:ln/>
        </p:spPr>
        <p:txBody>
          <a:bodyPr wrap="square" lIns="0" tIns="0" rIns="0" bIns="0" rtlCol="0" anchor="ctr"/>
          <a:lstStyle/>
          <a:p>
            <a:pPr indent="0" marL="0">
              <a:lnSpc>
                <a:spcPts val="1800"/>
              </a:lnSpc>
              <a:buNone/>
            </a:pPr>
            <a:r>
              <a:rPr lang="en-US" sz="1250" i="1" dirty="0">
                <a:solidFill>
                  <a:srgbClr val="0E7C6B"/>
                </a:solidFill>
                <a:latin typeface="Calibri" pitchFamily="34" charset="0"/>
                <a:ea typeface="Calibri" pitchFamily="34" charset="-122"/>
                <a:cs typeface="Calibri" pitchFamily="34" charset="-120"/>
              </a:rPr>
              <a:t>This is what separates a plate search from an evidence trail: the system states plainly when it does not believe itself.</a:t>
            </a:r>
            <a:endParaRPr lang="en-US" sz="1250" dirty="0"/>
          </a:p>
        </p:txBody>
      </p:sp>
      <p:sp>
        <p:nvSpPr>
          <p:cNvPr id="12" name="Text 10"/>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EVIDENCE</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Artifacts an investigating officer can file</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The export is built to be handed to a court, not screenshotted into a report.</a:t>
            </a:r>
            <a:endParaRPr lang="en-US" sz="1450" dirty="0"/>
          </a:p>
        </p:txBody>
      </p:sp>
      <p:sp>
        <p:nvSpPr>
          <p:cNvPr id="5" name="Shape 3"/>
          <p:cNvSpPr/>
          <p:nvPr/>
        </p:nvSpPr>
        <p:spPr>
          <a:xfrm>
            <a:off x="640080" y="2487168"/>
            <a:ext cx="5257800" cy="1371600"/>
          </a:xfrm>
          <a:prstGeom prst="roundRect">
            <a:avLst>
              <a:gd name="adj" fmla="val 3333"/>
            </a:avLst>
          </a:prstGeom>
          <a:solidFill>
            <a:srgbClr val="F2F5F9"/>
          </a:solidFill>
          <a:ln w="12700">
            <a:solidFill>
              <a:srgbClr val="F2F5F9"/>
            </a:solidFill>
            <a:prstDash val="solid"/>
          </a:ln>
        </p:spPr>
      </p:sp>
      <p:sp>
        <p:nvSpPr>
          <p:cNvPr id="6" name="Shape 4"/>
          <p:cNvSpPr/>
          <p:nvPr/>
        </p:nvSpPr>
        <p:spPr>
          <a:xfrm>
            <a:off x="932688" y="2743200"/>
            <a:ext cx="329184" cy="329184"/>
          </a:xfrm>
          <a:prstGeom prst="ellipse">
            <a:avLst/>
          </a:prstGeom>
          <a:solidFill>
            <a:srgbClr val="C2551F"/>
          </a:solidFill>
          <a:ln w="12700">
            <a:solidFill>
              <a:srgbClr val="C2551F"/>
            </a:solidFill>
            <a:prstDash val="solid"/>
          </a:ln>
        </p:spPr>
      </p:sp>
      <p:sp>
        <p:nvSpPr>
          <p:cNvPr id="7" name="Text 5"/>
          <p:cNvSpPr txBox="1"/>
          <p:nvPr/>
        </p:nvSpPr>
        <p:spPr>
          <a:xfrm>
            <a:off x="932688" y="27432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a:t>
            </a:r>
            <a:endParaRPr lang="en-US" sz="1250" dirty="0"/>
          </a:p>
        </p:txBody>
      </p:sp>
      <p:sp>
        <p:nvSpPr>
          <p:cNvPr id="8" name="Text 6"/>
          <p:cNvSpPr txBox="1"/>
          <p:nvPr/>
        </p:nvSpPr>
        <p:spPr>
          <a:xfrm>
            <a:off x="1417320" y="2688336"/>
            <a:ext cx="4206240" cy="347472"/>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Movement report, PDF</a:t>
            </a:r>
            <a:endParaRPr lang="en-US" sz="1550" dirty="0"/>
          </a:p>
        </p:txBody>
      </p:sp>
      <p:sp>
        <p:nvSpPr>
          <p:cNvPr id="9" name="Text 7"/>
          <p:cNvSpPr txBox="1"/>
          <p:nvPr/>
        </p:nvSpPr>
        <p:spPr>
          <a:xfrm>
            <a:off x="1417320" y="3072384"/>
            <a:ext cx="4206240" cy="694944"/>
          </a:xfrm>
          <a:prstGeom prst="rect">
            <a:avLst/>
          </a:prstGeom>
          <a:noFill/>
          <a:ln/>
        </p:spPr>
        <p:txBody>
          <a:bodyPr wrap="square" lIns="0" tIns="0" rIns="0" bIns="0" rtlCol="0" anchor="ctr"/>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Registration block, embedded snapshot thumbnails, the full chronological sighting log and officer signature blocks.</a:t>
            </a:r>
            <a:endParaRPr lang="en-US" sz="1150" dirty="0"/>
          </a:p>
        </p:txBody>
      </p:sp>
      <p:sp>
        <p:nvSpPr>
          <p:cNvPr id="10" name="Shape 8"/>
          <p:cNvSpPr/>
          <p:nvPr/>
        </p:nvSpPr>
        <p:spPr>
          <a:xfrm>
            <a:off x="6263640" y="2487168"/>
            <a:ext cx="5257800" cy="1371600"/>
          </a:xfrm>
          <a:prstGeom prst="roundRect">
            <a:avLst>
              <a:gd name="adj" fmla="val 3333"/>
            </a:avLst>
          </a:prstGeom>
          <a:solidFill>
            <a:srgbClr val="F2F5F9"/>
          </a:solidFill>
          <a:ln w="12700">
            <a:solidFill>
              <a:srgbClr val="F2F5F9"/>
            </a:solidFill>
            <a:prstDash val="solid"/>
          </a:ln>
        </p:spPr>
      </p:sp>
      <p:sp>
        <p:nvSpPr>
          <p:cNvPr id="11" name="Shape 9"/>
          <p:cNvSpPr/>
          <p:nvPr/>
        </p:nvSpPr>
        <p:spPr>
          <a:xfrm>
            <a:off x="6556248" y="2743200"/>
            <a:ext cx="329184" cy="329184"/>
          </a:xfrm>
          <a:prstGeom prst="ellipse">
            <a:avLst/>
          </a:prstGeom>
          <a:solidFill>
            <a:srgbClr val="C2551F"/>
          </a:solidFill>
          <a:ln w="12700">
            <a:solidFill>
              <a:srgbClr val="C2551F"/>
            </a:solidFill>
            <a:prstDash val="solid"/>
          </a:ln>
        </p:spPr>
      </p:sp>
      <p:sp>
        <p:nvSpPr>
          <p:cNvPr id="12" name="Text 10"/>
          <p:cNvSpPr txBox="1"/>
          <p:nvPr/>
        </p:nvSpPr>
        <p:spPr>
          <a:xfrm>
            <a:off x="6556248" y="274320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t>
            </a:r>
            <a:endParaRPr lang="en-US" sz="1250" dirty="0"/>
          </a:p>
        </p:txBody>
      </p:sp>
      <p:sp>
        <p:nvSpPr>
          <p:cNvPr id="13" name="Text 11"/>
          <p:cNvSpPr txBox="1"/>
          <p:nvPr/>
        </p:nvSpPr>
        <p:spPr>
          <a:xfrm>
            <a:off x="7040880" y="2688336"/>
            <a:ext cx="4206240" cy="347472"/>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Hashed snapshots</a:t>
            </a:r>
            <a:endParaRPr lang="en-US" sz="1550" dirty="0"/>
          </a:p>
        </p:txBody>
      </p:sp>
      <p:sp>
        <p:nvSpPr>
          <p:cNvPr id="14" name="Text 12"/>
          <p:cNvSpPr txBox="1"/>
          <p:nvPr/>
        </p:nvSpPr>
        <p:spPr>
          <a:xfrm>
            <a:off x="7040880" y="3072384"/>
            <a:ext cx="4206240" cy="694944"/>
          </a:xfrm>
          <a:prstGeom prst="rect">
            <a:avLst/>
          </a:prstGeom>
          <a:noFill/>
          <a:ln/>
        </p:spPr>
        <p:txBody>
          <a:bodyPr wrap="square" lIns="0" tIns="0" rIns="0" bIns="0" rtlCol="0" anchor="ctr"/>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A cryptographic digest is recorded against every captured image at the moment of capture, and printed beside each record.</a:t>
            </a:r>
            <a:endParaRPr lang="en-US" sz="1150" dirty="0"/>
          </a:p>
        </p:txBody>
      </p:sp>
      <p:sp>
        <p:nvSpPr>
          <p:cNvPr id="15" name="Shape 13"/>
          <p:cNvSpPr/>
          <p:nvPr/>
        </p:nvSpPr>
        <p:spPr>
          <a:xfrm>
            <a:off x="640080" y="4059936"/>
            <a:ext cx="5257800" cy="1371600"/>
          </a:xfrm>
          <a:prstGeom prst="roundRect">
            <a:avLst>
              <a:gd name="adj" fmla="val 3333"/>
            </a:avLst>
          </a:prstGeom>
          <a:solidFill>
            <a:srgbClr val="F2F5F9"/>
          </a:solidFill>
          <a:ln w="12700">
            <a:solidFill>
              <a:srgbClr val="F2F5F9"/>
            </a:solidFill>
            <a:prstDash val="solid"/>
          </a:ln>
        </p:spPr>
      </p:sp>
      <p:sp>
        <p:nvSpPr>
          <p:cNvPr id="16" name="Shape 14"/>
          <p:cNvSpPr/>
          <p:nvPr/>
        </p:nvSpPr>
        <p:spPr>
          <a:xfrm>
            <a:off x="932688" y="4315968"/>
            <a:ext cx="329184" cy="329184"/>
          </a:xfrm>
          <a:prstGeom prst="ellipse">
            <a:avLst/>
          </a:prstGeom>
          <a:solidFill>
            <a:srgbClr val="C2551F"/>
          </a:solidFill>
          <a:ln w="12700">
            <a:solidFill>
              <a:srgbClr val="C2551F"/>
            </a:solidFill>
            <a:prstDash val="solid"/>
          </a:ln>
        </p:spPr>
      </p:sp>
      <p:sp>
        <p:nvSpPr>
          <p:cNvPr id="17" name="Text 15"/>
          <p:cNvSpPr txBox="1"/>
          <p:nvPr/>
        </p:nvSpPr>
        <p:spPr>
          <a:xfrm>
            <a:off x="932688" y="431596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a:t>
            </a:r>
            <a:endParaRPr lang="en-US" sz="1250" dirty="0"/>
          </a:p>
        </p:txBody>
      </p:sp>
      <p:sp>
        <p:nvSpPr>
          <p:cNvPr id="18" name="Text 16"/>
          <p:cNvSpPr txBox="1"/>
          <p:nvPr/>
        </p:nvSpPr>
        <p:spPr>
          <a:xfrm>
            <a:off x="1417320" y="4261104"/>
            <a:ext cx="4206240" cy="347472"/>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Chain of custody</a:t>
            </a:r>
            <a:endParaRPr lang="en-US" sz="1550" dirty="0"/>
          </a:p>
        </p:txBody>
      </p:sp>
      <p:sp>
        <p:nvSpPr>
          <p:cNvPr id="19" name="Text 17"/>
          <p:cNvSpPr txBox="1"/>
          <p:nvPr/>
        </p:nvSpPr>
        <p:spPr>
          <a:xfrm>
            <a:off x="1417320" y="4645152"/>
            <a:ext cx="4206240" cy="694944"/>
          </a:xfrm>
          <a:prstGeom prst="rect">
            <a:avLst/>
          </a:prstGeom>
          <a:noFill/>
          <a:ln/>
        </p:spPr>
        <p:txBody>
          <a:bodyPr wrap="square" lIns="0" tIns="0" rIns="0" bIns="0" rtlCol="0" anchor="ctr"/>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A written statement of how the records were produced, with an explicit note that nothing was reordered, edited or filtered.</a:t>
            </a:r>
            <a:endParaRPr lang="en-US" sz="1150" dirty="0"/>
          </a:p>
        </p:txBody>
      </p:sp>
      <p:sp>
        <p:nvSpPr>
          <p:cNvPr id="20" name="Shape 18"/>
          <p:cNvSpPr/>
          <p:nvPr/>
        </p:nvSpPr>
        <p:spPr>
          <a:xfrm>
            <a:off x="6263640" y="4059936"/>
            <a:ext cx="5257800" cy="1371600"/>
          </a:xfrm>
          <a:prstGeom prst="roundRect">
            <a:avLst>
              <a:gd name="adj" fmla="val 3333"/>
            </a:avLst>
          </a:prstGeom>
          <a:solidFill>
            <a:srgbClr val="F2F5F9"/>
          </a:solidFill>
          <a:ln w="12700">
            <a:solidFill>
              <a:srgbClr val="F2F5F9"/>
            </a:solidFill>
            <a:prstDash val="solid"/>
          </a:ln>
        </p:spPr>
      </p:sp>
      <p:sp>
        <p:nvSpPr>
          <p:cNvPr id="21" name="Shape 19"/>
          <p:cNvSpPr/>
          <p:nvPr/>
        </p:nvSpPr>
        <p:spPr>
          <a:xfrm>
            <a:off x="6556248" y="4315968"/>
            <a:ext cx="329184" cy="329184"/>
          </a:xfrm>
          <a:prstGeom prst="ellipse">
            <a:avLst/>
          </a:prstGeom>
          <a:solidFill>
            <a:srgbClr val="C2551F"/>
          </a:solidFill>
          <a:ln w="12700">
            <a:solidFill>
              <a:srgbClr val="C2551F"/>
            </a:solidFill>
            <a:prstDash val="solid"/>
          </a:ln>
        </p:spPr>
      </p:sp>
      <p:sp>
        <p:nvSpPr>
          <p:cNvPr id="22" name="Text 20"/>
          <p:cNvSpPr txBox="1"/>
          <p:nvPr/>
        </p:nvSpPr>
        <p:spPr>
          <a:xfrm>
            <a:off x="6556248" y="4315968"/>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a:t>
            </a:r>
            <a:endParaRPr lang="en-US" sz="1250" dirty="0"/>
          </a:p>
        </p:txBody>
      </p:sp>
      <p:sp>
        <p:nvSpPr>
          <p:cNvPr id="23" name="Text 21"/>
          <p:cNvSpPr txBox="1"/>
          <p:nvPr/>
        </p:nvSpPr>
        <p:spPr>
          <a:xfrm>
            <a:off x="7040880" y="4261104"/>
            <a:ext cx="4206240" cy="347472"/>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Reproducible output</a:t>
            </a:r>
            <a:endParaRPr lang="en-US" sz="1550" dirty="0"/>
          </a:p>
        </p:txBody>
      </p:sp>
      <p:sp>
        <p:nvSpPr>
          <p:cNvPr id="24" name="Text 22"/>
          <p:cNvSpPr txBox="1"/>
          <p:nvPr/>
        </p:nvSpPr>
        <p:spPr>
          <a:xfrm>
            <a:off x="7040880" y="4645152"/>
            <a:ext cx="4206240" cy="694944"/>
          </a:xfrm>
          <a:prstGeom prst="rect">
            <a:avLst/>
          </a:prstGeom>
          <a:noFill/>
          <a:ln/>
        </p:spPr>
        <p:txBody>
          <a:bodyPr wrap="square" lIns="0" tIns="0" rIns="0" bIns="0" rtlCol="0" anchor="ctr"/>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The same document regenerates identically from the same database state, so two officers produce the same exhibit.</a:t>
            </a:r>
            <a:endParaRPr lang="en-US" sz="1150" dirty="0"/>
          </a:p>
        </p:txBody>
      </p:sp>
      <p:sp>
        <p:nvSpPr>
          <p:cNvPr id="25" name="Text 23"/>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GOVERNMENT SYSTEMS</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One subject, every authority's view</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A query fans out across every connector with a view of the subject, so the officer receives one answer per authority instead of having to know which database holds it.</a:t>
            </a:r>
            <a:endParaRPr lang="en-US" sz="1450" dirty="0"/>
          </a:p>
        </p:txBody>
      </p:sp>
      <p:sp>
        <p:nvSpPr>
          <p:cNvPr id="5" name="Shape 3"/>
          <p:cNvSpPr/>
          <p:nvPr/>
        </p:nvSpPr>
        <p:spPr>
          <a:xfrm>
            <a:off x="640080" y="2560320"/>
            <a:ext cx="2624328" cy="1874520"/>
          </a:xfrm>
          <a:prstGeom prst="roundRect">
            <a:avLst>
              <a:gd name="adj" fmla="val 2439"/>
            </a:avLst>
          </a:prstGeom>
          <a:solidFill>
            <a:srgbClr val="FBF4EE"/>
          </a:solidFill>
          <a:ln w="12700">
            <a:solidFill>
              <a:srgbClr val="FBF4EE"/>
            </a:solidFill>
            <a:prstDash val="solid"/>
          </a:ln>
        </p:spPr>
      </p:sp>
      <p:sp>
        <p:nvSpPr>
          <p:cNvPr id="6" name="Text 4"/>
          <p:cNvSpPr txBox="1"/>
          <p:nvPr/>
        </p:nvSpPr>
        <p:spPr>
          <a:xfrm>
            <a:off x="896112" y="2816352"/>
            <a:ext cx="2112264" cy="457200"/>
          </a:xfrm>
          <a:prstGeom prst="rect">
            <a:avLst/>
          </a:prstGeom>
          <a:noFill/>
          <a:ln/>
        </p:spPr>
        <p:txBody>
          <a:bodyPr wrap="square" lIns="0" tIns="0" rIns="0" bIns="0" rtlCol="0" anchor="ctr"/>
          <a:lstStyle/>
          <a:p>
            <a:pPr indent="0" marL="0">
              <a:buNone/>
            </a:pPr>
            <a:r>
              <a:rPr lang="en-US" sz="1900" b="1" dirty="0">
                <a:solidFill>
                  <a:srgbClr val="C2551F"/>
                </a:solidFill>
                <a:latin typeface="Cambria" pitchFamily="34" charset="0"/>
                <a:ea typeface="Cambria" pitchFamily="34" charset="-122"/>
                <a:cs typeface="Cambria" pitchFamily="34" charset="-120"/>
              </a:rPr>
              <a:t>VAHAN</a:t>
            </a:r>
            <a:endParaRPr lang="en-US" sz="1900" dirty="0"/>
          </a:p>
        </p:txBody>
      </p:sp>
      <p:sp>
        <p:nvSpPr>
          <p:cNvPr id="7" name="Text 5"/>
          <p:cNvSpPr txBox="1"/>
          <p:nvPr/>
        </p:nvSpPr>
        <p:spPr>
          <a:xfrm>
            <a:off x="896112" y="3346704"/>
            <a:ext cx="2112264" cy="868680"/>
          </a:xfrm>
          <a:prstGeom prst="rect">
            <a:avLst/>
          </a:prstGeom>
          <a:noFill/>
          <a:ln/>
        </p:spPr>
        <p:txBody>
          <a:bodyPr wrap="square" lIns="0" tIns="0" rIns="0" bIns="0" rtlCol="0" anchor="ctr"/>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Vehicle registration: owner, make, model and fuel class</a:t>
            </a:r>
            <a:endParaRPr lang="en-US" sz="1150" dirty="0"/>
          </a:p>
        </p:txBody>
      </p:sp>
      <p:sp>
        <p:nvSpPr>
          <p:cNvPr id="8" name="Shape 6"/>
          <p:cNvSpPr/>
          <p:nvPr/>
        </p:nvSpPr>
        <p:spPr>
          <a:xfrm>
            <a:off x="3547872" y="2560320"/>
            <a:ext cx="2624328" cy="1874520"/>
          </a:xfrm>
          <a:prstGeom prst="roundRect">
            <a:avLst>
              <a:gd name="adj" fmla="val 2439"/>
            </a:avLst>
          </a:prstGeom>
          <a:solidFill>
            <a:srgbClr val="F2F5F9"/>
          </a:solidFill>
          <a:ln w="12700">
            <a:solidFill>
              <a:srgbClr val="F2F5F9"/>
            </a:solidFill>
            <a:prstDash val="solid"/>
          </a:ln>
        </p:spPr>
      </p:sp>
      <p:sp>
        <p:nvSpPr>
          <p:cNvPr id="9" name="Text 7"/>
          <p:cNvSpPr txBox="1"/>
          <p:nvPr/>
        </p:nvSpPr>
        <p:spPr>
          <a:xfrm>
            <a:off x="3803904" y="2816352"/>
            <a:ext cx="2112264" cy="457200"/>
          </a:xfrm>
          <a:prstGeom prst="rect">
            <a:avLst/>
          </a:prstGeom>
          <a:noFill/>
          <a:ln/>
        </p:spPr>
        <p:txBody>
          <a:bodyPr wrap="square" lIns="0" tIns="0" rIns="0" bIns="0" rtlCol="0" anchor="ctr"/>
          <a:lstStyle/>
          <a:p>
            <a:pPr indent="0" marL="0">
              <a:buNone/>
            </a:pPr>
            <a:r>
              <a:rPr lang="en-US" sz="1900" b="1" dirty="0">
                <a:solidFill>
                  <a:srgbClr val="16243A"/>
                </a:solidFill>
                <a:latin typeface="Cambria" pitchFamily="34" charset="0"/>
                <a:ea typeface="Cambria" pitchFamily="34" charset="-122"/>
                <a:cs typeface="Cambria" pitchFamily="34" charset="-120"/>
              </a:rPr>
              <a:t>eGujCop</a:t>
            </a:r>
            <a:endParaRPr lang="en-US" sz="1900" dirty="0"/>
          </a:p>
        </p:txBody>
      </p:sp>
      <p:sp>
        <p:nvSpPr>
          <p:cNvPr id="10" name="Text 8"/>
          <p:cNvSpPr txBox="1"/>
          <p:nvPr/>
        </p:nvSpPr>
        <p:spPr>
          <a:xfrm>
            <a:off x="3803904" y="3346704"/>
            <a:ext cx="2112264" cy="868680"/>
          </a:xfrm>
          <a:prstGeom prst="rect">
            <a:avLst/>
          </a:prstGeom>
          <a:noFill/>
          <a:ln/>
        </p:spPr>
        <p:txBody>
          <a:bodyPr wrap="square" lIns="0" tIns="0" rIns="0" bIns="0" rtlCol="0" anchor="ctr"/>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State police records, including stolen-vehicle reports</a:t>
            </a:r>
            <a:endParaRPr lang="en-US" sz="1150" dirty="0"/>
          </a:p>
        </p:txBody>
      </p:sp>
      <p:sp>
        <p:nvSpPr>
          <p:cNvPr id="11" name="Shape 9"/>
          <p:cNvSpPr/>
          <p:nvPr/>
        </p:nvSpPr>
        <p:spPr>
          <a:xfrm>
            <a:off x="6455664" y="2560320"/>
            <a:ext cx="2624328" cy="1874520"/>
          </a:xfrm>
          <a:prstGeom prst="roundRect">
            <a:avLst>
              <a:gd name="adj" fmla="val 2439"/>
            </a:avLst>
          </a:prstGeom>
          <a:solidFill>
            <a:srgbClr val="F2F5F9"/>
          </a:solidFill>
          <a:ln w="12700">
            <a:solidFill>
              <a:srgbClr val="F2F5F9"/>
            </a:solidFill>
            <a:prstDash val="solid"/>
          </a:ln>
        </p:spPr>
      </p:sp>
      <p:sp>
        <p:nvSpPr>
          <p:cNvPr id="12" name="Text 10"/>
          <p:cNvSpPr txBox="1"/>
          <p:nvPr/>
        </p:nvSpPr>
        <p:spPr>
          <a:xfrm>
            <a:off x="6711696" y="2816352"/>
            <a:ext cx="2112264" cy="457200"/>
          </a:xfrm>
          <a:prstGeom prst="rect">
            <a:avLst/>
          </a:prstGeom>
          <a:noFill/>
          <a:ln/>
        </p:spPr>
        <p:txBody>
          <a:bodyPr wrap="square" lIns="0" tIns="0" rIns="0" bIns="0" rtlCol="0" anchor="ctr"/>
          <a:lstStyle/>
          <a:p>
            <a:pPr indent="0" marL="0">
              <a:buNone/>
            </a:pPr>
            <a:r>
              <a:rPr lang="en-US" sz="1900" b="1" dirty="0">
                <a:solidFill>
                  <a:srgbClr val="16243A"/>
                </a:solidFill>
                <a:latin typeface="Cambria" pitchFamily="34" charset="0"/>
                <a:ea typeface="Cambria" pitchFamily="34" charset="-122"/>
                <a:cs typeface="Cambria" pitchFamily="34" charset="-120"/>
              </a:rPr>
              <a:t>CCTNS</a:t>
            </a:r>
            <a:endParaRPr lang="en-US" sz="1900" dirty="0"/>
          </a:p>
        </p:txBody>
      </p:sp>
      <p:sp>
        <p:nvSpPr>
          <p:cNvPr id="13" name="Text 11"/>
          <p:cNvSpPr txBox="1"/>
          <p:nvPr/>
        </p:nvSpPr>
        <p:spPr>
          <a:xfrm>
            <a:off x="6711696" y="3346704"/>
            <a:ext cx="2112264" cy="868680"/>
          </a:xfrm>
          <a:prstGeom prst="rect">
            <a:avLst/>
          </a:prstGeom>
          <a:noFill/>
          <a:ln/>
        </p:spPr>
        <p:txBody>
          <a:bodyPr wrap="square" lIns="0" tIns="0" rIns="0" bIns="0" rtlCol="0" anchor="ctr"/>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Crime and criminal tracking network records</a:t>
            </a:r>
            <a:endParaRPr lang="en-US" sz="1150" dirty="0"/>
          </a:p>
        </p:txBody>
      </p:sp>
      <p:sp>
        <p:nvSpPr>
          <p:cNvPr id="14" name="Shape 12"/>
          <p:cNvSpPr/>
          <p:nvPr/>
        </p:nvSpPr>
        <p:spPr>
          <a:xfrm>
            <a:off x="9363456" y="2560320"/>
            <a:ext cx="2624328" cy="1874520"/>
          </a:xfrm>
          <a:prstGeom prst="roundRect">
            <a:avLst>
              <a:gd name="adj" fmla="val 2439"/>
            </a:avLst>
          </a:prstGeom>
          <a:solidFill>
            <a:srgbClr val="F2F5F9"/>
          </a:solidFill>
          <a:ln w="12700">
            <a:solidFill>
              <a:srgbClr val="F2F5F9"/>
            </a:solidFill>
            <a:prstDash val="solid"/>
          </a:ln>
        </p:spPr>
      </p:sp>
      <p:sp>
        <p:nvSpPr>
          <p:cNvPr id="15" name="Text 13"/>
          <p:cNvSpPr txBox="1"/>
          <p:nvPr/>
        </p:nvSpPr>
        <p:spPr>
          <a:xfrm>
            <a:off x="9619488" y="2816352"/>
            <a:ext cx="2112264" cy="457200"/>
          </a:xfrm>
          <a:prstGeom prst="rect">
            <a:avLst/>
          </a:prstGeom>
          <a:noFill/>
          <a:ln/>
        </p:spPr>
        <p:txBody>
          <a:bodyPr wrap="square" lIns="0" tIns="0" rIns="0" bIns="0" rtlCol="0" anchor="ctr"/>
          <a:lstStyle/>
          <a:p>
            <a:pPr indent="0" marL="0">
              <a:buNone/>
            </a:pPr>
            <a:r>
              <a:rPr lang="en-US" sz="1900" b="1" dirty="0">
                <a:solidFill>
                  <a:srgbClr val="16243A"/>
                </a:solidFill>
                <a:latin typeface="Cambria" pitchFamily="34" charset="0"/>
                <a:ea typeface="Cambria" pitchFamily="34" charset="-122"/>
                <a:cs typeface="Cambria" pitchFamily="34" charset="-120"/>
              </a:rPr>
              <a:t>AFIS / NAFIS</a:t>
            </a:r>
            <a:endParaRPr lang="en-US" sz="1900" dirty="0"/>
          </a:p>
        </p:txBody>
      </p:sp>
      <p:sp>
        <p:nvSpPr>
          <p:cNvPr id="16" name="Text 14"/>
          <p:cNvSpPr txBox="1"/>
          <p:nvPr/>
        </p:nvSpPr>
        <p:spPr>
          <a:xfrm>
            <a:off x="9619488" y="3346704"/>
            <a:ext cx="2112264" cy="868680"/>
          </a:xfrm>
          <a:prstGeom prst="rect">
            <a:avLst/>
          </a:prstGeom>
          <a:noFill/>
          <a:ln/>
        </p:spPr>
        <p:txBody>
          <a:bodyPr wrap="square" lIns="0" tIns="0" rIns="0" bIns="0" rtlCol="0" anchor="ctr"/>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Biometric identification for person subjects</a:t>
            </a:r>
            <a:endParaRPr lang="en-US" sz="1150" dirty="0"/>
          </a:p>
        </p:txBody>
      </p:sp>
      <p:sp>
        <p:nvSpPr>
          <p:cNvPr id="17" name="Text 15"/>
          <p:cNvSpPr txBox="1"/>
          <p:nvPr/>
        </p:nvSpPr>
        <p:spPr>
          <a:xfrm>
            <a:off x="640080" y="4800600"/>
            <a:ext cx="10881360" cy="640080"/>
          </a:xfrm>
          <a:prstGeom prst="rect">
            <a:avLst/>
          </a:prstGeom>
          <a:noFill/>
          <a:ln/>
        </p:spPr>
        <p:txBody>
          <a:bodyPr wrap="square" lIns="0" tIns="0" rIns="0" bIns="0" rtlCol="0" anchor="ctr"/>
          <a:lstStyle/>
          <a:p>
            <a:pPr indent="0" marL="0">
              <a:lnSpc>
                <a:spcPts val="2000"/>
              </a:lnSpc>
              <a:buNone/>
            </a:pPr>
            <a:r>
              <a:rPr lang="en-US" sz="1350" i="1" dirty="0">
                <a:solidFill>
                  <a:srgbClr val="6B7B8F"/>
                </a:solidFill>
                <a:latin typeface="Calibri" pitchFamily="34" charset="0"/>
                <a:ea typeface="Calibri" pitchFamily="34" charset="-122"/>
                <a:cs typeface="Calibri" pitchFamily="34" charset="-120"/>
              </a:rPr>
              <a:t>One authority being unavailable must not lose the answers from the others. Each connector either answers or reports itself unreachable, and the investigator can see which did which.</a:t>
            </a:r>
            <a:endParaRPr lang="en-US" sz="1350" dirty="0"/>
          </a:p>
        </p:txBody>
      </p:sp>
      <p:sp>
        <p:nvSpPr>
          <p:cNvPr id="18" name="Text 16"/>
          <p:cNvSpPr txBox="1"/>
          <p:nvPr/>
        </p:nvSpPr>
        <p:spPr>
          <a:xfrm>
            <a:off x="640080" y="6291072"/>
            <a:ext cx="9601200" cy="274320"/>
          </a:xfrm>
          <a:prstGeom prst="rect">
            <a:avLst/>
          </a:prstGeom>
          <a:noFill/>
          <a:ln/>
        </p:spPr>
        <p:txBody>
          <a:bodyPr wrap="square" lIns="0" tIns="0" rIns="0" bIns="0" rtlCol="0" anchor="ctr"/>
          <a:lstStyle/>
          <a:p>
            <a:pPr indent="0" marL="0">
              <a:buNone/>
            </a:pPr>
            <a:r>
              <a:rPr lang="en-US" sz="950" dirty="0">
                <a:solidFill>
                  <a:srgbClr val="9AA8B8"/>
                </a:solidFill>
                <a:latin typeface="Calibri" pitchFamily="34" charset="0"/>
                <a:ea typeface="Calibri" pitchFamily="34" charset="-122"/>
                <a:cs typeface="Calibri" pitchFamily="34" charset="-120"/>
              </a:rPr>
              <a:t>Connectors run against documented record shapes; live endpoints are supplied at deployment.</a:t>
            </a:r>
            <a:endParaRPr lang="en-US" sz="950" dirty="0"/>
          </a:p>
        </p:txBody>
      </p:sp>
      <p:sp>
        <p:nvSpPr>
          <p:cNvPr id="19" name="Text 17"/>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BF4EE"/>
        </a:solidFill>
      </p:bgPr>
    </p:bg>
    <p:spTree>
      <p:nvGrpSpPr>
        <p:cNvPr id="1" name=""/>
        <p:cNvGrpSpPr/>
        <p:nvPr/>
      </p:nvGrpSpPr>
      <p:grpSpPr>
        <a:xfrm>
          <a:off x="0" y="0"/>
          <a:ext cx="0" cy="0"/>
          <a:chOff x="0" y="0"/>
          <a:chExt cx="0" cy="0"/>
        </a:xfrm>
      </p:grpSpPr>
      <p:sp>
        <p:nvSpPr>
          <p:cNvPr id="2" name="Text 0"/>
          <p:cNvSpPr txBox="1"/>
          <p:nvPr/>
        </p:nvSpPr>
        <p:spPr>
          <a:xfrm>
            <a:off x="822960" y="2286000"/>
            <a:ext cx="1828800" cy="1463040"/>
          </a:xfrm>
          <a:prstGeom prst="rect">
            <a:avLst/>
          </a:prstGeom>
          <a:noFill/>
          <a:ln/>
        </p:spPr>
        <p:txBody>
          <a:bodyPr wrap="square" lIns="0" tIns="0" rIns="0" bIns="0" rtlCol="0" anchor="ctr"/>
          <a:lstStyle/>
          <a:p>
            <a:pPr indent="0" marL="0">
              <a:buNone/>
            </a:pPr>
            <a:r>
              <a:rPr lang="en-US" sz="9600" b="1" dirty="0">
                <a:solidFill>
                  <a:srgbClr val="C2551F"/>
                </a:solidFill>
                <a:latin typeface="Cambria" pitchFamily="34" charset="0"/>
                <a:ea typeface="Cambria" pitchFamily="34" charset="-122"/>
                <a:cs typeface="Cambria" pitchFamily="34" charset="-120"/>
              </a:rPr>
              <a:t>05</a:t>
            </a:r>
            <a:endParaRPr lang="en-US" sz="9600" dirty="0"/>
          </a:p>
        </p:txBody>
      </p:sp>
      <p:sp>
        <p:nvSpPr>
          <p:cNvPr id="3" name="Text 1"/>
          <p:cNvSpPr txBox="1"/>
          <p:nvPr/>
        </p:nvSpPr>
        <p:spPr>
          <a:xfrm>
            <a:off x="2743200" y="2487168"/>
            <a:ext cx="8503920" cy="777240"/>
          </a:xfrm>
          <a:prstGeom prst="rect">
            <a:avLst/>
          </a:prstGeom>
          <a:noFill/>
          <a:ln/>
        </p:spPr>
        <p:txBody>
          <a:bodyPr wrap="square" lIns="0" tIns="0" rIns="0" bIns="0" rtlCol="0" anchor="ctr"/>
          <a:lstStyle/>
          <a:p>
            <a:pPr indent="0" marL="0">
              <a:buNone/>
            </a:pPr>
            <a:r>
              <a:rPr lang="en-US" sz="4000" b="1" dirty="0">
                <a:solidFill>
                  <a:srgbClr val="16243A"/>
                </a:solidFill>
                <a:latin typeface="Cambria" pitchFamily="34" charset="0"/>
                <a:ea typeface="Cambria" pitchFamily="34" charset="-122"/>
                <a:cs typeface="Cambria" pitchFamily="34" charset="-120"/>
              </a:rPr>
              <a:t>Trust</a:t>
            </a:r>
            <a:endParaRPr lang="en-US" sz="4000" dirty="0"/>
          </a:p>
        </p:txBody>
      </p:sp>
      <p:sp>
        <p:nvSpPr>
          <p:cNvPr id="4" name="Text 2"/>
          <p:cNvSpPr txBox="1"/>
          <p:nvPr/>
        </p:nvSpPr>
        <p:spPr>
          <a:xfrm>
            <a:off x="2788920" y="3346704"/>
            <a:ext cx="7863840" cy="731520"/>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A surveillance system is procured on its controls, not its features.</a:t>
            </a:r>
            <a:endParaRPr lang="en-US" sz="1450" dirty="0"/>
          </a:p>
        </p:txBody>
      </p:sp>
      <p:sp>
        <p:nvSpPr>
          <p:cNvPr id="5" name="Text 3"/>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ACCOUNTABILITY</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Who did what, under what authority</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Capability is the easy half. What a department is buying is the ability to answer that question afterwards, and to prove the answer.</a:t>
            </a:r>
            <a:endParaRPr lang="en-US" sz="1450" dirty="0"/>
          </a:p>
        </p:txBody>
      </p:sp>
      <p:sp>
        <p:nvSpPr>
          <p:cNvPr id="5" name="Text 3"/>
          <p:cNvSpPr txBox="1"/>
          <p:nvPr/>
        </p:nvSpPr>
        <p:spPr>
          <a:xfrm>
            <a:off x="640080" y="2395728"/>
            <a:ext cx="3383280" cy="841248"/>
          </a:xfrm>
          <a:prstGeom prst="rect">
            <a:avLst/>
          </a:prstGeom>
          <a:noFill/>
          <a:ln/>
        </p:spPr>
        <p:txBody>
          <a:bodyPr wrap="square" lIns="0" tIns="0" rIns="0" bIns="0" rtlCol="0" anchor="t"/>
          <a:lstStyle/>
          <a:p>
            <a:pPr indent="0" marL="0">
              <a:buNone/>
            </a:pPr>
            <a:r>
              <a:rPr lang="en-US" sz="1450" b="1" dirty="0">
                <a:solidFill>
                  <a:srgbClr val="C2551F"/>
                </a:solidFill>
                <a:latin typeface="Cambria" pitchFamily="34" charset="0"/>
                <a:ea typeface="Cambria" pitchFamily="34" charset="-122"/>
                <a:cs typeface="Cambria" pitchFamily="34" charset="-120"/>
              </a:rPr>
              <a:t>Three roles, one gate</a:t>
            </a:r>
            <a:endParaRPr lang="en-US" sz="1450" dirty="0"/>
          </a:p>
        </p:txBody>
      </p:sp>
      <p:sp>
        <p:nvSpPr>
          <p:cNvPr id="6" name="Text 4"/>
          <p:cNvSpPr txBox="1"/>
          <p:nvPr/>
        </p:nvSpPr>
        <p:spPr>
          <a:xfrm>
            <a:off x="4297680" y="2395728"/>
            <a:ext cx="7223760" cy="841248"/>
          </a:xfrm>
          <a:prstGeom prst="rect">
            <a:avLst/>
          </a:prstGeom>
          <a:noFill/>
          <a:ln/>
        </p:spPr>
        <p:txBody>
          <a:bodyPr wrap="square" lIns="0" tIns="0" rIns="0" bIns="0" rtlCol="0" anchor="t"/>
          <a:lstStyle/>
          <a:p>
            <a:pPr indent="0" marL="0">
              <a:lnSpc>
                <a:spcPts val="1700"/>
              </a:lnSpc>
              <a:buNone/>
            </a:pPr>
            <a:r>
              <a:rPr lang="en-US" sz="1250" dirty="0">
                <a:solidFill>
                  <a:srgbClr val="3C4A5C"/>
                </a:solidFill>
                <a:latin typeface="Calibri" pitchFamily="34" charset="0"/>
                <a:ea typeface="Calibri" pitchFamily="34" charset="-122"/>
                <a:cs typeface="Calibri" pitchFamily="34" charset="-120"/>
              </a:rPr>
              <a:t>Viewer, operator and administrator. Enforcement lives in a single checkpoint every request passes, so a new endpoint is closed by default rather than accidentally open.</a:t>
            </a:r>
            <a:endParaRPr lang="en-US" sz="1250" dirty="0"/>
          </a:p>
        </p:txBody>
      </p:sp>
      <p:sp>
        <p:nvSpPr>
          <p:cNvPr id="7" name="Shape 5"/>
          <p:cNvSpPr/>
          <p:nvPr/>
        </p:nvSpPr>
        <p:spPr>
          <a:xfrm>
            <a:off x="640080" y="3255264"/>
            <a:ext cx="10881360" cy="10973"/>
          </a:xfrm>
          <a:prstGeom prst="rect">
            <a:avLst/>
          </a:prstGeom>
          <a:solidFill>
            <a:srgbClr val="DCE3EB"/>
          </a:solidFill>
          <a:ln w="12700">
            <a:solidFill>
              <a:srgbClr val="DCE3EB"/>
            </a:solidFill>
            <a:prstDash val="solid"/>
          </a:ln>
        </p:spPr>
      </p:sp>
      <p:sp>
        <p:nvSpPr>
          <p:cNvPr id="8" name="Text 6"/>
          <p:cNvSpPr txBox="1"/>
          <p:nvPr/>
        </p:nvSpPr>
        <p:spPr>
          <a:xfrm>
            <a:off x="640080" y="3355848"/>
            <a:ext cx="3383280" cy="841248"/>
          </a:xfrm>
          <a:prstGeom prst="rect">
            <a:avLst/>
          </a:prstGeom>
          <a:noFill/>
          <a:ln/>
        </p:spPr>
        <p:txBody>
          <a:bodyPr wrap="square" lIns="0" tIns="0" rIns="0" bIns="0" rtlCol="0" anchor="t"/>
          <a:lstStyle/>
          <a:p>
            <a:pPr indent="0" marL="0">
              <a:buNone/>
            </a:pPr>
            <a:r>
              <a:rPr lang="en-US" sz="1450" b="1" dirty="0">
                <a:solidFill>
                  <a:srgbClr val="C2551F"/>
                </a:solidFill>
                <a:latin typeface="Cambria" pitchFamily="34" charset="0"/>
                <a:ea typeface="Cambria" pitchFamily="34" charset="-122"/>
                <a:cs typeface="Cambria" pitchFamily="34" charset="-120"/>
              </a:rPr>
              <a:t>Accounts a control room can run</a:t>
            </a:r>
            <a:endParaRPr lang="en-US" sz="1450" dirty="0"/>
          </a:p>
        </p:txBody>
      </p:sp>
      <p:sp>
        <p:nvSpPr>
          <p:cNvPr id="9" name="Text 7"/>
          <p:cNvSpPr txBox="1"/>
          <p:nvPr/>
        </p:nvSpPr>
        <p:spPr>
          <a:xfrm>
            <a:off x="4297680" y="3355848"/>
            <a:ext cx="7223760" cy="841248"/>
          </a:xfrm>
          <a:prstGeom prst="rect">
            <a:avLst/>
          </a:prstGeom>
          <a:noFill/>
          <a:ln/>
        </p:spPr>
        <p:txBody>
          <a:bodyPr wrap="square" lIns="0" tIns="0" rIns="0" bIns="0" rtlCol="0" anchor="t"/>
          <a:lstStyle/>
          <a:p>
            <a:pPr indent="0" marL="0">
              <a:lnSpc>
                <a:spcPts val="1700"/>
              </a:lnSpc>
              <a:buNone/>
            </a:pPr>
            <a:r>
              <a:rPr lang="en-US" sz="1250" dirty="0">
                <a:solidFill>
                  <a:srgbClr val="3C4A5C"/>
                </a:solidFill>
                <a:latin typeface="Calibri" pitchFamily="34" charset="0"/>
                <a:ea typeface="Calibri" pitchFamily="34" charset="-122"/>
                <a:cs typeface="Calibri" pitchFamily="34" charset="-120"/>
              </a:rPr>
              <a:t>Several operators per shift, created and revoked by an administrator. Passwords are stored only as salted, heavily iterated hashes and are never recoverable.</a:t>
            </a:r>
            <a:endParaRPr lang="en-US" sz="1250" dirty="0"/>
          </a:p>
        </p:txBody>
      </p:sp>
      <p:sp>
        <p:nvSpPr>
          <p:cNvPr id="10" name="Shape 8"/>
          <p:cNvSpPr/>
          <p:nvPr/>
        </p:nvSpPr>
        <p:spPr>
          <a:xfrm>
            <a:off x="640080" y="4215384"/>
            <a:ext cx="10881360" cy="10973"/>
          </a:xfrm>
          <a:prstGeom prst="rect">
            <a:avLst/>
          </a:prstGeom>
          <a:solidFill>
            <a:srgbClr val="DCE3EB"/>
          </a:solidFill>
          <a:ln w="12700">
            <a:solidFill>
              <a:srgbClr val="DCE3EB"/>
            </a:solidFill>
            <a:prstDash val="solid"/>
          </a:ln>
        </p:spPr>
      </p:sp>
      <p:sp>
        <p:nvSpPr>
          <p:cNvPr id="11" name="Text 9"/>
          <p:cNvSpPr txBox="1"/>
          <p:nvPr/>
        </p:nvSpPr>
        <p:spPr>
          <a:xfrm>
            <a:off x="640080" y="4315968"/>
            <a:ext cx="3383280" cy="841248"/>
          </a:xfrm>
          <a:prstGeom prst="rect">
            <a:avLst/>
          </a:prstGeom>
          <a:noFill/>
          <a:ln/>
        </p:spPr>
        <p:txBody>
          <a:bodyPr wrap="square" lIns="0" tIns="0" rIns="0" bIns="0" rtlCol="0" anchor="t"/>
          <a:lstStyle/>
          <a:p>
            <a:pPr indent="0" marL="0">
              <a:buNone/>
            </a:pPr>
            <a:r>
              <a:rPr lang="en-US" sz="1450" b="1" dirty="0">
                <a:solidFill>
                  <a:srgbClr val="C2551F"/>
                </a:solidFill>
                <a:latin typeface="Cambria" pitchFamily="34" charset="0"/>
                <a:ea typeface="Cambria" pitchFamily="34" charset="-122"/>
                <a:cs typeface="Cambria" pitchFamily="34" charset="-120"/>
              </a:rPr>
              <a:t>Revocation that takes effect now</a:t>
            </a:r>
            <a:endParaRPr lang="en-US" sz="1450" dirty="0"/>
          </a:p>
        </p:txBody>
      </p:sp>
      <p:sp>
        <p:nvSpPr>
          <p:cNvPr id="12" name="Text 10"/>
          <p:cNvSpPr txBox="1"/>
          <p:nvPr/>
        </p:nvSpPr>
        <p:spPr>
          <a:xfrm>
            <a:off x="4297680" y="4315968"/>
            <a:ext cx="7223760" cy="841248"/>
          </a:xfrm>
          <a:prstGeom prst="rect">
            <a:avLst/>
          </a:prstGeom>
          <a:noFill/>
          <a:ln/>
        </p:spPr>
        <p:txBody>
          <a:bodyPr wrap="square" lIns="0" tIns="0" rIns="0" bIns="0" rtlCol="0" anchor="t"/>
          <a:lstStyle/>
          <a:p>
            <a:pPr indent="0" marL="0">
              <a:lnSpc>
                <a:spcPts val="1700"/>
              </a:lnSpc>
              <a:buNone/>
            </a:pPr>
            <a:r>
              <a:rPr lang="en-US" sz="1250" dirty="0">
                <a:solidFill>
                  <a:srgbClr val="3C4A5C"/>
                </a:solidFill>
                <a:latin typeface="Calibri" pitchFamily="34" charset="0"/>
                <a:ea typeface="Calibri" pitchFamily="34" charset="-122"/>
                <a:cs typeface="Calibri" pitchFamily="34" charset="-120"/>
              </a:rPr>
              <a:t>Deactivating an account, changing its role or resetting its password ends every session it holds on the next request, not whenever its token happens to expire.</a:t>
            </a:r>
            <a:endParaRPr lang="en-US" sz="1250" dirty="0"/>
          </a:p>
        </p:txBody>
      </p:sp>
      <p:sp>
        <p:nvSpPr>
          <p:cNvPr id="13" name="Shape 11"/>
          <p:cNvSpPr/>
          <p:nvPr/>
        </p:nvSpPr>
        <p:spPr>
          <a:xfrm>
            <a:off x="640080" y="5175504"/>
            <a:ext cx="10881360" cy="10973"/>
          </a:xfrm>
          <a:prstGeom prst="rect">
            <a:avLst/>
          </a:prstGeom>
          <a:solidFill>
            <a:srgbClr val="DCE3EB"/>
          </a:solidFill>
          <a:ln w="12700">
            <a:solidFill>
              <a:srgbClr val="DCE3EB"/>
            </a:solidFill>
            <a:prstDash val="solid"/>
          </a:ln>
        </p:spPr>
      </p:sp>
      <p:sp>
        <p:nvSpPr>
          <p:cNvPr id="14" name="Text 12"/>
          <p:cNvSpPr txBox="1"/>
          <p:nvPr/>
        </p:nvSpPr>
        <p:spPr>
          <a:xfrm>
            <a:off x="640080" y="5276088"/>
            <a:ext cx="3383280" cy="841248"/>
          </a:xfrm>
          <a:prstGeom prst="rect">
            <a:avLst/>
          </a:prstGeom>
          <a:noFill/>
          <a:ln/>
        </p:spPr>
        <p:txBody>
          <a:bodyPr wrap="square" lIns="0" tIns="0" rIns="0" bIns="0" rtlCol="0" anchor="t"/>
          <a:lstStyle/>
          <a:p>
            <a:pPr indent="0" marL="0">
              <a:buNone/>
            </a:pPr>
            <a:r>
              <a:rPr lang="en-US" sz="1450" b="1" dirty="0">
                <a:solidFill>
                  <a:srgbClr val="C2551F"/>
                </a:solidFill>
                <a:latin typeface="Cambria" pitchFamily="34" charset="0"/>
                <a:ea typeface="Cambria" pitchFamily="34" charset="-122"/>
                <a:cs typeface="Cambria" pitchFamily="34" charset="-120"/>
              </a:rPr>
              <a:t>Append-only audit trail</a:t>
            </a:r>
            <a:endParaRPr lang="en-US" sz="1450" dirty="0"/>
          </a:p>
        </p:txBody>
      </p:sp>
      <p:sp>
        <p:nvSpPr>
          <p:cNvPr id="15" name="Text 13"/>
          <p:cNvSpPr txBox="1"/>
          <p:nvPr/>
        </p:nvSpPr>
        <p:spPr>
          <a:xfrm>
            <a:off x="4297680" y="5276088"/>
            <a:ext cx="7223760" cy="841248"/>
          </a:xfrm>
          <a:prstGeom prst="rect">
            <a:avLst/>
          </a:prstGeom>
          <a:noFill/>
          <a:ln/>
        </p:spPr>
        <p:txBody>
          <a:bodyPr wrap="square" lIns="0" tIns="0" rIns="0" bIns="0" rtlCol="0" anchor="t"/>
          <a:lstStyle/>
          <a:p>
            <a:pPr indent="0" marL="0">
              <a:lnSpc>
                <a:spcPts val="1700"/>
              </a:lnSpc>
              <a:buNone/>
            </a:pPr>
            <a:r>
              <a:rPr lang="en-US" sz="1250" dirty="0">
                <a:solidFill>
                  <a:srgbClr val="3C4A5C"/>
                </a:solidFill>
                <a:latin typeface="Calibri" pitchFamily="34" charset="0"/>
                <a:ea typeface="Calibri" pitchFamily="34" charset="-122"/>
                <a:cs typeface="Calibri" pitchFamily="34" charset="-120"/>
              </a:rPr>
              <a:t>Every state-changing call records the caller, the target and the outcome. Accounts are deactivated and never deleted, so past actions stay attributable to a named officer.</a:t>
            </a:r>
            <a:endParaRPr lang="en-US" sz="1250" dirty="0"/>
          </a:p>
        </p:txBody>
      </p:sp>
      <p:sp>
        <p:nvSpPr>
          <p:cNvPr id="16" name="Text 14"/>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RESILIENCE</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Built for links that fail</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District connectivity is not guaranteed. The platform is designed around that rather than around an assumption it will hold.</a:t>
            </a:r>
            <a:endParaRPr lang="en-US" sz="1450" dirty="0"/>
          </a:p>
        </p:txBody>
      </p:sp>
      <p:sp>
        <p:nvSpPr>
          <p:cNvPr id="5" name="Shape 3"/>
          <p:cNvSpPr/>
          <p:nvPr/>
        </p:nvSpPr>
        <p:spPr>
          <a:xfrm>
            <a:off x="640080" y="2542032"/>
            <a:ext cx="2528316" cy="2651760"/>
          </a:xfrm>
          <a:prstGeom prst="roundRect">
            <a:avLst>
              <a:gd name="adj" fmla="val 1808"/>
            </a:avLst>
          </a:prstGeom>
          <a:solidFill>
            <a:srgbClr val="F2F5F9"/>
          </a:solidFill>
          <a:ln w="12700">
            <a:solidFill>
              <a:srgbClr val="F2F5F9"/>
            </a:solidFill>
            <a:prstDash val="solid"/>
          </a:ln>
        </p:spPr>
      </p:sp>
      <p:sp>
        <p:nvSpPr>
          <p:cNvPr id="6" name="Text 4"/>
          <p:cNvSpPr txBox="1"/>
          <p:nvPr/>
        </p:nvSpPr>
        <p:spPr>
          <a:xfrm>
            <a:off x="914400" y="2816352"/>
            <a:ext cx="1979676" cy="475488"/>
          </a:xfrm>
          <a:prstGeom prst="rect">
            <a:avLst/>
          </a:prstGeom>
          <a:noFill/>
          <a:ln/>
        </p:spPr>
        <p:txBody>
          <a:bodyPr wrap="square" lIns="0" tIns="0" rIns="0" bIns="0" rtlCol="0" anchor="ctr"/>
          <a:lstStyle/>
          <a:p>
            <a:pPr indent="0" marL="0">
              <a:buNone/>
            </a:pPr>
            <a:r>
              <a:rPr lang="en-US" sz="1500" b="1" dirty="0">
                <a:solidFill>
                  <a:srgbClr val="16243A"/>
                </a:solidFill>
                <a:latin typeface="Cambria" pitchFamily="34" charset="0"/>
                <a:ea typeface="Cambria" pitchFamily="34" charset="-122"/>
                <a:cs typeface="Cambria" pitchFamily="34" charset="-120"/>
              </a:rPr>
              <a:t>Store and forward</a:t>
            </a:r>
            <a:endParaRPr lang="en-US" sz="1500" dirty="0"/>
          </a:p>
        </p:txBody>
      </p:sp>
      <p:sp>
        <p:nvSpPr>
          <p:cNvPr id="7" name="Text 5"/>
          <p:cNvSpPr txBox="1"/>
          <p:nvPr/>
        </p:nvSpPr>
        <p:spPr>
          <a:xfrm>
            <a:off x="914400" y="3328416"/>
            <a:ext cx="1979676" cy="1600200"/>
          </a:xfrm>
          <a:prstGeom prst="rect">
            <a:avLst/>
          </a:prstGeom>
          <a:noFill/>
          <a:ln/>
        </p:spPr>
        <p:txBody>
          <a:bodyPr wrap="square" lIns="0" tIns="0" rIns="0" bIns="0" rtlCol="0" anchor="ctr"/>
          <a:lstStyle/>
          <a:p>
            <a:pPr indent="0" marL="0">
              <a:lnSpc>
                <a:spcPts val="1700"/>
              </a:lnSpc>
              <a:buNone/>
            </a:pPr>
            <a:r>
              <a:rPr lang="en-US" sz="1150" dirty="0">
                <a:solidFill>
                  <a:srgbClr val="3C4A5C"/>
                </a:solidFill>
                <a:latin typeface="Calibri" pitchFamily="34" charset="0"/>
                <a:ea typeface="Calibri" pitchFamily="34" charset="-122"/>
                <a:cs typeface="Calibri" pitchFamily="34" charset="-120"/>
              </a:rPr>
              <a:t>When the link to the centre drops, results queue in a durable local store and replay automatically, in order, when it returns.</a:t>
            </a:r>
            <a:endParaRPr lang="en-US" sz="1150" dirty="0"/>
          </a:p>
        </p:txBody>
      </p:sp>
      <p:sp>
        <p:nvSpPr>
          <p:cNvPr id="8" name="Shape 6"/>
          <p:cNvSpPr/>
          <p:nvPr/>
        </p:nvSpPr>
        <p:spPr>
          <a:xfrm>
            <a:off x="3424428" y="2542032"/>
            <a:ext cx="2528316" cy="2651760"/>
          </a:xfrm>
          <a:prstGeom prst="roundRect">
            <a:avLst>
              <a:gd name="adj" fmla="val 1808"/>
            </a:avLst>
          </a:prstGeom>
          <a:solidFill>
            <a:srgbClr val="F2F5F9"/>
          </a:solidFill>
          <a:ln w="12700">
            <a:solidFill>
              <a:srgbClr val="F2F5F9"/>
            </a:solidFill>
            <a:prstDash val="solid"/>
          </a:ln>
        </p:spPr>
      </p:sp>
      <p:sp>
        <p:nvSpPr>
          <p:cNvPr id="9" name="Text 7"/>
          <p:cNvSpPr txBox="1"/>
          <p:nvPr/>
        </p:nvSpPr>
        <p:spPr>
          <a:xfrm>
            <a:off x="3698748" y="2816352"/>
            <a:ext cx="1979676" cy="475488"/>
          </a:xfrm>
          <a:prstGeom prst="rect">
            <a:avLst/>
          </a:prstGeom>
          <a:noFill/>
          <a:ln/>
        </p:spPr>
        <p:txBody>
          <a:bodyPr wrap="square" lIns="0" tIns="0" rIns="0" bIns="0" rtlCol="0" anchor="ctr"/>
          <a:lstStyle/>
          <a:p>
            <a:pPr indent="0" marL="0">
              <a:buNone/>
            </a:pPr>
            <a:r>
              <a:rPr lang="en-US" sz="1500" b="1" dirty="0">
                <a:solidFill>
                  <a:srgbClr val="16243A"/>
                </a:solidFill>
                <a:latin typeface="Cambria" pitchFamily="34" charset="0"/>
                <a:ea typeface="Cambria" pitchFamily="34" charset="-122"/>
                <a:cs typeface="Cambria" pitchFamily="34" charset="-120"/>
              </a:rPr>
              <a:t>Never a tight loop</a:t>
            </a:r>
            <a:endParaRPr lang="en-US" sz="1500" dirty="0"/>
          </a:p>
        </p:txBody>
      </p:sp>
      <p:sp>
        <p:nvSpPr>
          <p:cNvPr id="10" name="Text 8"/>
          <p:cNvSpPr txBox="1"/>
          <p:nvPr/>
        </p:nvSpPr>
        <p:spPr>
          <a:xfrm>
            <a:off x="3698748" y="3328416"/>
            <a:ext cx="1979676" cy="1600200"/>
          </a:xfrm>
          <a:prstGeom prst="rect">
            <a:avLst/>
          </a:prstGeom>
          <a:noFill/>
          <a:ln/>
        </p:spPr>
        <p:txBody>
          <a:bodyPr wrap="square" lIns="0" tIns="0" rIns="0" bIns="0" rtlCol="0" anchor="ctr"/>
          <a:lstStyle/>
          <a:p>
            <a:pPr indent="0" marL="0">
              <a:lnSpc>
                <a:spcPts val="1700"/>
              </a:lnSpc>
              <a:buNone/>
            </a:pPr>
            <a:r>
              <a:rPr lang="en-US" sz="1150" dirty="0">
                <a:solidFill>
                  <a:srgbClr val="3C4A5C"/>
                </a:solidFill>
                <a:latin typeface="Calibri" pitchFamily="34" charset="0"/>
                <a:ea typeface="Calibri" pitchFamily="34" charset="-122"/>
                <a:cs typeface="Calibri" pitchFamily="34" charset="-120"/>
              </a:rPr>
              <a:t>A camera that stops responding is retried with growing backoff and an alternate stream URL, so one dead feed cannot starve the others.</a:t>
            </a:r>
            <a:endParaRPr lang="en-US" sz="1150" dirty="0"/>
          </a:p>
        </p:txBody>
      </p:sp>
      <p:sp>
        <p:nvSpPr>
          <p:cNvPr id="11" name="Shape 9"/>
          <p:cNvSpPr/>
          <p:nvPr/>
        </p:nvSpPr>
        <p:spPr>
          <a:xfrm>
            <a:off x="6208776" y="2542032"/>
            <a:ext cx="2528316" cy="2651760"/>
          </a:xfrm>
          <a:prstGeom prst="roundRect">
            <a:avLst>
              <a:gd name="adj" fmla="val 1808"/>
            </a:avLst>
          </a:prstGeom>
          <a:solidFill>
            <a:srgbClr val="F2F5F9"/>
          </a:solidFill>
          <a:ln w="12700">
            <a:solidFill>
              <a:srgbClr val="F2F5F9"/>
            </a:solidFill>
            <a:prstDash val="solid"/>
          </a:ln>
        </p:spPr>
      </p:sp>
      <p:sp>
        <p:nvSpPr>
          <p:cNvPr id="12" name="Text 10"/>
          <p:cNvSpPr txBox="1"/>
          <p:nvPr/>
        </p:nvSpPr>
        <p:spPr>
          <a:xfrm>
            <a:off x="6483096" y="2816352"/>
            <a:ext cx="1979676" cy="475488"/>
          </a:xfrm>
          <a:prstGeom prst="rect">
            <a:avLst/>
          </a:prstGeom>
          <a:noFill/>
          <a:ln/>
        </p:spPr>
        <p:txBody>
          <a:bodyPr wrap="square" lIns="0" tIns="0" rIns="0" bIns="0" rtlCol="0" anchor="ctr"/>
          <a:lstStyle/>
          <a:p>
            <a:pPr indent="0" marL="0">
              <a:buNone/>
            </a:pPr>
            <a:r>
              <a:rPr lang="en-US" sz="1500" b="1" dirty="0">
                <a:solidFill>
                  <a:srgbClr val="16243A"/>
                </a:solidFill>
                <a:latin typeface="Cambria" pitchFamily="34" charset="0"/>
                <a:ea typeface="Cambria" pitchFamily="34" charset="-122"/>
                <a:cs typeface="Cambria" pitchFamily="34" charset="-120"/>
              </a:rPr>
              <a:t>Degrades, never stops</a:t>
            </a:r>
            <a:endParaRPr lang="en-US" sz="1500" dirty="0"/>
          </a:p>
        </p:txBody>
      </p:sp>
      <p:sp>
        <p:nvSpPr>
          <p:cNvPr id="13" name="Text 11"/>
          <p:cNvSpPr txBox="1"/>
          <p:nvPr/>
        </p:nvSpPr>
        <p:spPr>
          <a:xfrm>
            <a:off x="6483096" y="3328416"/>
            <a:ext cx="1979676" cy="1600200"/>
          </a:xfrm>
          <a:prstGeom prst="rect">
            <a:avLst/>
          </a:prstGeom>
          <a:noFill/>
          <a:ln/>
        </p:spPr>
        <p:txBody>
          <a:bodyPr wrap="square" lIns="0" tIns="0" rIns="0" bIns="0" rtlCol="0" anchor="ctr"/>
          <a:lstStyle/>
          <a:p>
            <a:pPr indent="0" marL="0">
              <a:lnSpc>
                <a:spcPts val="1700"/>
              </a:lnSpc>
              <a:buNone/>
            </a:pPr>
            <a:r>
              <a:rPr lang="en-US" sz="1150" dirty="0">
                <a:solidFill>
                  <a:srgbClr val="3C4A5C"/>
                </a:solidFill>
                <a:latin typeface="Calibri" pitchFamily="34" charset="0"/>
                <a:ea typeface="Calibri" pitchFamily="34" charset="-122"/>
                <a:cs typeface="Calibri" pitchFamily="34" charset="-120"/>
              </a:rPr>
              <a:t>Without the recognition models the platform still runs as a registry and health monitor. Capability is layered, not all-or-nothing.</a:t>
            </a:r>
            <a:endParaRPr lang="en-US" sz="1150" dirty="0"/>
          </a:p>
        </p:txBody>
      </p:sp>
      <p:sp>
        <p:nvSpPr>
          <p:cNvPr id="14" name="Shape 12"/>
          <p:cNvSpPr/>
          <p:nvPr/>
        </p:nvSpPr>
        <p:spPr>
          <a:xfrm>
            <a:off x="8993124" y="2542032"/>
            <a:ext cx="2528316" cy="2651760"/>
          </a:xfrm>
          <a:prstGeom prst="roundRect">
            <a:avLst>
              <a:gd name="adj" fmla="val 1808"/>
            </a:avLst>
          </a:prstGeom>
          <a:solidFill>
            <a:srgbClr val="F2F5F9"/>
          </a:solidFill>
          <a:ln w="12700">
            <a:solidFill>
              <a:srgbClr val="F2F5F9"/>
            </a:solidFill>
            <a:prstDash val="solid"/>
          </a:ln>
        </p:spPr>
      </p:sp>
      <p:sp>
        <p:nvSpPr>
          <p:cNvPr id="15" name="Text 13"/>
          <p:cNvSpPr txBox="1"/>
          <p:nvPr/>
        </p:nvSpPr>
        <p:spPr>
          <a:xfrm>
            <a:off x="9267444" y="2816352"/>
            <a:ext cx="1979676" cy="475488"/>
          </a:xfrm>
          <a:prstGeom prst="rect">
            <a:avLst/>
          </a:prstGeom>
          <a:noFill/>
          <a:ln/>
        </p:spPr>
        <p:txBody>
          <a:bodyPr wrap="square" lIns="0" tIns="0" rIns="0" bIns="0" rtlCol="0" anchor="ctr"/>
          <a:lstStyle/>
          <a:p>
            <a:pPr indent="0" marL="0">
              <a:buNone/>
            </a:pPr>
            <a:r>
              <a:rPr lang="en-US" sz="1500" b="1" dirty="0">
                <a:solidFill>
                  <a:srgbClr val="16243A"/>
                </a:solidFill>
                <a:latin typeface="Cambria" pitchFamily="34" charset="0"/>
                <a:ea typeface="Cambria" pitchFamily="34" charset="-122"/>
                <a:cs typeface="Cambria" pitchFamily="34" charset="-120"/>
              </a:rPr>
              <a:t>Bounded growth</a:t>
            </a:r>
            <a:endParaRPr lang="en-US" sz="1500" dirty="0"/>
          </a:p>
        </p:txBody>
      </p:sp>
      <p:sp>
        <p:nvSpPr>
          <p:cNvPr id="16" name="Text 14"/>
          <p:cNvSpPr txBox="1"/>
          <p:nvPr/>
        </p:nvSpPr>
        <p:spPr>
          <a:xfrm>
            <a:off x="9267444" y="3328416"/>
            <a:ext cx="1979676" cy="1600200"/>
          </a:xfrm>
          <a:prstGeom prst="rect">
            <a:avLst/>
          </a:prstGeom>
          <a:noFill/>
          <a:ln/>
        </p:spPr>
        <p:txBody>
          <a:bodyPr wrap="square" lIns="0" tIns="0" rIns="0" bIns="0" rtlCol="0" anchor="ctr"/>
          <a:lstStyle/>
          <a:p>
            <a:pPr indent="0" marL="0">
              <a:lnSpc>
                <a:spcPts val="1700"/>
              </a:lnSpc>
              <a:buNone/>
            </a:pPr>
            <a:r>
              <a:rPr lang="en-US" sz="1150" dirty="0">
                <a:solidFill>
                  <a:srgbClr val="3C4A5C"/>
                </a:solidFill>
                <a:latin typeface="Calibri" pitchFamily="34" charset="0"/>
                <a:ea typeface="Calibri" pitchFamily="34" charset="-122"/>
                <a:cs typeface="Calibri" pitchFamily="34" charset="-120"/>
              </a:rPr>
              <a:t>Retention prunes old records automatically, while anything attached to an unacknowledged alert is deliberately preserved.</a:t>
            </a:r>
            <a:endParaRPr lang="en-US" sz="1150" dirty="0"/>
          </a:p>
        </p:txBody>
      </p:sp>
      <p:sp>
        <p:nvSpPr>
          <p:cNvPr id="17" name="Text 15"/>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BF4EE"/>
        </a:solidFill>
      </p:bgPr>
    </p:bg>
    <p:spTree>
      <p:nvGrpSpPr>
        <p:cNvPr id="1" name=""/>
        <p:cNvGrpSpPr/>
        <p:nvPr/>
      </p:nvGrpSpPr>
      <p:grpSpPr>
        <a:xfrm>
          <a:off x="0" y="0"/>
          <a:ext cx="0" cy="0"/>
          <a:chOff x="0" y="0"/>
          <a:chExt cx="0" cy="0"/>
        </a:xfrm>
      </p:grpSpPr>
      <p:sp>
        <p:nvSpPr>
          <p:cNvPr id="2" name="Text 0"/>
          <p:cNvSpPr txBox="1"/>
          <p:nvPr/>
        </p:nvSpPr>
        <p:spPr>
          <a:xfrm>
            <a:off x="822960" y="2286000"/>
            <a:ext cx="1828800" cy="1463040"/>
          </a:xfrm>
          <a:prstGeom prst="rect">
            <a:avLst/>
          </a:prstGeom>
          <a:noFill/>
          <a:ln/>
        </p:spPr>
        <p:txBody>
          <a:bodyPr wrap="square" lIns="0" tIns="0" rIns="0" bIns="0" rtlCol="0" anchor="ctr"/>
          <a:lstStyle/>
          <a:p>
            <a:pPr indent="0" marL="0">
              <a:buNone/>
            </a:pPr>
            <a:r>
              <a:rPr lang="en-US" sz="9600" b="1" dirty="0">
                <a:solidFill>
                  <a:srgbClr val="C2551F"/>
                </a:solidFill>
                <a:latin typeface="Cambria" pitchFamily="34" charset="0"/>
                <a:ea typeface="Cambria" pitchFamily="34" charset="-122"/>
                <a:cs typeface="Cambria" pitchFamily="34" charset="-120"/>
              </a:rPr>
              <a:t>06</a:t>
            </a:r>
            <a:endParaRPr lang="en-US" sz="9600" dirty="0"/>
          </a:p>
        </p:txBody>
      </p:sp>
      <p:sp>
        <p:nvSpPr>
          <p:cNvPr id="3" name="Text 1"/>
          <p:cNvSpPr txBox="1"/>
          <p:nvPr/>
        </p:nvSpPr>
        <p:spPr>
          <a:xfrm>
            <a:off x="2743200" y="2487168"/>
            <a:ext cx="8503920" cy="777240"/>
          </a:xfrm>
          <a:prstGeom prst="rect">
            <a:avLst/>
          </a:prstGeom>
          <a:noFill/>
          <a:ln/>
        </p:spPr>
        <p:txBody>
          <a:bodyPr wrap="square" lIns="0" tIns="0" rIns="0" bIns="0" rtlCol="0" anchor="ctr"/>
          <a:lstStyle/>
          <a:p>
            <a:pPr indent="0" marL="0">
              <a:buNone/>
            </a:pPr>
            <a:r>
              <a:rPr lang="en-US" sz="4000" b="1" dirty="0">
                <a:solidFill>
                  <a:srgbClr val="16243A"/>
                </a:solidFill>
                <a:latin typeface="Cambria" pitchFamily="34" charset="0"/>
                <a:ea typeface="Cambria" pitchFamily="34" charset="-122"/>
                <a:cs typeface="Cambria" pitchFamily="34" charset="-120"/>
              </a:rPr>
              <a:t>Delivery</a:t>
            </a:r>
            <a:endParaRPr lang="en-US" sz="4000" dirty="0"/>
          </a:p>
        </p:txBody>
      </p:sp>
      <p:sp>
        <p:nvSpPr>
          <p:cNvPr id="4" name="Text 2"/>
          <p:cNvSpPr txBox="1"/>
          <p:nvPr/>
        </p:nvSpPr>
        <p:spPr>
          <a:xfrm>
            <a:off x="2788920" y="3346704"/>
            <a:ext cx="7863840" cy="731520"/>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What exists today, and what comes next.</a:t>
            </a:r>
            <a:endParaRPr lang="en-US" sz="1450" dirty="0"/>
          </a:p>
        </p:txBody>
      </p:sp>
      <p:sp>
        <p:nvSpPr>
          <p:cNvPr id="5" name="Text 3"/>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ENGINEERING</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Built and tested, not sketched</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A working platform, exercised by an automated suite that runs on every change.</a:t>
            </a:r>
            <a:endParaRPr lang="en-US" sz="1450" dirty="0"/>
          </a:p>
        </p:txBody>
      </p:sp>
      <p:sp>
        <p:nvSpPr>
          <p:cNvPr id="5" name="Shape 3"/>
          <p:cNvSpPr/>
          <p:nvPr/>
        </p:nvSpPr>
        <p:spPr>
          <a:xfrm>
            <a:off x="640080" y="2487168"/>
            <a:ext cx="3310128" cy="1417320"/>
          </a:xfrm>
          <a:prstGeom prst="roundRect">
            <a:avLst>
              <a:gd name="adj" fmla="val 3226"/>
            </a:avLst>
          </a:prstGeom>
          <a:solidFill>
            <a:srgbClr val="FBF4EE"/>
          </a:solidFill>
          <a:ln w="12700">
            <a:solidFill>
              <a:srgbClr val="FBF4EE"/>
            </a:solidFill>
            <a:prstDash val="solid"/>
          </a:ln>
        </p:spPr>
      </p:sp>
      <p:sp>
        <p:nvSpPr>
          <p:cNvPr id="6" name="Text 4"/>
          <p:cNvSpPr txBox="1"/>
          <p:nvPr/>
        </p:nvSpPr>
        <p:spPr>
          <a:xfrm>
            <a:off x="932688" y="2688336"/>
            <a:ext cx="2724912" cy="676656"/>
          </a:xfrm>
          <a:prstGeom prst="rect">
            <a:avLst/>
          </a:prstGeom>
          <a:noFill/>
          <a:ln/>
        </p:spPr>
        <p:txBody>
          <a:bodyPr wrap="square" lIns="0" tIns="0" rIns="0" bIns="0" rtlCol="0" anchor="ctr"/>
          <a:lstStyle/>
          <a:p>
            <a:pPr indent="0" marL="0">
              <a:buNone/>
            </a:pPr>
            <a:r>
              <a:rPr lang="en-US" sz="3400" b="1" dirty="0">
                <a:solidFill>
                  <a:srgbClr val="C2551F"/>
                </a:solidFill>
                <a:latin typeface="Cambria" pitchFamily="34" charset="0"/>
                <a:ea typeface="Cambria" pitchFamily="34" charset="-122"/>
                <a:cs typeface="Cambria" pitchFamily="34" charset="-120"/>
              </a:rPr>
              <a:t>277</a:t>
            </a:r>
            <a:endParaRPr lang="en-US" sz="3400" dirty="0"/>
          </a:p>
        </p:txBody>
      </p:sp>
      <p:sp>
        <p:nvSpPr>
          <p:cNvPr id="7" name="Text 5"/>
          <p:cNvSpPr txBox="1"/>
          <p:nvPr/>
        </p:nvSpPr>
        <p:spPr>
          <a:xfrm>
            <a:off x="932688" y="3364992"/>
            <a:ext cx="2724912" cy="420624"/>
          </a:xfrm>
          <a:prstGeom prst="rect">
            <a:avLst/>
          </a:prstGeom>
          <a:noFill/>
          <a:ln/>
        </p:spPr>
        <p:txBody>
          <a:bodyPr wrap="square" lIns="0" tIns="0" rIns="0" bIns="0" rtlCol="0" anchor="ctr"/>
          <a:lstStyle/>
          <a:p>
            <a:pPr indent="0" marL="0">
              <a:buNone/>
            </a:pPr>
            <a:r>
              <a:rPr lang="en-US" sz="1050" spc="80" kern="0" dirty="0">
                <a:solidFill>
                  <a:srgbClr val="6B7B8F"/>
                </a:solidFill>
                <a:latin typeface="Calibri" pitchFamily="34" charset="0"/>
                <a:ea typeface="Calibri" pitchFamily="34" charset="-122"/>
                <a:cs typeface="Calibri" pitchFamily="34" charset="-120"/>
              </a:rPr>
              <a:t>automated tests passing</a:t>
            </a:r>
            <a:endParaRPr lang="en-US" sz="1050" dirty="0"/>
          </a:p>
        </p:txBody>
      </p:sp>
      <p:sp>
        <p:nvSpPr>
          <p:cNvPr id="8" name="Shape 6"/>
          <p:cNvSpPr/>
          <p:nvPr/>
        </p:nvSpPr>
        <p:spPr>
          <a:xfrm>
            <a:off x="4425696" y="2487168"/>
            <a:ext cx="3310128" cy="1417320"/>
          </a:xfrm>
          <a:prstGeom prst="roundRect">
            <a:avLst>
              <a:gd name="adj" fmla="val 3226"/>
            </a:avLst>
          </a:prstGeom>
          <a:solidFill>
            <a:srgbClr val="F2F5F9"/>
          </a:solidFill>
          <a:ln w="12700">
            <a:solidFill>
              <a:srgbClr val="F2F5F9"/>
            </a:solidFill>
            <a:prstDash val="solid"/>
          </a:ln>
        </p:spPr>
      </p:sp>
      <p:sp>
        <p:nvSpPr>
          <p:cNvPr id="9" name="Text 7"/>
          <p:cNvSpPr txBox="1"/>
          <p:nvPr/>
        </p:nvSpPr>
        <p:spPr>
          <a:xfrm>
            <a:off x="4718304" y="2688336"/>
            <a:ext cx="2724912" cy="676656"/>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72</a:t>
            </a:r>
            <a:endParaRPr lang="en-US" sz="3400" dirty="0"/>
          </a:p>
        </p:txBody>
      </p:sp>
      <p:sp>
        <p:nvSpPr>
          <p:cNvPr id="10" name="Text 8"/>
          <p:cNvSpPr txBox="1"/>
          <p:nvPr/>
        </p:nvSpPr>
        <p:spPr>
          <a:xfrm>
            <a:off x="4718304" y="3364992"/>
            <a:ext cx="2724912" cy="420624"/>
          </a:xfrm>
          <a:prstGeom prst="rect">
            <a:avLst/>
          </a:prstGeom>
          <a:noFill/>
          <a:ln/>
        </p:spPr>
        <p:txBody>
          <a:bodyPr wrap="square" lIns="0" tIns="0" rIns="0" bIns="0" rtlCol="0" anchor="ctr"/>
          <a:lstStyle/>
          <a:p>
            <a:pPr indent="0" marL="0">
              <a:buNone/>
            </a:pPr>
            <a:r>
              <a:rPr lang="en-US" sz="1050" spc="80" kern="0" dirty="0">
                <a:solidFill>
                  <a:srgbClr val="6B7B8F"/>
                </a:solidFill>
                <a:latin typeface="Calibri" pitchFamily="34" charset="0"/>
                <a:ea typeface="Calibri" pitchFamily="34" charset="-122"/>
                <a:cs typeface="Calibri" pitchFamily="34" charset="-120"/>
              </a:rPr>
              <a:t>API endpoints</a:t>
            </a:r>
            <a:endParaRPr lang="en-US" sz="1050" dirty="0"/>
          </a:p>
        </p:txBody>
      </p:sp>
      <p:sp>
        <p:nvSpPr>
          <p:cNvPr id="11" name="Shape 9"/>
          <p:cNvSpPr/>
          <p:nvPr/>
        </p:nvSpPr>
        <p:spPr>
          <a:xfrm>
            <a:off x="8211312" y="2487168"/>
            <a:ext cx="3310128" cy="1417320"/>
          </a:xfrm>
          <a:prstGeom prst="roundRect">
            <a:avLst>
              <a:gd name="adj" fmla="val 3226"/>
            </a:avLst>
          </a:prstGeom>
          <a:solidFill>
            <a:srgbClr val="F2F5F9"/>
          </a:solidFill>
          <a:ln w="12700">
            <a:solidFill>
              <a:srgbClr val="F2F5F9"/>
            </a:solidFill>
            <a:prstDash val="solid"/>
          </a:ln>
        </p:spPr>
      </p:sp>
      <p:sp>
        <p:nvSpPr>
          <p:cNvPr id="12" name="Text 10"/>
          <p:cNvSpPr txBox="1"/>
          <p:nvPr/>
        </p:nvSpPr>
        <p:spPr>
          <a:xfrm>
            <a:off x="8503920" y="2688336"/>
            <a:ext cx="2724912" cy="676656"/>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15</a:t>
            </a:r>
            <a:endParaRPr lang="en-US" sz="3400" dirty="0"/>
          </a:p>
        </p:txBody>
      </p:sp>
      <p:sp>
        <p:nvSpPr>
          <p:cNvPr id="13" name="Text 11"/>
          <p:cNvSpPr txBox="1"/>
          <p:nvPr/>
        </p:nvSpPr>
        <p:spPr>
          <a:xfrm>
            <a:off x="8503920" y="3364992"/>
            <a:ext cx="2724912" cy="420624"/>
          </a:xfrm>
          <a:prstGeom prst="rect">
            <a:avLst/>
          </a:prstGeom>
          <a:noFill/>
          <a:ln/>
        </p:spPr>
        <p:txBody>
          <a:bodyPr wrap="square" lIns="0" tIns="0" rIns="0" bIns="0" rtlCol="0" anchor="ctr"/>
          <a:lstStyle/>
          <a:p>
            <a:pPr indent="0" marL="0">
              <a:buNone/>
            </a:pPr>
            <a:r>
              <a:rPr lang="en-US" sz="1050" spc="80" kern="0" dirty="0">
                <a:solidFill>
                  <a:srgbClr val="6B7B8F"/>
                </a:solidFill>
                <a:latin typeface="Calibri" pitchFamily="34" charset="0"/>
                <a:ea typeface="Calibri" pitchFamily="34" charset="-122"/>
                <a:cs typeface="Calibri" pitchFamily="34" charset="-120"/>
              </a:rPr>
              <a:t>console screens</a:t>
            </a:r>
            <a:endParaRPr lang="en-US" sz="1050" dirty="0"/>
          </a:p>
        </p:txBody>
      </p:sp>
      <p:sp>
        <p:nvSpPr>
          <p:cNvPr id="14" name="Shape 12"/>
          <p:cNvSpPr/>
          <p:nvPr/>
        </p:nvSpPr>
        <p:spPr>
          <a:xfrm>
            <a:off x="640080" y="4114800"/>
            <a:ext cx="3310128" cy="1417320"/>
          </a:xfrm>
          <a:prstGeom prst="roundRect">
            <a:avLst>
              <a:gd name="adj" fmla="val 3226"/>
            </a:avLst>
          </a:prstGeom>
          <a:solidFill>
            <a:srgbClr val="F2F5F9"/>
          </a:solidFill>
          <a:ln w="12700">
            <a:solidFill>
              <a:srgbClr val="F2F5F9"/>
            </a:solidFill>
            <a:prstDash val="solid"/>
          </a:ln>
        </p:spPr>
      </p:sp>
      <p:sp>
        <p:nvSpPr>
          <p:cNvPr id="15" name="Text 13"/>
          <p:cNvSpPr txBox="1"/>
          <p:nvPr/>
        </p:nvSpPr>
        <p:spPr>
          <a:xfrm>
            <a:off x="932688" y="4315968"/>
            <a:ext cx="2724912" cy="676656"/>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13,400</a:t>
            </a:r>
            <a:endParaRPr lang="en-US" sz="3400" dirty="0"/>
          </a:p>
        </p:txBody>
      </p:sp>
      <p:sp>
        <p:nvSpPr>
          <p:cNvPr id="16" name="Text 14"/>
          <p:cNvSpPr txBox="1"/>
          <p:nvPr/>
        </p:nvSpPr>
        <p:spPr>
          <a:xfrm>
            <a:off x="932688" y="4992624"/>
            <a:ext cx="2724912" cy="420624"/>
          </a:xfrm>
          <a:prstGeom prst="rect">
            <a:avLst/>
          </a:prstGeom>
          <a:noFill/>
          <a:ln/>
        </p:spPr>
        <p:txBody>
          <a:bodyPr wrap="square" lIns="0" tIns="0" rIns="0" bIns="0" rtlCol="0" anchor="ctr"/>
          <a:lstStyle/>
          <a:p>
            <a:pPr indent="0" marL="0">
              <a:buNone/>
            </a:pPr>
            <a:r>
              <a:rPr lang="en-US" sz="1050" spc="80" kern="0" dirty="0">
                <a:solidFill>
                  <a:srgbClr val="6B7B8F"/>
                </a:solidFill>
                <a:latin typeface="Calibri" pitchFamily="34" charset="0"/>
                <a:ea typeface="Calibri" pitchFamily="34" charset="-122"/>
                <a:cs typeface="Calibri" pitchFamily="34" charset="-120"/>
              </a:rPr>
              <a:t>lines of application code</a:t>
            </a:r>
            <a:endParaRPr lang="en-US" sz="1050" dirty="0"/>
          </a:p>
        </p:txBody>
      </p:sp>
      <p:sp>
        <p:nvSpPr>
          <p:cNvPr id="17" name="Shape 15"/>
          <p:cNvSpPr/>
          <p:nvPr/>
        </p:nvSpPr>
        <p:spPr>
          <a:xfrm>
            <a:off x="4425696" y="4114800"/>
            <a:ext cx="3310128" cy="1417320"/>
          </a:xfrm>
          <a:prstGeom prst="roundRect">
            <a:avLst>
              <a:gd name="adj" fmla="val 3226"/>
            </a:avLst>
          </a:prstGeom>
          <a:solidFill>
            <a:srgbClr val="F2F5F9"/>
          </a:solidFill>
          <a:ln w="12700">
            <a:solidFill>
              <a:srgbClr val="F2F5F9"/>
            </a:solidFill>
            <a:prstDash val="solid"/>
          </a:ln>
        </p:spPr>
      </p:sp>
      <p:sp>
        <p:nvSpPr>
          <p:cNvPr id="18" name="Text 16"/>
          <p:cNvSpPr txBox="1"/>
          <p:nvPr/>
        </p:nvSpPr>
        <p:spPr>
          <a:xfrm>
            <a:off x="4718304" y="4315968"/>
            <a:ext cx="2724912" cy="676656"/>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4</a:t>
            </a:r>
            <a:endParaRPr lang="en-US" sz="3400" dirty="0"/>
          </a:p>
        </p:txBody>
      </p:sp>
      <p:sp>
        <p:nvSpPr>
          <p:cNvPr id="19" name="Text 17"/>
          <p:cNvSpPr txBox="1"/>
          <p:nvPr/>
        </p:nvSpPr>
        <p:spPr>
          <a:xfrm>
            <a:off x="4718304" y="4992624"/>
            <a:ext cx="2724912" cy="420624"/>
          </a:xfrm>
          <a:prstGeom prst="rect">
            <a:avLst/>
          </a:prstGeom>
          <a:noFill/>
          <a:ln/>
        </p:spPr>
        <p:txBody>
          <a:bodyPr wrap="square" lIns="0" tIns="0" rIns="0" bIns="0" rtlCol="0" anchor="ctr"/>
          <a:lstStyle/>
          <a:p>
            <a:pPr indent="0" marL="0">
              <a:buNone/>
            </a:pPr>
            <a:r>
              <a:rPr lang="en-US" sz="1050" spc="80" kern="0" dirty="0">
                <a:solidFill>
                  <a:srgbClr val="6B7B8F"/>
                </a:solidFill>
                <a:latin typeface="Calibri" pitchFamily="34" charset="0"/>
                <a:ea typeface="Calibri" pitchFamily="34" charset="-122"/>
                <a:cs typeface="Calibri" pitchFamily="34" charset="-120"/>
              </a:rPr>
              <a:t>federation adapters</a:t>
            </a:r>
            <a:endParaRPr lang="en-US" sz="1050" dirty="0"/>
          </a:p>
        </p:txBody>
      </p:sp>
      <p:sp>
        <p:nvSpPr>
          <p:cNvPr id="20" name="Shape 18"/>
          <p:cNvSpPr/>
          <p:nvPr/>
        </p:nvSpPr>
        <p:spPr>
          <a:xfrm>
            <a:off x="8211312" y="4114800"/>
            <a:ext cx="3310128" cy="1417320"/>
          </a:xfrm>
          <a:prstGeom prst="roundRect">
            <a:avLst>
              <a:gd name="adj" fmla="val 3226"/>
            </a:avLst>
          </a:prstGeom>
          <a:solidFill>
            <a:srgbClr val="F2F5F9"/>
          </a:solidFill>
          <a:ln w="12700">
            <a:solidFill>
              <a:srgbClr val="F2F5F9"/>
            </a:solidFill>
            <a:prstDash val="solid"/>
          </a:ln>
        </p:spPr>
      </p:sp>
      <p:sp>
        <p:nvSpPr>
          <p:cNvPr id="21" name="Text 19"/>
          <p:cNvSpPr txBox="1"/>
          <p:nvPr/>
        </p:nvSpPr>
        <p:spPr>
          <a:xfrm>
            <a:off x="8503920" y="4315968"/>
            <a:ext cx="2724912" cy="676656"/>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8</a:t>
            </a:r>
            <a:endParaRPr lang="en-US" sz="3400" dirty="0"/>
          </a:p>
        </p:txBody>
      </p:sp>
      <p:sp>
        <p:nvSpPr>
          <p:cNvPr id="22" name="Text 20"/>
          <p:cNvSpPr txBox="1"/>
          <p:nvPr/>
        </p:nvSpPr>
        <p:spPr>
          <a:xfrm>
            <a:off x="8503920" y="4992624"/>
            <a:ext cx="2724912" cy="420624"/>
          </a:xfrm>
          <a:prstGeom prst="rect">
            <a:avLst/>
          </a:prstGeom>
          <a:noFill/>
          <a:ln/>
        </p:spPr>
        <p:txBody>
          <a:bodyPr wrap="square" lIns="0" tIns="0" rIns="0" bIns="0" rtlCol="0" anchor="ctr"/>
          <a:lstStyle/>
          <a:p>
            <a:pPr indent="0" marL="0">
              <a:buNone/>
            </a:pPr>
            <a:r>
              <a:rPr lang="en-US" sz="1050" spc="80" kern="0" dirty="0">
                <a:solidFill>
                  <a:srgbClr val="6B7B8F"/>
                </a:solidFill>
                <a:latin typeface="Calibri" pitchFamily="34" charset="0"/>
                <a:ea typeface="Calibri" pitchFamily="34" charset="-122"/>
                <a:cs typeface="Calibri" pitchFamily="34" charset="-120"/>
              </a:rPr>
              <a:t>persisted data models</a:t>
            </a:r>
            <a:endParaRPr lang="en-US" sz="1050" dirty="0"/>
          </a:p>
        </p:txBody>
      </p:sp>
      <p:sp>
        <p:nvSpPr>
          <p:cNvPr id="23" name="Text 21"/>
          <p:cNvSpPr txBox="1"/>
          <p:nvPr/>
        </p:nvSpPr>
        <p:spPr>
          <a:xfrm>
            <a:off x="640080" y="5806440"/>
            <a:ext cx="10881360" cy="457200"/>
          </a:xfrm>
          <a:prstGeom prst="rect">
            <a:avLst/>
          </a:prstGeom>
          <a:noFill/>
          <a:ln/>
        </p:spPr>
        <p:txBody>
          <a:bodyPr wrap="square" lIns="0" tIns="0" rIns="0" bIns="0" rtlCol="0" anchor="ctr"/>
          <a:lstStyle/>
          <a:p>
            <a:pPr indent="0" marL="0">
              <a:buNone/>
            </a:pPr>
            <a:r>
              <a:rPr lang="en-US" sz="1250" dirty="0">
                <a:solidFill>
                  <a:srgbClr val="6B7B8F"/>
                </a:solidFill>
                <a:latin typeface="Calibri" pitchFamily="34" charset="0"/>
                <a:ea typeface="Calibri" pitchFamily="34" charset="-122"/>
                <a:cs typeface="Calibri" pitchFamily="34" charset="-120"/>
              </a:rPr>
              <a:t>Coverage includes plate matching, role enforcement, immediate session revocation, the offline spool, evidence export and the API end to end.</a:t>
            </a:r>
            <a:endParaRPr lang="en-US" sz="1250" dirty="0"/>
          </a:p>
        </p:txBody>
      </p:sp>
      <p:sp>
        <p:nvSpPr>
          <p:cNvPr id="24" name="Text 22"/>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20624"/>
            <a:ext cx="10881360" cy="274320"/>
          </a:xfrm>
          <a:prstGeom prst="rect">
            <a:avLst/>
          </a:prstGeom>
          <a:noFill/>
          <a:ln/>
        </p:spPr>
        <p:txBody>
          <a:bodyPr wrap="square" lIns="0" tIns="0" rIns="0" bIns="0" rtlCol="0" anchor="ctr"/>
          <a:lstStyle/>
          <a:p>
            <a:pPr indent="0" marL="0">
              <a:buNone/>
            </a:pPr>
            <a:r>
              <a:rPr lang="en-US" sz="1050" b="1" spc="260" kern="0" dirty="0">
                <a:solidFill>
                  <a:srgbClr val="C2551F"/>
                </a:solidFill>
                <a:latin typeface="Calibri" pitchFamily="34" charset="0"/>
                <a:ea typeface="Calibri" pitchFamily="34" charset="-122"/>
                <a:cs typeface="Calibri" pitchFamily="34" charset="-120"/>
              </a:rPr>
              <a:t>NEXT</a:t>
            </a:r>
            <a:endParaRPr lang="en-US" sz="1050" dirty="0"/>
          </a:p>
        </p:txBody>
      </p:sp>
      <p:sp>
        <p:nvSpPr>
          <p:cNvPr id="3" name="Text 1"/>
          <p:cNvSpPr txBox="1"/>
          <p:nvPr/>
        </p:nvSpPr>
        <p:spPr>
          <a:xfrm>
            <a:off x="640080" y="749808"/>
            <a:ext cx="10881360" cy="841248"/>
          </a:xfrm>
          <a:prstGeom prst="rect">
            <a:avLst/>
          </a:prstGeom>
          <a:noFill/>
          <a:ln/>
        </p:spPr>
        <p:txBody>
          <a:bodyPr wrap="square" lIns="0" tIns="0" rIns="0" bIns="0" rtlCol="0" anchor="ctr"/>
          <a:lstStyle/>
          <a:p>
            <a:pPr indent="0" marL="0">
              <a:buNone/>
            </a:pPr>
            <a:r>
              <a:rPr lang="en-US" sz="3400" b="1" dirty="0">
                <a:solidFill>
                  <a:srgbClr val="16243A"/>
                </a:solidFill>
                <a:latin typeface="Cambria" pitchFamily="34" charset="0"/>
                <a:ea typeface="Cambria" pitchFamily="34" charset="-122"/>
                <a:cs typeface="Cambria" pitchFamily="34" charset="-120"/>
              </a:rPr>
              <a:t>From working platform to system of record</a:t>
            </a:r>
            <a:endParaRPr lang="en-US" sz="3400" dirty="0"/>
          </a:p>
        </p:txBody>
      </p:sp>
      <p:sp>
        <p:nvSpPr>
          <p:cNvPr id="4" name="Text 2"/>
          <p:cNvSpPr txBox="1"/>
          <p:nvPr/>
        </p:nvSpPr>
        <p:spPr>
          <a:xfrm>
            <a:off x="640080" y="1664208"/>
            <a:ext cx="10058400" cy="658368"/>
          </a:xfrm>
          <a:prstGeom prst="rect">
            <a:avLst/>
          </a:prstGeom>
          <a:noFill/>
          <a:ln/>
        </p:spPr>
        <p:txBody>
          <a:bodyPr wrap="square" lIns="0" tIns="0" rIns="0" bIns="0" rtlCol="0" anchor="ctr"/>
          <a:lstStyle/>
          <a:p>
            <a:pPr indent="0" marL="0">
              <a:lnSpc>
                <a:spcPts val="2100"/>
              </a:lnSpc>
              <a:buNone/>
            </a:pPr>
            <a:r>
              <a:rPr lang="en-US" sz="1450" dirty="0">
                <a:solidFill>
                  <a:srgbClr val="6B7B8F"/>
                </a:solidFill>
                <a:latin typeface="Calibri" pitchFamily="34" charset="0"/>
                <a:ea typeface="Calibri" pitchFamily="34" charset="-122"/>
                <a:cs typeface="Calibri" pitchFamily="34" charset="-120"/>
              </a:rPr>
              <a:t>The capability is in place. The next phase is what makes it something a department can operate at scale and defend in public.</a:t>
            </a:r>
            <a:endParaRPr lang="en-US" sz="1450" dirty="0"/>
          </a:p>
        </p:txBody>
      </p:sp>
      <p:sp>
        <p:nvSpPr>
          <p:cNvPr id="5" name="Shape 3"/>
          <p:cNvSpPr/>
          <p:nvPr/>
        </p:nvSpPr>
        <p:spPr>
          <a:xfrm>
            <a:off x="640080" y="2487168"/>
            <a:ext cx="5257800" cy="1426464"/>
          </a:xfrm>
          <a:prstGeom prst="roundRect">
            <a:avLst>
              <a:gd name="adj" fmla="val 3205"/>
            </a:avLst>
          </a:prstGeom>
          <a:solidFill>
            <a:srgbClr val="FBF4EE"/>
          </a:solidFill>
          <a:ln w="12700">
            <a:solidFill>
              <a:srgbClr val="FBF4EE"/>
            </a:solidFill>
            <a:prstDash val="solid"/>
          </a:ln>
        </p:spPr>
      </p:sp>
      <p:sp>
        <p:nvSpPr>
          <p:cNvPr id="6" name="Shape 4"/>
          <p:cNvSpPr/>
          <p:nvPr/>
        </p:nvSpPr>
        <p:spPr>
          <a:xfrm>
            <a:off x="932688" y="2761488"/>
            <a:ext cx="384048" cy="384048"/>
          </a:xfrm>
          <a:prstGeom prst="ellipse">
            <a:avLst/>
          </a:prstGeom>
          <a:solidFill>
            <a:srgbClr val="C2551F"/>
          </a:solidFill>
          <a:ln w="12700">
            <a:solidFill>
              <a:srgbClr val="C2551F"/>
            </a:solidFill>
            <a:prstDash val="solid"/>
          </a:ln>
        </p:spPr>
      </p:sp>
      <p:sp>
        <p:nvSpPr>
          <p:cNvPr id="7" name="Text 5"/>
          <p:cNvSpPr txBox="1"/>
          <p:nvPr/>
        </p:nvSpPr>
        <p:spPr>
          <a:xfrm>
            <a:off x="932688" y="276148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1</a:t>
            </a:r>
            <a:endParaRPr lang="en-US" sz="1250" dirty="0"/>
          </a:p>
        </p:txBody>
      </p:sp>
      <p:sp>
        <p:nvSpPr>
          <p:cNvPr id="8" name="Text 6"/>
          <p:cNvSpPr txBox="1"/>
          <p:nvPr/>
        </p:nvSpPr>
        <p:spPr>
          <a:xfrm>
            <a:off x="1481328" y="2724912"/>
            <a:ext cx="4160520" cy="365760"/>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Case files</a:t>
            </a:r>
            <a:endParaRPr lang="en-US" sz="1550" dirty="0"/>
          </a:p>
        </p:txBody>
      </p:sp>
      <p:sp>
        <p:nvSpPr>
          <p:cNvPr id="9" name="Text 7"/>
          <p:cNvSpPr txBox="1"/>
          <p:nvPr/>
        </p:nvSpPr>
        <p:spPr>
          <a:xfrm>
            <a:off x="1481328" y="3127248"/>
            <a:ext cx="4160520" cy="713232"/>
          </a:xfrm>
          <a:prstGeom prst="rect">
            <a:avLst/>
          </a:prstGeom>
          <a:noFill/>
          <a:ln/>
        </p:spPr>
        <p:txBody>
          <a:bodyPr wrap="square" lIns="0" tIns="0" rIns="0" bIns="0" rtlCol="0" anchor="ctr"/>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Investigations linked to an FIR number, with sightings, alerts and exports attached to the case rather than left floating.</a:t>
            </a:r>
            <a:endParaRPr lang="en-US" sz="1150" dirty="0"/>
          </a:p>
        </p:txBody>
      </p:sp>
      <p:sp>
        <p:nvSpPr>
          <p:cNvPr id="10" name="Shape 8"/>
          <p:cNvSpPr/>
          <p:nvPr/>
        </p:nvSpPr>
        <p:spPr>
          <a:xfrm>
            <a:off x="6263640" y="2487168"/>
            <a:ext cx="5257800" cy="1426464"/>
          </a:xfrm>
          <a:prstGeom prst="roundRect">
            <a:avLst>
              <a:gd name="adj" fmla="val 3205"/>
            </a:avLst>
          </a:prstGeom>
          <a:solidFill>
            <a:srgbClr val="FBF4EE"/>
          </a:solidFill>
          <a:ln w="12700">
            <a:solidFill>
              <a:srgbClr val="FBF4EE"/>
            </a:solidFill>
            <a:prstDash val="solid"/>
          </a:ln>
        </p:spPr>
      </p:sp>
      <p:sp>
        <p:nvSpPr>
          <p:cNvPr id="11" name="Shape 9"/>
          <p:cNvSpPr/>
          <p:nvPr/>
        </p:nvSpPr>
        <p:spPr>
          <a:xfrm>
            <a:off x="6556248" y="2761488"/>
            <a:ext cx="384048" cy="384048"/>
          </a:xfrm>
          <a:prstGeom prst="ellipse">
            <a:avLst/>
          </a:prstGeom>
          <a:solidFill>
            <a:srgbClr val="C2551F"/>
          </a:solidFill>
          <a:ln w="12700">
            <a:solidFill>
              <a:srgbClr val="C2551F"/>
            </a:solidFill>
            <a:prstDash val="solid"/>
          </a:ln>
        </p:spPr>
      </p:sp>
      <p:sp>
        <p:nvSpPr>
          <p:cNvPr id="12" name="Text 10"/>
          <p:cNvSpPr txBox="1"/>
          <p:nvPr/>
        </p:nvSpPr>
        <p:spPr>
          <a:xfrm>
            <a:off x="6556248" y="2761488"/>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2</a:t>
            </a:r>
            <a:endParaRPr lang="en-US" sz="1250" dirty="0"/>
          </a:p>
        </p:txBody>
      </p:sp>
      <p:sp>
        <p:nvSpPr>
          <p:cNvPr id="13" name="Text 11"/>
          <p:cNvSpPr txBox="1"/>
          <p:nvPr/>
        </p:nvSpPr>
        <p:spPr>
          <a:xfrm>
            <a:off x="7104888" y="2724912"/>
            <a:ext cx="4160520" cy="365760"/>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Purpose-bound search</a:t>
            </a:r>
            <a:endParaRPr lang="en-US" sz="1550" dirty="0"/>
          </a:p>
        </p:txBody>
      </p:sp>
      <p:sp>
        <p:nvSpPr>
          <p:cNvPr id="14" name="Text 12"/>
          <p:cNvSpPr txBox="1"/>
          <p:nvPr/>
        </p:nvSpPr>
        <p:spPr>
          <a:xfrm>
            <a:off x="7104888" y="3127248"/>
            <a:ext cx="4160520" cy="713232"/>
          </a:xfrm>
          <a:prstGeom prst="rect">
            <a:avLst/>
          </a:prstGeom>
          <a:noFill/>
          <a:ln/>
        </p:spPr>
        <p:txBody>
          <a:bodyPr wrap="square" lIns="0" tIns="0" rIns="0" bIns="0" rtlCol="0" anchor="ctr"/>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Every trace records a case reference and a stated purpose, with a per-subject access log, aligned to the Digital Personal Data Protection Act.</a:t>
            </a:r>
            <a:endParaRPr lang="en-US" sz="1150" dirty="0"/>
          </a:p>
        </p:txBody>
      </p:sp>
      <p:sp>
        <p:nvSpPr>
          <p:cNvPr id="15" name="Shape 13"/>
          <p:cNvSpPr/>
          <p:nvPr/>
        </p:nvSpPr>
        <p:spPr>
          <a:xfrm>
            <a:off x="640080" y="4114800"/>
            <a:ext cx="5257800" cy="1426464"/>
          </a:xfrm>
          <a:prstGeom prst="roundRect">
            <a:avLst>
              <a:gd name="adj" fmla="val 3205"/>
            </a:avLst>
          </a:prstGeom>
          <a:solidFill>
            <a:srgbClr val="F2F5F9"/>
          </a:solidFill>
          <a:ln w="12700">
            <a:solidFill>
              <a:srgbClr val="F2F5F9"/>
            </a:solidFill>
            <a:prstDash val="solid"/>
          </a:ln>
        </p:spPr>
      </p:sp>
      <p:sp>
        <p:nvSpPr>
          <p:cNvPr id="16" name="Shape 14"/>
          <p:cNvSpPr/>
          <p:nvPr/>
        </p:nvSpPr>
        <p:spPr>
          <a:xfrm>
            <a:off x="932688" y="4389120"/>
            <a:ext cx="384048" cy="384048"/>
          </a:xfrm>
          <a:prstGeom prst="ellipse">
            <a:avLst/>
          </a:prstGeom>
          <a:solidFill>
            <a:srgbClr val="C2551F"/>
          </a:solidFill>
          <a:ln w="12700">
            <a:solidFill>
              <a:srgbClr val="C2551F"/>
            </a:solidFill>
            <a:prstDash val="solid"/>
          </a:ln>
        </p:spPr>
      </p:sp>
      <p:sp>
        <p:nvSpPr>
          <p:cNvPr id="17" name="Text 15"/>
          <p:cNvSpPr txBox="1"/>
          <p:nvPr/>
        </p:nvSpPr>
        <p:spPr>
          <a:xfrm>
            <a:off x="932688" y="438912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3</a:t>
            </a:r>
            <a:endParaRPr lang="en-US" sz="1250" dirty="0"/>
          </a:p>
        </p:txBody>
      </p:sp>
      <p:sp>
        <p:nvSpPr>
          <p:cNvPr id="18" name="Text 16"/>
          <p:cNvSpPr txBox="1"/>
          <p:nvPr/>
        </p:nvSpPr>
        <p:spPr>
          <a:xfrm>
            <a:off x="1481328" y="4352544"/>
            <a:ext cx="4160520" cy="365760"/>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Jurisdiction scoping</a:t>
            </a:r>
            <a:endParaRPr lang="en-US" sz="1550" dirty="0"/>
          </a:p>
        </p:txBody>
      </p:sp>
      <p:sp>
        <p:nvSpPr>
          <p:cNvPr id="19" name="Text 17"/>
          <p:cNvSpPr txBox="1"/>
          <p:nvPr/>
        </p:nvSpPr>
        <p:spPr>
          <a:xfrm>
            <a:off x="1481328" y="4754880"/>
            <a:ext cx="4160520" cy="713232"/>
          </a:xfrm>
          <a:prstGeom prst="rect">
            <a:avLst/>
          </a:prstGeom>
          <a:noFill/>
          <a:ln/>
        </p:spPr>
        <p:txBody>
          <a:bodyPr wrap="square" lIns="0" tIns="0" rIns="0" bIns="0" rtlCol="0" anchor="ctr"/>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Accounts scoped to a district or range, with cross-jurisdiction access requested explicitly and recorded when granted.</a:t>
            </a:r>
            <a:endParaRPr lang="en-US" sz="1150" dirty="0"/>
          </a:p>
        </p:txBody>
      </p:sp>
      <p:sp>
        <p:nvSpPr>
          <p:cNvPr id="20" name="Shape 18"/>
          <p:cNvSpPr/>
          <p:nvPr/>
        </p:nvSpPr>
        <p:spPr>
          <a:xfrm>
            <a:off x="6263640" y="4114800"/>
            <a:ext cx="5257800" cy="1426464"/>
          </a:xfrm>
          <a:prstGeom prst="roundRect">
            <a:avLst>
              <a:gd name="adj" fmla="val 3205"/>
            </a:avLst>
          </a:prstGeom>
          <a:solidFill>
            <a:srgbClr val="F2F5F9"/>
          </a:solidFill>
          <a:ln w="12700">
            <a:solidFill>
              <a:srgbClr val="F2F5F9"/>
            </a:solidFill>
            <a:prstDash val="solid"/>
          </a:ln>
        </p:spPr>
      </p:sp>
      <p:sp>
        <p:nvSpPr>
          <p:cNvPr id="21" name="Shape 19"/>
          <p:cNvSpPr/>
          <p:nvPr/>
        </p:nvSpPr>
        <p:spPr>
          <a:xfrm>
            <a:off x="6556248" y="4389120"/>
            <a:ext cx="384048" cy="384048"/>
          </a:xfrm>
          <a:prstGeom prst="ellipse">
            <a:avLst/>
          </a:prstGeom>
          <a:solidFill>
            <a:srgbClr val="C2551F"/>
          </a:solidFill>
          <a:ln w="12700">
            <a:solidFill>
              <a:srgbClr val="C2551F"/>
            </a:solidFill>
            <a:prstDash val="solid"/>
          </a:ln>
        </p:spPr>
      </p:sp>
      <p:sp>
        <p:nvSpPr>
          <p:cNvPr id="22" name="Text 20"/>
          <p:cNvSpPr txBox="1"/>
          <p:nvPr/>
        </p:nvSpPr>
        <p:spPr>
          <a:xfrm>
            <a:off x="6556248" y="4389120"/>
            <a:ext cx="384048" cy="3840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4</a:t>
            </a:r>
            <a:endParaRPr lang="en-US" sz="1250" dirty="0"/>
          </a:p>
        </p:txBody>
      </p:sp>
      <p:sp>
        <p:nvSpPr>
          <p:cNvPr id="23" name="Text 21"/>
          <p:cNvSpPr txBox="1"/>
          <p:nvPr/>
        </p:nvSpPr>
        <p:spPr>
          <a:xfrm>
            <a:off x="7104888" y="4352544"/>
            <a:ext cx="4160520" cy="365760"/>
          </a:xfrm>
          <a:prstGeom prst="rect">
            <a:avLst/>
          </a:prstGeom>
          <a:noFill/>
          <a:ln/>
        </p:spPr>
        <p:txBody>
          <a:bodyPr wrap="square" lIns="0" tIns="0" rIns="0" bIns="0" rtlCol="0" anchor="ctr"/>
          <a:lstStyle/>
          <a:p>
            <a:pPr indent="0" marL="0">
              <a:buNone/>
            </a:pPr>
            <a:r>
              <a:rPr lang="en-US" sz="1550" b="1" dirty="0">
                <a:solidFill>
                  <a:srgbClr val="16243A"/>
                </a:solidFill>
                <a:latin typeface="Cambria" pitchFamily="34" charset="0"/>
                <a:ea typeface="Cambria" pitchFamily="34" charset="-122"/>
                <a:cs typeface="Cambria" pitchFamily="34" charset="-120"/>
              </a:rPr>
              <a:t>Operator review queue</a:t>
            </a:r>
            <a:endParaRPr lang="en-US" sz="1550" dirty="0"/>
          </a:p>
        </p:txBody>
      </p:sp>
      <p:sp>
        <p:nvSpPr>
          <p:cNvPr id="24" name="Text 22"/>
          <p:cNvSpPr txBox="1"/>
          <p:nvPr/>
        </p:nvSpPr>
        <p:spPr>
          <a:xfrm>
            <a:off x="7104888" y="4754880"/>
            <a:ext cx="4160520" cy="713232"/>
          </a:xfrm>
          <a:prstGeom prst="rect">
            <a:avLst/>
          </a:prstGeom>
          <a:noFill/>
          <a:ln/>
        </p:spPr>
        <p:txBody>
          <a:bodyPr wrap="square" lIns="0" tIns="0" rIns="0" bIns="0" rtlCol="0" anchor="ctr"/>
          <a:lstStyle/>
          <a:p>
            <a:pPr indent="0" marL="0">
              <a:lnSpc>
                <a:spcPts val="1500"/>
              </a:lnSpc>
              <a:buNone/>
            </a:pPr>
            <a:r>
              <a:rPr lang="en-US" sz="1150" dirty="0">
                <a:solidFill>
                  <a:srgbClr val="3C4A5C"/>
                </a:solidFill>
                <a:latin typeface="Calibri" pitchFamily="34" charset="0"/>
                <a:ea typeface="Calibri" pitchFamily="34" charset="-122"/>
                <a:cs typeface="Calibri" pitchFamily="34" charset="-120"/>
              </a:rPr>
              <a:t>Officers confirm or correct plate reads. Corrections become ground truth, and recognition accuracy becomes a measured figure that improves.</a:t>
            </a:r>
            <a:endParaRPr lang="en-US" sz="1150" dirty="0"/>
          </a:p>
        </p:txBody>
      </p:sp>
      <p:sp>
        <p:nvSpPr>
          <p:cNvPr id="25" name="Text 23"/>
          <p:cNvSpPr txBox="1"/>
          <p:nvPr/>
        </p:nvSpPr>
        <p:spPr>
          <a:xfrm>
            <a:off x="11109960" y="6291072"/>
            <a:ext cx="411480" cy="274320"/>
          </a:xfrm>
          <a:prstGeom prst="rect">
            <a:avLst/>
          </a:prstGeom>
          <a:noFill/>
          <a:ln/>
        </p:spPr>
        <p:txBody>
          <a:bodyPr wrap="square" lIns="0" tIns="0" rIns="0" bIns="0" rtlCol="0" anchor="ctr"/>
          <a:lstStyle/>
          <a:p>
            <a:pPr algn="r" indent="0" marL="0">
              <a:buNone/>
            </a:pPr>
            <a:r>
              <a:rPr lang="en-US" sz="1000" dirty="0">
                <a:solidFill>
                  <a:srgbClr val="9AA8B8"/>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BF4EE"/>
        </a:solidFill>
      </p:bgPr>
    </p:bg>
    <p:spTree>
      <p:nvGrpSpPr>
        <p:cNvPr id="1" name=""/>
        <p:cNvGrpSpPr/>
        <p:nvPr/>
      </p:nvGrpSpPr>
      <p:grpSpPr>
        <a:xfrm>
          <a:off x="0" y="0"/>
          <a:ext cx="0" cy="0"/>
          <a:chOff x="0" y="0"/>
          <a:chExt cx="0" cy="0"/>
        </a:xfrm>
      </p:grpSpPr>
      <p:sp>
        <p:nvSpPr>
          <p:cNvPr id="2" name="Text 0"/>
          <p:cNvSpPr txBox="1"/>
          <p:nvPr/>
        </p:nvSpPr>
        <p:spPr>
          <a:xfrm>
            <a:off x="822960" y="2148840"/>
            <a:ext cx="10515600" cy="777240"/>
          </a:xfrm>
          <a:prstGeom prst="rect">
            <a:avLst/>
          </a:prstGeom>
          <a:noFill/>
          <a:ln/>
        </p:spPr>
        <p:txBody>
          <a:bodyPr wrap="square" lIns="0" tIns="0" rIns="0" bIns="0" rtlCol="0" anchor="ctr"/>
          <a:lstStyle/>
          <a:p>
            <a:pPr indent="0" marL="0">
              <a:buNone/>
            </a:pPr>
            <a:r>
              <a:rPr lang="en-US" sz="4000" b="1" dirty="0">
                <a:solidFill>
                  <a:srgbClr val="16243A"/>
                </a:solidFill>
                <a:latin typeface="Cambria" pitchFamily="34" charset="0"/>
                <a:ea typeface="Cambria" pitchFamily="34" charset="-122"/>
                <a:cs typeface="Cambria" pitchFamily="34" charset="-120"/>
              </a:rPr>
              <a:t>Departments keep their cameras.</a:t>
            </a:r>
            <a:endParaRPr lang="en-US" sz="4000" dirty="0"/>
          </a:p>
        </p:txBody>
      </p:sp>
      <p:sp>
        <p:nvSpPr>
          <p:cNvPr id="3" name="Text 1"/>
          <p:cNvSpPr txBox="1"/>
          <p:nvPr/>
        </p:nvSpPr>
        <p:spPr>
          <a:xfrm>
            <a:off x="822960" y="2999232"/>
            <a:ext cx="10515600" cy="777240"/>
          </a:xfrm>
          <a:prstGeom prst="rect">
            <a:avLst/>
          </a:prstGeom>
          <a:noFill/>
          <a:ln/>
        </p:spPr>
        <p:txBody>
          <a:bodyPr wrap="square" lIns="0" tIns="0" rIns="0" bIns="0" rtlCol="0" anchor="ctr"/>
          <a:lstStyle/>
          <a:p>
            <a:pPr indent="0" marL="0">
              <a:buNone/>
            </a:pPr>
            <a:r>
              <a:rPr lang="en-US" sz="4000" b="1" dirty="0">
                <a:solidFill>
                  <a:srgbClr val="C2551F"/>
                </a:solidFill>
                <a:latin typeface="Cambria" pitchFamily="34" charset="0"/>
                <a:ea typeface="Cambria" pitchFamily="34" charset="-122"/>
                <a:cs typeface="Cambria" pitchFamily="34" charset="-120"/>
              </a:rPr>
              <a:t>The state gets the picture.</a:t>
            </a:r>
            <a:endParaRPr lang="en-US" sz="4000" dirty="0"/>
          </a:p>
        </p:txBody>
      </p:sp>
      <p:sp>
        <p:nvSpPr>
          <p:cNvPr id="4" name="Shape 2"/>
          <p:cNvSpPr/>
          <p:nvPr/>
        </p:nvSpPr>
        <p:spPr>
          <a:xfrm>
            <a:off x="868680" y="4114800"/>
            <a:ext cx="1463040" cy="32004"/>
          </a:xfrm>
          <a:prstGeom prst="rect">
            <a:avLst/>
          </a:prstGeom>
          <a:solidFill>
            <a:srgbClr val="C2551F"/>
          </a:solidFill>
          <a:ln w="12700">
            <a:solidFill>
              <a:srgbClr val="C2551F"/>
            </a:solidFill>
            <a:prstDash val="solid"/>
          </a:ln>
        </p:spPr>
      </p:sp>
      <p:sp>
        <p:nvSpPr>
          <p:cNvPr id="5" name="Text 3"/>
          <p:cNvSpPr txBox="1"/>
          <p:nvPr/>
        </p:nvSpPr>
        <p:spPr>
          <a:xfrm>
            <a:off x="868680" y="4407408"/>
            <a:ext cx="10424160" cy="365760"/>
          </a:xfrm>
          <a:prstGeom prst="rect">
            <a:avLst/>
          </a:prstGeom>
          <a:noFill/>
          <a:ln/>
        </p:spPr>
        <p:txBody>
          <a:bodyPr wrap="square" lIns="0" tIns="0" rIns="0" bIns="0" rtlCol="0" anchor="ctr"/>
          <a:lstStyle/>
          <a:p>
            <a:pPr indent="0" marL="0">
              <a:buNone/>
            </a:pPr>
            <a:r>
              <a:rPr lang="en-US" sz="1300" b="1" spc="130" kern="0" dirty="0">
                <a:solidFill>
                  <a:srgbClr val="16243A"/>
                </a:solidFill>
                <a:latin typeface="Calibri" pitchFamily="34" charset="0"/>
                <a:ea typeface="Calibri" pitchFamily="34" charset="-122"/>
                <a:cs typeface="Calibri" pitchFamily="34" charset="-120"/>
              </a:rPr>
              <a:t>SENTINEL   ·   Unified CCTV Intelligence Platform</a:t>
            </a:r>
            <a:endParaRPr lang="en-US" sz="1300" dirty="0"/>
          </a:p>
        </p:txBody>
      </p:sp>
      <p:sp>
        <p:nvSpPr>
          <p:cNvPr id="6" name="Text 4"/>
          <p:cNvSpPr txBox="1"/>
          <p:nvPr/>
        </p:nvSpPr>
        <p:spPr>
          <a:xfrm>
            <a:off x="868680" y="4773168"/>
            <a:ext cx="10424160" cy="365760"/>
          </a:xfrm>
          <a:prstGeom prst="rect">
            <a:avLst/>
          </a:prstGeom>
          <a:noFill/>
          <a:ln/>
        </p:spPr>
        <p:txBody>
          <a:bodyPr wrap="square" lIns="0" tIns="0" rIns="0" bIns="0" rtlCol="0" anchor="ctr"/>
          <a:lstStyle/>
          <a:p>
            <a:pPr indent="0" marL="0">
              <a:buNone/>
            </a:pPr>
            <a:r>
              <a:rPr lang="en-US" sz="1150" dirty="0">
                <a:solidFill>
                  <a:srgbClr val="6B7B8F"/>
                </a:solidFill>
                <a:latin typeface="Calibri" pitchFamily="34" charset="0"/>
                <a:ea typeface="Calibri" pitchFamily="34" charset="-122"/>
                <a:cs typeface="Calibri" pitchFamily="34" charset="-120"/>
              </a:rPr>
              <a:t>Gujarat Police Innovation Challenge 2026</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Gujarat Police Innovation Challenge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 — Unified CCTV Intelligence Platform</dc:title>
  <dc:subject>PptxGenJS Presentation</dc:subject>
  <dc:creator>Sahil Nimse</dc:creator>
  <cp:lastModifiedBy>Sahil Nimse</cp:lastModifiedBy>
  <cp:revision>1</cp:revision>
  <dcterms:created xsi:type="dcterms:W3CDTF">2026-09-11T17:22:55Z</dcterms:created>
  <dcterms:modified xsi:type="dcterms:W3CDTF">2026-09-11T17:22:55Z</dcterms:modified>
</cp:coreProperties>
</file>